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4630400" cy="8229600"/>
  <p:notesSz cx="14630400" cy="82296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5" d="100"/>
          <a:sy n="65" d="100"/>
        </p:scale>
        <p:origin x="758" y="3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097280" y="2551176"/>
            <a:ext cx="12435840" cy="172821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100" b="0" i="0">
                <a:solidFill>
                  <a:srgbClr val="161612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194560" y="4608576"/>
            <a:ext cx="10241280" cy="20574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600" b="0" i="0">
                <a:solidFill>
                  <a:srgbClr val="161612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100" b="0" i="0">
                <a:solidFill>
                  <a:srgbClr val="161612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rgbClr val="161612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4630400" cy="8229600"/>
          </a:xfrm>
          <a:custGeom>
            <a:avLst/>
            <a:gdLst/>
            <a:ahLst/>
            <a:cxnLst/>
            <a:rect l="l" t="t" r="r" b="b"/>
            <a:pathLst>
              <a:path w="14630400" h="8229600">
                <a:moveTo>
                  <a:pt x="14630400" y="0"/>
                </a:moveTo>
                <a:lnTo>
                  <a:pt x="0" y="0"/>
                </a:lnTo>
                <a:lnTo>
                  <a:pt x="0" y="8229600"/>
                </a:lnTo>
                <a:lnTo>
                  <a:pt x="14630400" y="8229600"/>
                </a:lnTo>
                <a:lnTo>
                  <a:pt x="14630400" y="0"/>
                </a:lnTo>
                <a:close/>
              </a:path>
            </a:pathLst>
          </a:custGeom>
          <a:solidFill>
            <a:srgbClr val="F8F8F5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7" name="bg 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839700" y="7749538"/>
            <a:ext cx="1722119" cy="411478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144000" y="-1"/>
            <a:ext cx="5486400" cy="822959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100" b="0" i="0">
                <a:solidFill>
                  <a:srgbClr val="161612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731520" y="1892808"/>
            <a:ext cx="6364224" cy="543153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7534656" y="1892808"/>
            <a:ext cx="6364224" cy="543153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3/3/2026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100" b="0" i="0">
                <a:solidFill>
                  <a:srgbClr val="161612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3/3/2026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3/3/2026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4630400" cy="8229600"/>
          </a:xfrm>
          <a:custGeom>
            <a:avLst/>
            <a:gdLst/>
            <a:ahLst/>
            <a:cxnLst/>
            <a:rect l="l" t="t" r="r" b="b"/>
            <a:pathLst>
              <a:path w="14630400" h="8229600">
                <a:moveTo>
                  <a:pt x="14630400" y="0"/>
                </a:moveTo>
                <a:lnTo>
                  <a:pt x="0" y="0"/>
                </a:lnTo>
                <a:lnTo>
                  <a:pt x="0" y="8229600"/>
                </a:lnTo>
                <a:lnTo>
                  <a:pt x="14630400" y="8229600"/>
                </a:lnTo>
                <a:lnTo>
                  <a:pt x="14630400" y="0"/>
                </a:lnTo>
                <a:close/>
              </a:path>
            </a:pathLst>
          </a:custGeom>
          <a:solidFill>
            <a:srgbClr val="F8F8F5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7" name="bg object 1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2839700" y="7749538"/>
            <a:ext cx="1722119" cy="411478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23391" y="973582"/>
            <a:ext cx="13183616" cy="6508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100" b="0" i="0">
                <a:solidFill>
                  <a:srgbClr val="161612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043421" y="3805995"/>
            <a:ext cx="6494780" cy="186943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600" b="0" i="0">
                <a:solidFill>
                  <a:srgbClr val="161612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974336" y="7653528"/>
            <a:ext cx="4681728" cy="4114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731520" y="7653528"/>
            <a:ext cx="3364992" cy="4114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0533888" y="7653528"/>
            <a:ext cx="3364992" cy="4114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Relationship Id="rId9" Type="http://schemas.openxmlformats.org/officeDocument/2006/relationships/image" Target="../media/image1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7" Type="http://schemas.openxmlformats.org/officeDocument/2006/relationships/image" Target="../media/image4.png"/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7" Type="http://schemas.openxmlformats.org/officeDocument/2006/relationships/image" Target="../media/image33.png"/><Relationship Id="rId2" Type="http://schemas.openxmlformats.org/officeDocument/2006/relationships/image" Target="../media/image28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7" Type="http://schemas.openxmlformats.org/officeDocument/2006/relationships/image" Target="../media/image41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0.png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jp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6.png"/><Relationship Id="rId5" Type="http://schemas.openxmlformats.org/officeDocument/2006/relationships/image" Target="../media/image45.png"/><Relationship Id="rId4" Type="http://schemas.openxmlformats.org/officeDocument/2006/relationships/image" Target="../media/image44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0.png"/><Relationship Id="rId5" Type="http://schemas.openxmlformats.org/officeDocument/2006/relationships/image" Target="../media/image49.png"/><Relationship Id="rId4" Type="http://schemas.openxmlformats.org/officeDocument/2006/relationships/image" Target="../media/image48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7.png"/><Relationship Id="rId3" Type="http://schemas.openxmlformats.org/officeDocument/2006/relationships/image" Target="../media/image52.png"/><Relationship Id="rId7" Type="http://schemas.openxmlformats.org/officeDocument/2006/relationships/image" Target="../media/image56.png"/><Relationship Id="rId2" Type="http://schemas.openxmlformats.org/officeDocument/2006/relationships/image" Target="../media/image51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5.png"/><Relationship Id="rId5" Type="http://schemas.openxmlformats.org/officeDocument/2006/relationships/image" Target="../media/image54.png"/><Relationship Id="rId4" Type="http://schemas.openxmlformats.org/officeDocument/2006/relationships/image" Target="../media/image53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jp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-1"/>
            <a:ext cx="5486399" cy="8229599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267958" y="1944750"/>
            <a:ext cx="6085840" cy="21259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50" spc="280" dirty="0"/>
              <a:t>Java-</a:t>
            </a:r>
            <a:r>
              <a:rPr sz="4450" spc="160" dirty="0"/>
              <a:t>Based</a:t>
            </a:r>
            <a:r>
              <a:rPr sz="4450" spc="-180" dirty="0"/>
              <a:t> </a:t>
            </a:r>
            <a:r>
              <a:rPr sz="4450" spc="125" dirty="0"/>
              <a:t>Smart</a:t>
            </a:r>
            <a:endParaRPr sz="4450"/>
          </a:p>
          <a:p>
            <a:pPr marL="12700" marR="5080">
              <a:lnSpc>
                <a:spcPct val="104700"/>
              </a:lnSpc>
              <a:spcBef>
                <a:spcPts val="15"/>
              </a:spcBef>
            </a:pPr>
            <a:r>
              <a:rPr sz="4450" spc="155" dirty="0"/>
              <a:t>Procurement</a:t>
            </a:r>
            <a:r>
              <a:rPr sz="4450" spc="-190" dirty="0"/>
              <a:t> </a:t>
            </a:r>
            <a:r>
              <a:rPr sz="4450" spc="240" dirty="0"/>
              <a:t>&amp;</a:t>
            </a:r>
            <a:r>
              <a:rPr sz="4450" spc="-190" dirty="0"/>
              <a:t> </a:t>
            </a:r>
            <a:r>
              <a:rPr sz="4450" spc="175" dirty="0"/>
              <a:t>Vendor </a:t>
            </a:r>
            <a:r>
              <a:rPr sz="4450" spc="150" dirty="0"/>
              <a:t>Management</a:t>
            </a:r>
            <a:r>
              <a:rPr sz="4450" spc="-200" dirty="0"/>
              <a:t> </a:t>
            </a:r>
            <a:r>
              <a:rPr sz="4450" spc="180" dirty="0"/>
              <a:t>System</a:t>
            </a:r>
            <a:endParaRPr sz="4450"/>
          </a:p>
        </p:txBody>
      </p:sp>
      <p:sp>
        <p:nvSpPr>
          <p:cNvPr id="4" name="object 4"/>
          <p:cNvSpPr txBox="1"/>
          <p:nvPr/>
        </p:nvSpPr>
        <p:spPr>
          <a:xfrm>
            <a:off x="6267958" y="4395013"/>
            <a:ext cx="7032625" cy="11322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38300"/>
              </a:lnSpc>
              <a:spcBef>
                <a:spcPts val="100"/>
              </a:spcBef>
            </a:pPr>
            <a:r>
              <a:rPr sz="1750" dirty="0">
                <a:solidFill>
                  <a:srgbClr val="161612"/>
                </a:solidFill>
                <a:latin typeface="Tahoma"/>
                <a:cs typeface="Tahoma"/>
              </a:rPr>
              <a:t>Internship</a:t>
            </a:r>
            <a:r>
              <a:rPr sz="1750" spc="20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1750" spc="50" dirty="0">
                <a:solidFill>
                  <a:srgbClr val="161612"/>
                </a:solidFill>
                <a:latin typeface="Tahoma"/>
                <a:cs typeface="Tahoma"/>
              </a:rPr>
              <a:t>project</a:t>
            </a:r>
            <a:r>
              <a:rPr sz="1750" spc="5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1750" spc="100" dirty="0">
                <a:solidFill>
                  <a:srgbClr val="161612"/>
                </a:solidFill>
                <a:latin typeface="Tahoma"/>
                <a:cs typeface="Tahoma"/>
              </a:rPr>
              <a:t>by</a:t>
            </a:r>
            <a:r>
              <a:rPr sz="1750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1750" spc="60" dirty="0">
                <a:solidFill>
                  <a:srgbClr val="161612"/>
                </a:solidFill>
                <a:latin typeface="Tahoma"/>
                <a:cs typeface="Tahoma"/>
              </a:rPr>
              <a:t>Dileep</a:t>
            </a:r>
            <a:r>
              <a:rPr sz="1750" spc="10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1750" spc="65" dirty="0">
                <a:solidFill>
                  <a:srgbClr val="161612"/>
                </a:solidFill>
                <a:latin typeface="Tahoma"/>
                <a:cs typeface="Tahoma"/>
              </a:rPr>
              <a:t>Kumar</a:t>
            </a:r>
            <a:r>
              <a:rPr sz="1750" spc="-15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1750" spc="65" dirty="0">
                <a:solidFill>
                  <a:srgbClr val="161612"/>
                </a:solidFill>
                <a:latin typeface="Tahoma"/>
                <a:cs typeface="Tahoma"/>
              </a:rPr>
              <a:t>Yagati</a:t>
            </a:r>
            <a:r>
              <a:rPr sz="1750" spc="30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1750" spc="155" dirty="0">
                <a:solidFill>
                  <a:srgbClr val="161612"/>
                </a:solidFill>
                <a:latin typeface="Tahoma"/>
                <a:cs typeface="Tahoma"/>
              </a:rPr>
              <a:t>—</a:t>
            </a:r>
            <a:r>
              <a:rPr sz="1750" spc="-25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1750" spc="60" dirty="0">
                <a:solidFill>
                  <a:srgbClr val="161612"/>
                </a:solidFill>
                <a:latin typeface="Tahoma"/>
                <a:cs typeface="Tahoma"/>
              </a:rPr>
              <a:t>a</a:t>
            </a:r>
            <a:r>
              <a:rPr sz="1750" spc="-5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1750" spc="75" dirty="0">
                <a:solidFill>
                  <a:srgbClr val="161612"/>
                </a:solidFill>
                <a:latin typeface="Tahoma"/>
                <a:cs typeface="Tahoma"/>
              </a:rPr>
              <a:t>production-</a:t>
            </a:r>
            <a:r>
              <a:rPr sz="1750" spc="45" dirty="0">
                <a:solidFill>
                  <a:srgbClr val="161612"/>
                </a:solidFill>
                <a:latin typeface="Tahoma"/>
                <a:cs typeface="Tahoma"/>
              </a:rPr>
              <a:t>ready, </a:t>
            </a:r>
            <a:r>
              <a:rPr sz="1750" spc="75" dirty="0">
                <a:solidFill>
                  <a:srgbClr val="161612"/>
                </a:solidFill>
                <a:latin typeface="Tahoma"/>
                <a:cs typeface="Tahoma"/>
              </a:rPr>
              <a:t>secure,</a:t>
            </a:r>
            <a:r>
              <a:rPr sz="1750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1750" spc="70" dirty="0">
                <a:solidFill>
                  <a:srgbClr val="161612"/>
                </a:solidFill>
                <a:latin typeface="Tahoma"/>
                <a:cs typeface="Tahoma"/>
              </a:rPr>
              <a:t>and</a:t>
            </a:r>
            <a:r>
              <a:rPr sz="1750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1750" spc="50" dirty="0">
                <a:solidFill>
                  <a:srgbClr val="161612"/>
                </a:solidFill>
                <a:latin typeface="Tahoma"/>
                <a:cs typeface="Tahoma"/>
              </a:rPr>
              <a:t>auditable</a:t>
            </a:r>
            <a:r>
              <a:rPr sz="1750" spc="30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1750" spc="65" dirty="0">
                <a:solidFill>
                  <a:srgbClr val="161612"/>
                </a:solidFill>
                <a:latin typeface="Tahoma"/>
                <a:cs typeface="Tahoma"/>
              </a:rPr>
              <a:t>procurement</a:t>
            </a:r>
            <a:r>
              <a:rPr sz="1750" spc="20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1750" spc="50" dirty="0">
                <a:solidFill>
                  <a:srgbClr val="161612"/>
                </a:solidFill>
                <a:latin typeface="Tahoma"/>
                <a:cs typeface="Tahoma"/>
              </a:rPr>
              <a:t>platform</a:t>
            </a:r>
            <a:r>
              <a:rPr sz="1750" spc="10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1750" dirty="0">
                <a:solidFill>
                  <a:srgbClr val="161612"/>
                </a:solidFill>
                <a:latin typeface="Tahoma"/>
                <a:cs typeface="Tahoma"/>
              </a:rPr>
              <a:t>built</a:t>
            </a:r>
            <a:r>
              <a:rPr sz="1750" spc="25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1750" dirty="0">
                <a:solidFill>
                  <a:srgbClr val="161612"/>
                </a:solidFill>
                <a:latin typeface="Tahoma"/>
                <a:cs typeface="Tahoma"/>
              </a:rPr>
              <a:t>with</a:t>
            </a:r>
            <a:r>
              <a:rPr sz="1750" spc="5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1750" spc="75" dirty="0">
                <a:solidFill>
                  <a:srgbClr val="161612"/>
                </a:solidFill>
                <a:latin typeface="Tahoma"/>
                <a:cs typeface="Tahoma"/>
              </a:rPr>
              <a:t>Spring</a:t>
            </a:r>
            <a:r>
              <a:rPr sz="1750" spc="10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1750" spc="-10" dirty="0">
                <a:solidFill>
                  <a:srgbClr val="161612"/>
                </a:solidFill>
                <a:latin typeface="Tahoma"/>
                <a:cs typeface="Tahoma"/>
              </a:rPr>
              <a:t>Boot, </a:t>
            </a:r>
            <a:r>
              <a:rPr sz="1750" spc="110" dirty="0">
                <a:solidFill>
                  <a:srgbClr val="161612"/>
                </a:solidFill>
                <a:latin typeface="Tahoma"/>
                <a:cs typeface="Tahoma"/>
              </a:rPr>
              <a:t>MySQL,</a:t>
            </a:r>
            <a:r>
              <a:rPr sz="1750" spc="-90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1750" spc="125" dirty="0">
                <a:solidFill>
                  <a:srgbClr val="161612"/>
                </a:solidFill>
                <a:latin typeface="Tahoma"/>
                <a:cs typeface="Tahoma"/>
              </a:rPr>
              <a:t>JWT,</a:t>
            </a:r>
            <a:r>
              <a:rPr sz="1750" spc="-60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1750" spc="70" dirty="0">
                <a:solidFill>
                  <a:srgbClr val="161612"/>
                </a:solidFill>
                <a:latin typeface="Tahoma"/>
                <a:cs typeface="Tahoma"/>
              </a:rPr>
              <a:t>and</a:t>
            </a:r>
            <a:r>
              <a:rPr sz="1750" spc="-45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1750" spc="65" dirty="0">
                <a:solidFill>
                  <a:srgbClr val="161612"/>
                </a:solidFill>
                <a:latin typeface="Tahoma"/>
                <a:cs typeface="Tahoma"/>
              </a:rPr>
              <a:t>Maven.</a:t>
            </a:r>
            <a:endParaRPr sz="1750" dirty="0">
              <a:latin typeface="Tahoma"/>
              <a:cs typeface="Tahoma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6280403" y="5806440"/>
            <a:ext cx="1499870" cy="426720"/>
          </a:xfrm>
          <a:custGeom>
            <a:avLst/>
            <a:gdLst/>
            <a:ahLst/>
            <a:cxnLst/>
            <a:rect l="l" t="t" r="r" b="b"/>
            <a:pathLst>
              <a:path w="1499870" h="426720">
                <a:moveTo>
                  <a:pt x="1472311" y="0"/>
                </a:moveTo>
                <a:lnTo>
                  <a:pt x="27305" y="0"/>
                </a:lnTo>
                <a:lnTo>
                  <a:pt x="16662" y="2141"/>
                </a:lnTo>
                <a:lnTo>
                  <a:pt x="7985" y="7985"/>
                </a:lnTo>
                <a:lnTo>
                  <a:pt x="2141" y="16662"/>
                </a:lnTo>
                <a:lnTo>
                  <a:pt x="0" y="27305"/>
                </a:lnTo>
                <a:lnTo>
                  <a:pt x="0" y="399415"/>
                </a:lnTo>
                <a:lnTo>
                  <a:pt x="2141" y="410057"/>
                </a:lnTo>
                <a:lnTo>
                  <a:pt x="7985" y="418734"/>
                </a:lnTo>
                <a:lnTo>
                  <a:pt x="16662" y="424578"/>
                </a:lnTo>
                <a:lnTo>
                  <a:pt x="27305" y="426720"/>
                </a:lnTo>
                <a:lnTo>
                  <a:pt x="1472311" y="426720"/>
                </a:lnTo>
                <a:lnTo>
                  <a:pt x="1482953" y="424578"/>
                </a:lnTo>
                <a:lnTo>
                  <a:pt x="1491630" y="418734"/>
                </a:lnTo>
                <a:lnTo>
                  <a:pt x="1497474" y="410057"/>
                </a:lnTo>
                <a:lnTo>
                  <a:pt x="1499616" y="399415"/>
                </a:lnTo>
                <a:lnTo>
                  <a:pt x="1499616" y="27305"/>
                </a:lnTo>
                <a:lnTo>
                  <a:pt x="1497474" y="16662"/>
                </a:lnTo>
                <a:lnTo>
                  <a:pt x="1491630" y="7985"/>
                </a:lnTo>
                <a:lnTo>
                  <a:pt x="1482953" y="2141"/>
                </a:lnTo>
                <a:lnTo>
                  <a:pt x="1472311" y="0"/>
                </a:lnTo>
                <a:close/>
              </a:path>
            </a:pathLst>
          </a:custGeom>
          <a:solidFill>
            <a:srgbClr val="E2E2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6404228" y="5904357"/>
            <a:ext cx="123825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50" dirty="0">
                <a:solidFill>
                  <a:srgbClr val="161612"/>
                </a:solidFill>
                <a:latin typeface="Tahoma"/>
                <a:cs typeface="Tahoma"/>
              </a:rPr>
              <a:t>SPRING</a:t>
            </a:r>
            <a:r>
              <a:rPr sz="1400" spc="-10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1400" spc="55" dirty="0">
                <a:solidFill>
                  <a:srgbClr val="161612"/>
                </a:solidFill>
                <a:latin typeface="Tahoma"/>
                <a:cs typeface="Tahoma"/>
              </a:rPr>
              <a:t>BOOT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7895081" y="5799582"/>
            <a:ext cx="931544" cy="441959"/>
          </a:xfrm>
          <a:custGeom>
            <a:avLst/>
            <a:gdLst/>
            <a:ahLst/>
            <a:cxnLst/>
            <a:rect l="l" t="t" r="r" b="b"/>
            <a:pathLst>
              <a:path w="931545" h="441960">
                <a:moveTo>
                  <a:pt x="0" y="27305"/>
                </a:moveTo>
                <a:lnTo>
                  <a:pt x="2141" y="16662"/>
                </a:lnTo>
                <a:lnTo>
                  <a:pt x="7985" y="7985"/>
                </a:lnTo>
                <a:lnTo>
                  <a:pt x="16662" y="2141"/>
                </a:lnTo>
                <a:lnTo>
                  <a:pt x="27304" y="0"/>
                </a:lnTo>
                <a:lnTo>
                  <a:pt x="903859" y="0"/>
                </a:lnTo>
                <a:lnTo>
                  <a:pt x="914501" y="2141"/>
                </a:lnTo>
                <a:lnTo>
                  <a:pt x="923178" y="7985"/>
                </a:lnTo>
                <a:lnTo>
                  <a:pt x="929022" y="16662"/>
                </a:lnTo>
                <a:lnTo>
                  <a:pt x="931164" y="27305"/>
                </a:lnTo>
                <a:lnTo>
                  <a:pt x="931164" y="414655"/>
                </a:lnTo>
                <a:lnTo>
                  <a:pt x="929022" y="425297"/>
                </a:lnTo>
                <a:lnTo>
                  <a:pt x="923178" y="433974"/>
                </a:lnTo>
                <a:lnTo>
                  <a:pt x="914501" y="439818"/>
                </a:lnTo>
                <a:lnTo>
                  <a:pt x="903859" y="441960"/>
                </a:lnTo>
                <a:lnTo>
                  <a:pt x="27304" y="441960"/>
                </a:lnTo>
                <a:lnTo>
                  <a:pt x="16662" y="439818"/>
                </a:lnTo>
                <a:lnTo>
                  <a:pt x="7985" y="433974"/>
                </a:lnTo>
                <a:lnTo>
                  <a:pt x="2141" y="425297"/>
                </a:lnTo>
                <a:lnTo>
                  <a:pt x="0" y="414655"/>
                </a:lnTo>
                <a:lnTo>
                  <a:pt x="0" y="27305"/>
                </a:lnTo>
                <a:close/>
              </a:path>
            </a:pathLst>
          </a:custGeom>
          <a:ln w="7620">
            <a:solidFill>
              <a:srgbClr val="28282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8025510" y="5904357"/>
            <a:ext cx="132016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914400" algn="l"/>
              </a:tabLst>
            </a:pPr>
            <a:r>
              <a:rPr sz="1400" spc="105" dirty="0">
                <a:solidFill>
                  <a:srgbClr val="28282E"/>
                </a:solidFill>
                <a:latin typeface="Tahoma"/>
                <a:cs typeface="Tahoma"/>
              </a:rPr>
              <a:t>MYSQL</a:t>
            </a:r>
            <a:r>
              <a:rPr sz="1400" dirty="0">
                <a:solidFill>
                  <a:srgbClr val="28282E"/>
                </a:solidFill>
                <a:latin typeface="Tahoma"/>
                <a:cs typeface="Tahoma"/>
              </a:rPr>
              <a:t>	</a:t>
            </a:r>
            <a:r>
              <a:rPr sz="1400" spc="114" dirty="0">
                <a:solidFill>
                  <a:srgbClr val="28282E"/>
                </a:solidFill>
                <a:latin typeface="Tahoma"/>
                <a:cs typeface="Tahoma"/>
              </a:rPr>
              <a:t>JWT</a:t>
            </a:r>
            <a:endParaRPr sz="1400">
              <a:latin typeface="Tahoma"/>
              <a:cs typeface="Tahoma"/>
            </a:endParaRPr>
          </a:p>
        </p:txBody>
      </p:sp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777216" y="7577326"/>
            <a:ext cx="1743456" cy="571498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0C44F63C-681B-4814-9A8C-988B0C319411}"/>
              </a:ext>
            </a:extLst>
          </p:cNvPr>
          <p:cNvSpPr txBox="1"/>
          <p:nvPr/>
        </p:nvSpPr>
        <p:spPr>
          <a:xfrm rot="10800000" flipV="1">
            <a:off x="6404226" y="6712624"/>
            <a:ext cx="637298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By </a:t>
            </a:r>
            <a:br>
              <a:rPr lang="en-US" dirty="0"/>
            </a:br>
            <a:r>
              <a:rPr lang="en-US" dirty="0"/>
              <a:t>Dileep Kumar </a:t>
            </a:r>
            <a:r>
              <a:rPr lang="en-US" dirty="0" err="1"/>
              <a:t>Yagati</a:t>
            </a:r>
            <a:br>
              <a:rPr lang="en-US" dirty="0"/>
            </a:br>
            <a:r>
              <a:rPr lang="en-US" b="1" i="0" dirty="0">
                <a:effectLst/>
                <a:latin typeface="YAFdJs2qTWQ_0"/>
              </a:rPr>
              <a:t>Infosys Springboard Virtual Internship 6.0</a:t>
            </a:r>
            <a:r>
              <a:rPr lang="en-US" b="1" dirty="0">
                <a:latin typeface="YAFdJs2qTWQ_0"/>
              </a:rPr>
              <a:t> </a:t>
            </a:r>
            <a:r>
              <a:rPr lang="en-US" b="1" i="0" dirty="0">
                <a:effectLst/>
                <a:latin typeface="YAFdJs2qTWQ_0"/>
              </a:rPr>
              <a:t>Batch 11-7</a:t>
            </a:r>
            <a:endParaRPr lang="en-US" b="1" dirty="0">
              <a:effectLst/>
              <a:latin typeface="YAFdJs2qTWQ_0"/>
            </a:endParaRPr>
          </a:p>
          <a:p>
            <a:endParaRPr lang="en-IN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-1"/>
            <a:ext cx="5486399" cy="8229599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267958" y="848988"/>
            <a:ext cx="7439025" cy="11684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5600"/>
              </a:lnSpc>
              <a:spcBef>
                <a:spcPts val="95"/>
              </a:spcBef>
            </a:pPr>
            <a:r>
              <a:rPr sz="3550" spc="120" dirty="0"/>
              <a:t>Problem</a:t>
            </a:r>
            <a:r>
              <a:rPr sz="3550" spc="-180" dirty="0"/>
              <a:t> </a:t>
            </a:r>
            <a:r>
              <a:rPr sz="3550" spc="140" dirty="0"/>
              <a:t>Statement</a:t>
            </a:r>
            <a:r>
              <a:rPr sz="3550" spc="-180" dirty="0"/>
              <a:t> </a:t>
            </a:r>
            <a:r>
              <a:rPr sz="3550" spc="-130" dirty="0"/>
              <a:t>—</a:t>
            </a:r>
            <a:r>
              <a:rPr sz="3550" spc="-160" dirty="0"/>
              <a:t> </a:t>
            </a:r>
            <a:r>
              <a:rPr sz="3550" spc="160" dirty="0"/>
              <a:t>Why</a:t>
            </a:r>
            <a:r>
              <a:rPr sz="3550" spc="-155" dirty="0"/>
              <a:t> </a:t>
            </a:r>
            <a:r>
              <a:rPr sz="3550" spc="110" dirty="0"/>
              <a:t>we</a:t>
            </a:r>
            <a:r>
              <a:rPr sz="3550" spc="-155" dirty="0"/>
              <a:t> </a:t>
            </a:r>
            <a:r>
              <a:rPr sz="3550" spc="90" dirty="0"/>
              <a:t>built </a:t>
            </a:r>
            <a:r>
              <a:rPr sz="3550" spc="105" dirty="0"/>
              <a:t>this</a:t>
            </a:r>
            <a:endParaRPr sz="3550"/>
          </a:p>
        </p:txBody>
      </p:sp>
      <p:sp>
        <p:nvSpPr>
          <p:cNvPr id="4" name="object 4"/>
          <p:cNvSpPr txBox="1"/>
          <p:nvPr/>
        </p:nvSpPr>
        <p:spPr>
          <a:xfrm>
            <a:off x="6267958" y="2328023"/>
            <a:ext cx="7498080" cy="3342004"/>
          </a:xfrm>
          <a:prstGeom prst="rect">
            <a:avLst/>
          </a:prstGeom>
        </p:spPr>
        <p:txBody>
          <a:bodyPr vert="horz" wrap="square" lIns="0" tIns="11430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900"/>
              </a:spcBef>
              <a:buChar char="•"/>
              <a:tabLst>
                <a:tab pos="354965" algn="l"/>
              </a:tabLst>
            </a:pPr>
            <a:r>
              <a:rPr sz="1750" spc="65" dirty="0">
                <a:solidFill>
                  <a:srgbClr val="161612"/>
                </a:solidFill>
                <a:latin typeface="Tahoma"/>
                <a:cs typeface="Tahoma"/>
              </a:rPr>
              <a:t>Manual,</a:t>
            </a:r>
            <a:r>
              <a:rPr sz="1750" spc="-40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1750" spc="90" dirty="0">
                <a:solidFill>
                  <a:srgbClr val="161612"/>
                </a:solidFill>
                <a:latin typeface="Tahoma"/>
                <a:cs typeface="Tahoma"/>
              </a:rPr>
              <a:t>paper-</a:t>
            </a:r>
            <a:r>
              <a:rPr sz="1750" spc="95" dirty="0">
                <a:solidFill>
                  <a:srgbClr val="161612"/>
                </a:solidFill>
                <a:latin typeface="Tahoma"/>
                <a:cs typeface="Tahoma"/>
              </a:rPr>
              <a:t>based</a:t>
            </a:r>
            <a:r>
              <a:rPr sz="1750" spc="10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1750" spc="55" dirty="0">
                <a:solidFill>
                  <a:srgbClr val="161612"/>
                </a:solidFill>
                <a:latin typeface="Tahoma"/>
                <a:cs typeface="Tahoma"/>
              </a:rPr>
              <a:t>requisitions</a:t>
            </a:r>
            <a:r>
              <a:rPr sz="1750" spc="-15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1750" spc="70" dirty="0">
                <a:solidFill>
                  <a:srgbClr val="161612"/>
                </a:solidFill>
                <a:latin typeface="Tahoma"/>
                <a:cs typeface="Tahoma"/>
              </a:rPr>
              <a:t>and</a:t>
            </a:r>
            <a:r>
              <a:rPr sz="1750" spc="-30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1750" spc="70" dirty="0">
                <a:solidFill>
                  <a:srgbClr val="161612"/>
                </a:solidFill>
                <a:latin typeface="Tahoma"/>
                <a:cs typeface="Tahoma"/>
              </a:rPr>
              <a:t>approval</a:t>
            </a:r>
            <a:r>
              <a:rPr sz="1750" spc="-20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1750" spc="70" dirty="0">
                <a:solidFill>
                  <a:srgbClr val="161612"/>
                </a:solidFill>
                <a:latin typeface="Tahoma"/>
                <a:cs typeface="Tahoma"/>
              </a:rPr>
              <a:t>bottlenecks</a:t>
            </a:r>
            <a:r>
              <a:rPr sz="1750" spc="-10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1750" spc="65" dirty="0">
                <a:solidFill>
                  <a:srgbClr val="161612"/>
                </a:solidFill>
                <a:latin typeface="Tahoma"/>
                <a:cs typeface="Tahoma"/>
              </a:rPr>
              <a:t>slow</a:t>
            </a:r>
            <a:endParaRPr sz="1750">
              <a:latin typeface="Tahoma"/>
              <a:cs typeface="Tahoma"/>
            </a:endParaRPr>
          </a:p>
          <a:p>
            <a:pPr marL="354965">
              <a:lnSpc>
                <a:spcPct val="100000"/>
              </a:lnSpc>
              <a:spcBef>
                <a:spcPts val="805"/>
              </a:spcBef>
            </a:pPr>
            <a:r>
              <a:rPr sz="1750" spc="45" dirty="0">
                <a:solidFill>
                  <a:srgbClr val="161612"/>
                </a:solidFill>
                <a:latin typeface="Tahoma"/>
                <a:cs typeface="Tahoma"/>
              </a:rPr>
              <a:t>procurement.</a:t>
            </a:r>
            <a:endParaRPr sz="1750">
              <a:latin typeface="Tahoma"/>
              <a:cs typeface="Tahoma"/>
            </a:endParaRPr>
          </a:p>
          <a:p>
            <a:pPr marL="354965" indent="-342265">
              <a:lnSpc>
                <a:spcPct val="100000"/>
              </a:lnSpc>
              <a:spcBef>
                <a:spcPts val="805"/>
              </a:spcBef>
              <a:buChar char="•"/>
              <a:tabLst>
                <a:tab pos="354965" algn="l"/>
              </a:tabLst>
            </a:pPr>
            <a:r>
              <a:rPr sz="1750" spc="45" dirty="0">
                <a:solidFill>
                  <a:srgbClr val="161612"/>
                </a:solidFill>
                <a:latin typeface="Tahoma"/>
                <a:cs typeface="Tahoma"/>
              </a:rPr>
              <a:t>Limited</a:t>
            </a:r>
            <a:r>
              <a:rPr sz="1750" spc="-10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1750" spc="70" dirty="0">
                <a:solidFill>
                  <a:srgbClr val="161612"/>
                </a:solidFill>
                <a:latin typeface="Tahoma"/>
                <a:cs typeface="Tahoma"/>
              </a:rPr>
              <a:t>real-</a:t>
            </a:r>
            <a:r>
              <a:rPr sz="1750" dirty="0">
                <a:solidFill>
                  <a:srgbClr val="161612"/>
                </a:solidFill>
                <a:latin typeface="Tahoma"/>
                <a:cs typeface="Tahoma"/>
              </a:rPr>
              <a:t>time</a:t>
            </a:r>
            <a:r>
              <a:rPr sz="1750" spc="-10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1750" spc="50" dirty="0">
                <a:solidFill>
                  <a:srgbClr val="161612"/>
                </a:solidFill>
                <a:latin typeface="Tahoma"/>
                <a:cs typeface="Tahoma"/>
              </a:rPr>
              <a:t>visibility</a:t>
            </a:r>
            <a:r>
              <a:rPr sz="1750" spc="20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1750" spc="105" dirty="0">
                <a:solidFill>
                  <a:srgbClr val="161612"/>
                </a:solidFill>
                <a:latin typeface="Tahoma"/>
                <a:cs typeface="Tahoma"/>
              </a:rPr>
              <a:t>causes</a:t>
            </a:r>
            <a:r>
              <a:rPr sz="1750" spc="-10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1750" spc="80" dirty="0">
                <a:solidFill>
                  <a:srgbClr val="161612"/>
                </a:solidFill>
                <a:latin typeface="Tahoma"/>
                <a:cs typeface="Tahoma"/>
              </a:rPr>
              <a:t>delays</a:t>
            </a:r>
            <a:r>
              <a:rPr sz="1750" spc="5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1750" spc="70" dirty="0">
                <a:solidFill>
                  <a:srgbClr val="161612"/>
                </a:solidFill>
                <a:latin typeface="Tahoma"/>
                <a:cs typeface="Tahoma"/>
              </a:rPr>
              <a:t>and</a:t>
            </a:r>
            <a:r>
              <a:rPr sz="1750" spc="-15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1750" spc="75" dirty="0">
                <a:solidFill>
                  <a:srgbClr val="161612"/>
                </a:solidFill>
                <a:latin typeface="Tahoma"/>
                <a:cs typeface="Tahoma"/>
              </a:rPr>
              <a:t>poor</a:t>
            </a:r>
            <a:r>
              <a:rPr sz="1750" spc="-20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1750" spc="90" dirty="0">
                <a:solidFill>
                  <a:srgbClr val="161612"/>
                </a:solidFill>
                <a:latin typeface="Tahoma"/>
                <a:cs typeface="Tahoma"/>
              </a:rPr>
              <a:t>decision-</a:t>
            </a:r>
            <a:r>
              <a:rPr sz="1750" spc="40" dirty="0">
                <a:solidFill>
                  <a:srgbClr val="161612"/>
                </a:solidFill>
                <a:latin typeface="Tahoma"/>
                <a:cs typeface="Tahoma"/>
              </a:rPr>
              <a:t>making.</a:t>
            </a:r>
            <a:endParaRPr sz="1750">
              <a:latin typeface="Tahoma"/>
              <a:cs typeface="Tahoma"/>
            </a:endParaRPr>
          </a:p>
          <a:p>
            <a:pPr marL="354965" marR="5080" indent="-342900">
              <a:lnSpc>
                <a:spcPts val="2900"/>
              </a:lnSpc>
              <a:spcBef>
                <a:spcPts val="220"/>
              </a:spcBef>
              <a:buChar char="•"/>
              <a:tabLst>
                <a:tab pos="354965" algn="l"/>
              </a:tabLst>
            </a:pPr>
            <a:r>
              <a:rPr sz="1750" spc="125" dirty="0">
                <a:solidFill>
                  <a:srgbClr val="161612"/>
                </a:solidFill>
                <a:latin typeface="Tahoma"/>
                <a:cs typeface="Tahoma"/>
              </a:rPr>
              <a:t>No</a:t>
            </a:r>
            <a:r>
              <a:rPr sz="1750" spc="-60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1750" spc="70" dirty="0">
                <a:solidFill>
                  <a:srgbClr val="161612"/>
                </a:solidFill>
                <a:latin typeface="Tahoma"/>
                <a:cs typeface="Tahoma"/>
              </a:rPr>
              <a:t>centralized</a:t>
            </a:r>
            <a:r>
              <a:rPr sz="1750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1750" spc="75" dirty="0">
                <a:solidFill>
                  <a:srgbClr val="161612"/>
                </a:solidFill>
                <a:latin typeface="Tahoma"/>
                <a:cs typeface="Tahoma"/>
              </a:rPr>
              <a:t>vendor</a:t>
            </a:r>
            <a:r>
              <a:rPr sz="1750" spc="-25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1750" spc="55" dirty="0">
                <a:solidFill>
                  <a:srgbClr val="161612"/>
                </a:solidFill>
                <a:latin typeface="Tahoma"/>
                <a:cs typeface="Tahoma"/>
              </a:rPr>
              <a:t>master</a:t>
            </a:r>
            <a:r>
              <a:rPr sz="1750" spc="-25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1750" spc="85" dirty="0">
                <a:solidFill>
                  <a:srgbClr val="161612"/>
                </a:solidFill>
                <a:latin typeface="Tahoma"/>
                <a:cs typeface="Tahoma"/>
              </a:rPr>
              <a:t>leads</a:t>
            </a:r>
            <a:r>
              <a:rPr sz="1750" spc="-30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1750" dirty="0">
                <a:solidFill>
                  <a:srgbClr val="161612"/>
                </a:solidFill>
                <a:latin typeface="Tahoma"/>
                <a:cs typeface="Tahoma"/>
              </a:rPr>
              <a:t>to</a:t>
            </a:r>
            <a:r>
              <a:rPr sz="1750" spc="-40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1750" spc="65" dirty="0">
                <a:solidFill>
                  <a:srgbClr val="161612"/>
                </a:solidFill>
                <a:latin typeface="Tahoma"/>
                <a:cs typeface="Tahoma"/>
              </a:rPr>
              <a:t>inconsistent</a:t>
            </a:r>
            <a:r>
              <a:rPr sz="1750" spc="-15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1750" spc="75" dirty="0">
                <a:solidFill>
                  <a:srgbClr val="161612"/>
                </a:solidFill>
                <a:latin typeface="Tahoma"/>
                <a:cs typeface="Tahoma"/>
              </a:rPr>
              <a:t>vendor</a:t>
            </a:r>
            <a:r>
              <a:rPr sz="1750" spc="-25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1750" spc="55" dirty="0">
                <a:solidFill>
                  <a:srgbClr val="161612"/>
                </a:solidFill>
                <a:latin typeface="Tahoma"/>
                <a:cs typeface="Tahoma"/>
              </a:rPr>
              <a:t>data</a:t>
            </a:r>
            <a:r>
              <a:rPr sz="1750" spc="-30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1750" spc="45" dirty="0">
                <a:solidFill>
                  <a:srgbClr val="161612"/>
                </a:solidFill>
                <a:latin typeface="Tahoma"/>
                <a:cs typeface="Tahoma"/>
              </a:rPr>
              <a:t>and </a:t>
            </a:r>
            <a:r>
              <a:rPr sz="1750" spc="40" dirty="0">
                <a:solidFill>
                  <a:srgbClr val="161612"/>
                </a:solidFill>
                <a:latin typeface="Tahoma"/>
                <a:cs typeface="Tahoma"/>
              </a:rPr>
              <a:t>risk.</a:t>
            </a:r>
            <a:endParaRPr sz="1750">
              <a:latin typeface="Tahoma"/>
              <a:cs typeface="Tahoma"/>
            </a:endParaRPr>
          </a:p>
          <a:p>
            <a:pPr marL="354965" marR="1016000" indent="-342900">
              <a:lnSpc>
                <a:spcPts val="2890"/>
              </a:lnSpc>
              <a:spcBef>
                <a:spcPts val="15"/>
              </a:spcBef>
              <a:buChar char="•"/>
              <a:tabLst>
                <a:tab pos="354965" algn="l"/>
              </a:tabLst>
            </a:pPr>
            <a:r>
              <a:rPr sz="1750" spc="95" dirty="0">
                <a:solidFill>
                  <a:srgbClr val="161612"/>
                </a:solidFill>
                <a:latin typeface="Tahoma"/>
                <a:cs typeface="Tahoma"/>
              </a:rPr>
              <a:t>Weak</a:t>
            </a:r>
            <a:r>
              <a:rPr sz="1750" spc="40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1750" spc="65" dirty="0">
                <a:solidFill>
                  <a:srgbClr val="161612"/>
                </a:solidFill>
                <a:latin typeface="Tahoma"/>
                <a:cs typeface="Tahoma"/>
              </a:rPr>
              <a:t>budget</a:t>
            </a:r>
            <a:r>
              <a:rPr sz="1750" spc="55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1750" dirty="0">
                <a:solidFill>
                  <a:srgbClr val="161612"/>
                </a:solidFill>
                <a:latin typeface="Tahoma"/>
                <a:cs typeface="Tahoma"/>
              </a:rPr>
              <a:t>monitoring</a:t>
            </a:r>
            <a:r>
              <a:rPr sz="1750" spc="50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1750" spc="90" dirty="0">
                <a:solidFill>
                  <a:srgbClr val="161612"/>
                </a:solidFill>
                <a:latin typeface="Tahoma"/>
                <a:cs typeface="Tahoma"/>
              </a:rPr>
              <a:t>increases</a:t>
            </a:r>
            <a:r>
              <a:rPr sz="1750" spc="70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1750" spc="55" dirty="0">
                <a:solidFill>
                  <a:srgbClr val="161612"/>
                </a:solidFill>
                <a:latin typeface="Tahoma"/>
                <a:cs typeface="Tahoma"/>
              </a:rPr>
              <a:t>financial</a:t>
            </a:r>
            <a:r>
              <a:rPr sz="1750" spc="65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1750" spc="85" dirty="0">
                <a:solidFill>
                  <a:srgbClr val="161612"/>
                </a:solidFill>
                <a:latin typeface="Tahoma"/>
                <a:cs typeface="Tahoma"/>
              </a:rPr>
              <a:t>exposure</a:t>
            </a:r>
            <a:r>
              <a:rPr sz="1750" spc="40" dirty="0">
                <a:solidFill>
                  <a:srgbClr val="161612"/>
                </a:solidFill>
                <a:latin typeface="Tahoma"/>
                <a:cs typeface="Tahoma"/>
              </a:rPr>
              <a:t> and </a:t>
            </a:r>
            <a:r>
              <a:rPr sz="1750" spc="65" dirty="0">
                <a:solidFill>
                  <a:srgbClr val="161612"/>
                </a:solidFill>
                <a:latin typeface="Tahoma"/>
                <a:cs typeface="Tahoma"/>
              </a:rPr>
              <a:t>overspend.</a:t>
            </a:r>
            <a:endParaRPr sz="1750">
              <a:latin typeface="Tahoma"/>
              <a:cs typeface="Tahoma"/>
            </a:endParaRPr>
          </a:p>
          <a:p>
            <a:pPr marL="354965" marR="396875" indent="-342900">
              <a:lnSpc>
                <a:spcPts val="2900"/>
              </a:lnSpc>
              <a:buChar char="•"/>
              <a:tabLst>
                <a:tab pos="354965" algn="l"/>
              </a:tabLst>
            </a:pPr>
            <a:r>
              <a:rPr sz="1750" spc="70" dirty="0">
                <a:solidFill>
                  <a:srgbClr val="161612"/>
                </a:solidFill>
                <a:latin typeface="Tahoma"/>
                <a:cs typeface="Tahoma"/>
              </a:rPr>
              <a:t>Audits</a:t>
            </a:r>
            <a:r>
              <a:rPr sz="1750" spc="-20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1750" spc="65" dirty="0">
                <a:solidFill>
                  <a:srgbClr val="161612"/>
                </a:solidFill>
                <a:latin typeface="Tahoma"/>
                <a:cs typeface="Tahoma"/>
              </a:rPr>
              <a:t>are</a:t>
            </a:r>
            <a:r>
              <a:rPr sz="1750" spc="-25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1750" spc="55" dirty="0">
                <a:solidFill>
                  <a:srgbClr val="161612"/>
                </a:solidFill>
                <a:latin typeface="Tahoma"/>
                <a:cs typeface="Tahoma"/>
              </a:rPr>
              <a:t>time-</a:t>
            </a:r>
            <a:r>
              <a:rPr sz="1750" spc="80" dirty="0">
                <a:solidFill>
                  <a:srgbClr val="161612"/>
                </a:solidFill>
                <a:latin typeface="Tahoma"/>
                <a:cs typeface="Tahoma"/>
              </a:rPr>
              <a:t>consuming</a:t>
            </a:r>
            <a:r>
              <a:rPr sz="1750" spc="-20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1750" spc="75" dirty="0">
                <a:solidFill>
                  <a:srgbClr val="161612"/>
                </a:solidFill>
                <a:latin typeface="Tahoma"/>
                <a:cs typeface="Tahoma"/>
              </a:rPr>
              <a:t>due</a:t>
            </a:r>
            <a:r>
              <a:rPr sz="1750" spc="-20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1750" dirty="0">
                <a:solidFill>
                  <a:srgbClr val="161612"/>
                </a:solidFill>
                <a:latin typeface="Tahoma"/>
                <a:cs typeface="Tahoma"/>
              </a:rPr>
              <a:t>to</a:t>
            </a:r>
            <a:r>
              <a:rPr sz="1750" spc="-35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1750" spc="55" dirty="0">
                <a:solidFill>
                  <a:srgbClr val="161612"/>
                </a:solidFill>
                <a:latin typeface="Tahoma"/>
                <a:cs typeface="Tahoma"/>
              </a:rPr>
              <a:t>fragmented</a:t>
            </a:r>
            <a:r>
              <a:rPr sz="1750" spc="-15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1750" spc="95" dirty="0">
                <a:solidFill>
                  <a:srgbClr val="161612"/>
                </a:solidFill>
                <a:latin typeface="Tahoma"/>
                <a:cs typeface="Tahoma"/>
              </a:rPr>
              <a:t>records</a:t>
            </a:r>
            <a:r>
              <a:rPr sz="1750" spc="-20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1750" spc="70" dirty="0">
                <a:solidFill>
                  <a:srgbClr val="161612"/>
                </a:solidFill>
                <a:latin typeface="Tahoma"/>
                <a:cs typeface="Tahoma"/>
              </a:rPr>
              <a:t>and</a:t>
            </a:r>
            <a:r>
              <a:rPr sz="1750" spc="-30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1750" spc="55" dirty="0">
                <a:solidFill>
                  <a:srgbClr val="161612"/>
                </a:solidFill>
                <a:latin typeface="Tahoma"/>
                <a:cs typeface="Tahoma"/>
              </a:rPr>
              <a:t>poor </a:t>
            </a:r>
            <a:r>
              <a:rPr sz="1750" spc="35" dirty="0">
                <a:solidFill>
                  <a:srgbClr val="161612"/>
                </a:solidFill>
                <a:latin typeface="Tahoma"/>
                <a:cs typeface="Tahoma"/>
              </a:rPr>
              <a:t>traceability.</a:t>
            </a:r>
            <a:endParaRPr sz="1750">
              <a:latin typeface="Tahoma"/>
              <a:cs typeface="Tahom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267958" y="6529933"/>
            <a:ext cx="7330440" cy="7632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38300"/>
              </a:lnSpc>
              <a:spcBef>
                <a:spcPts val="95"/>
              </a:spcBef>
            </a:pPr>
            <a:r>
              <a:rPr sz="1750" spc="95" dirty="0">
                <a:solidFill>
                  <a:srgbClr val="161612"/>
                </a:solidFill>
                <a:latin typeface="Tahoma"/>
                <a:cs typeface="Tahoma"/>
              </a:rPr>
              <a:t>These</a:t>
            </a:r>
            <a:r>
              <a:rPr sz="1750" spc="-40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1750" spc="105" dirty="0">
                <a:solidFill>
                  <a:srgbClr val="161612"/>
                </a:solidFill>
                <a:latin typeface="Tahoma"/>
                <a:cs typeface="Tahoma"/>
              </a:rPr>
              <a:t>gaps</a:t>
            </a:r>
            <a:r>
              <a:rPr sz="1750" spc="-50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1750" spc="70" dirty="0">
                <a:solidFill>
                  <a:srgbClr val="161612"/>
                </a:solidFill>
                <a:latin typeface="Tahoma"/>
                <a:cs typeface="Tahoma"/>
              </a:rPr>
              <a:t>create</a:t>
            </a:r>
            <a:r>
              <a:rPr sz="1750" spc="-30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1750" spc="50" dirty="0">
                <a:solidFill>
                  <a:srgbClr val="161612"/>
                </a:solidFill>
                <a:latin typeface="Tahoma"/>
                <a:cs typeface="Tahoma"/>
              </a:rPr>
              <a:t>operational</a:t>
            </a:r>
            <a:r>
              <a:rPr sz="1750" spc="-30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1750" spc="65" dirty="0">
                <a:solidFill>
                  <a:srgbClr val="161612"/>
                </a:solidFill>
                <a:latin typeface="Tahoma"/>
                <a:cs typeface="Tahoma"/>
              </a:rPr>
              <a:t>delays,</a:t>
            </a:r>
            <a:r>
              <a:rPr sz="1750" spc="-35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1750" spc="80" dirty="0">
                <a:solidFill>
                  <a:srgbClr val="161612"/>
                </a:solidFill>
                <a:latin typeface="Tahoma"/>
                <a:cs typeface="Tahoma"/>
              </a:rPr>
              <a:t>compliance</a:t>
            </a:r>
            <a:r>
              <a:rPr sz="1750" spc="-20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1750" spc="65" dirty="0">
                <a:solidFill>
                  <a:srgbClr val="161612"/>
                </a:solidFill>
                <a:latin typeface="Tahoma"/>
                <a:cs typeface="Tahoma"/>
              </a:rPr>
              <a:t>risks,</a:t>
            </a:r>
            <a:r>
              <a:rPr sz="1750" spc="-40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1750" spc="70" dirty="0">
                <a:solidFill>
                  <a:srgbClr val="161612"/>
                </a:solidFill>
                <a:latin typeface="Tahoma"/>
                <a:cs typeface="Tahoma"/>
              </a:rPr>
              <a:t>and</a:t>
            </a:r>
            <a:r>
              <a:rPr sz="1750" spc="-40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1750" spc="75" dirty="0">
                <a:solidFill>
                  <a:srgbClr val="161612"/>
                </a:solidFill>
                <a:latin typeface="Tahoma"/>
                <a:cs typeface="Tahoma"/>
              </a:rPr>
              <a:t>reduced </a:t>
            </a:r>
            <a:r>
              <a:rPr sz="1750" spc="60" dirty="0">
                <a:solidFill>
                  <a:srgbClr val="161612"/>
                </a:solidFill>
                <a:latin typeface="Tahoma"/>
                <a:cs typeface="Tahoma"/>
              </a:rPr>
              <a:t>accountability</a:t>
            </a:r>
            <a:r>
              <a:rPr sz="1750" spc="70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1750" spc="155" dirty="0">
                <a:solidFill>
                  <a:srgbClr val="161612"/>
                </a:solidFill>
                <a:latin typeface="Tahoma"/>
                <a:cs typeface="Tahoma"/>
              </a:rPr>
              <a:t>—</a:t>
            </a:r>
            <a:r>
              <a:rPr sz="1750" spc="25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1750" spc="55" dirty="0">
                <a:solidFill>
                  <a:srgbClr val="161612"/>
                </a:solidFill>
                <a:latin typeface="Tahoma"/>
                <a:cs typeface="Tahoma"/>
              </a:rPr>
              <a:t>prime</a:t>
            </a:r>
            <a:r>
              <a:rPr sz="1750" spc="35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1750" spc="55" dirty="0">
                <a:solidFill>
                  <a:srgbClr val="161612"/>
                </a:solidFill>
                <a:latin typeface="Tahoma"/>
                <a:cs typeface="Tahoma"/>
              </a:rPr>
              <a:t>targets</a:t>
            </a:r>
            <a:r>
              <a:rPr sz="1750" spc="25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1750" spc="65" dirty="0">
                <a:solidFill>
                  <a:srgbClr val="161612"/>
                </a:solidFill>
                <a:latin typeface="Tahoma"/>
                <a:cs typeface="Tahoma"/>
              </a:rPr>
              <a:t>for</a:t>
            </a:r>
            <a:r>
              <a:rPr sz="1750" spc="25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1750" dirty="0">
                <a:solidFill>
                  <a:srgbClr val="161612"/>
                </a:solidFill>
                <a:latin typeface="Tahoma"/>
                <a:cs typeface="Tahoma"/>
              </a:rPr>
              <a:t>automation</a:t>
            </a:r>
            <a:r>
              <a:rPr sz="1750" spc="25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1750" spc="65" dirty="0">
                <a:solidFill>
                  <a:srgbClr val="161612"/>
                </a:solidFill>
                <a:latin typeface="Tahoma"/>
                <a:cs typeface="Tahoma"/>
              </a:rPr>
              <a:t>and</a:t>
            </a:r>
            <a:r>
              <a:rPr sz="1750" spc="30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1750" spc="40" dirty="0">
                <a:solidFill>
                  <a:srgbClr val="161612"/>
                </a:solidFill>
                <a:latin typeface="Tahoma"/>
                <a:cs typeface="Tahoma"/>
              </a:rPr>
              <a:t>modernization.</a:t>
            </a:r>
            <a:endParaRPr sz="1750">
              <a:latin typeface="Tahoma"/>
              <a:cs typeface="Tahoma"/>
            </a:endParaRPr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754356" y="7571230"/>
            <a:ext cx="1743455" cy="5715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886944" y="7658098"/>
            <a:ext cx="1743455" cy="571499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81304" y="1386331"/>
            <a:ext cx="7446009" cy="5670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550" spc="165" dirty="0"/>
              <a:t>Proposed</a:t>
            </a:r>
            <a:r>
              <a:rPr sz="3550" spc="-190" dirty="0"/>
              <a:t> </a:t>
            </a:r>
            <a:r>
              <a:rPr sz="3550" spc="90" dirty="0"/>
              <a:t>Solution</a:t>
            </a:r>
            <a:r>
              <a:rPr sz="3550" spc="-145" dirty="0"/>
              <a:t> </a:t>
            </a:r>
            <a:r>
              <a:rPr sz="3550" spc="-135" dirty="0"/>
              <a:t>—</a:t>
            </a:r>
            <a:r>
              <a:rPr sz="3550" spc="-185" dirty="0"/>
              <a:t> </a:t>
            </a:r>
            <a:r>
              <a:rPr sz="3550" spc="180" dirty="0"/>
              <a:t>Core</a:t>
            </a:r>
            <a:r>
              <a:rPr sz="3550" spc="-155" dirty="0"/>
              <a:t> </a:t>
            </a:r>
            <a:r>
              <a:rPr sz="3550" spc="225" dirty="0"/>
              <a:t>Concept</a:t>
            </a:r>
            <a:endParaRPr sz="3550"/>
          </a:p>
        </p:txBody>
      </p:sp>
      <p:sp>
        <p:nvSpPr>
          <p:cNvPr id="4" name="object 4"/>
          <p:cNvSpPr txBox="1"/>
          <p:nvPr/>
        </p:nvSpPr>
        <p:spPr>
          <a:xfrm>
            <a:off x="781304" y="2381554"/>
            <a:ext cx="12510770" cy="7632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38300"/>
              </a:lnSpc>
              <a:spcBef>
                <a:spcPts val="100"/>
              </a:spcBef>
            </a:pPr>
            <a:r>
              <a:rPr sz="1750" spc="155" dirty="0">
                <a:solidFill>
                  <a:srgbClr val="161612"/>
                </a:solidFill>
                <a:latin typeface="Tahoma"/>
                <a:cs typeface="Tahoma"/>
              </a:rPr>
              <a:t>A</a:t>
            </a:r>
            <a:r>
              <a:rPr sz="1750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1750" spc="70" dirty="0">
                <a:solidFill>
                  <a:srgbClr val="161612"/>
                </a:solidFill>
                <a:latin typeface="Tahoma"/>
                <a:cs typeface="Tahoma"/>
              </a:rPr>
              <a:t>centralized</a:t>
            </a:r>
            <a:r>
              <a:rPr sz="1750" spc="20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1750" dirty="0">
                <a:solidFill>
                  <a:srgbClr val="161612"/>
                </a:solidFill>
                <a:latin typeface="Tahoma"/>
                <a:cs typeface="Tahoma"/>
              </a:rPr>
              <a:t>digital</a:t>
            </a:r>
            <a:r>
              <a:rPr sz="1750" spc="10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1750" spc="65" dirty="0">
                <a:solidFill>
                  <a:srgbClr val="161612"/>
                </a:solidFill>
                <a:latin typeface="Tahoma"/>
                <a:cs typeface="Tahoma"/>
              </a:rPr>
              <a:t>procurement</a:t>
            </a:r>
            <a:r>
              <a:rPr sz="1750" spc="30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1750" spc="50" dirty="0">
                <a:solidFill>
                  <a:srgbClr val="161612"/>
                </a:solidFill>
                <a:latin typeface="Tahoma"/>
                <a:cs typeface="Tahoma"/>
              </a:rPr>
              <a:t>platform</a:t>
            </a:r>
            <a:r>
              <a:rPr sz="1750" spc="15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1750" dirty="0">
                <a:solidFill>
                  <a:srgbClr val="161612"/>
                </a:solidFill>
                <a:latin typeface="Tahoma"/>
                <a:cs typeface="Tahoma"/>
              </a:rPr>
              <a:t>that</a:t>
            </a:r>
            <a:r>
              <a:rPr sz="1750" spc="15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1750" spc="55" dirty="0">
                <a:solidFill>
                  <a:srgbClr val="161612"/>
                </a:solidFill>
                <a:latin typeface="Tahoma"/>
                <a:cs typeface="Tahoma"/>
              </a:rPr>
              <a:t>automates</a:t>
            </a:r>
            <a:r>
              <a:rPr sz="1750" dirty="0">
                <a:solidFill>
                  <a:srgbClr val="161612"/>
                </a:solidFill>
                <a:latin typeface="Tahoma"/>
                <a:cs typeface="Tahoma"/>
              </a:rPr>
              <a:t> the</a:t>
            </a:r>
            <a:r>
              <a:rPr sz="1750" spc="10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1750" spc="60" dirty="0">
                <a:solidFill>
                  <a:srgbClr val="161612"/>
                </a:solidFill>
                <a:latin typeface="Tahoma"/>
                <a:cs typeface="Tahoma"/>
              </a:rPr>
              <a:t>requisition-</a:t>
            </a:r>
            <a:r>
              <a:rPr sz="1750" spc="75" dirty="0">
                <a:solidFill>
                  <a:srgbClr val="161612"/>
                </a:solidFill>
                <a:latin typeface="Tahoma"/>
                <a:cs typeface="Tahoma"/>
              </a:rPr>
              <a:t>to-</a:t>
            </a:r>
            <a:r>
              <a:rPr sz="1750" spc="120" dirty="0">
                <a:solidFill>
                  <a:srgbClr val="161612"/>
                </a:solidFill>
                <a:latin typeface="Tahoma"/>
                <a:cs typeface="Tahoma"/>
              </a:rPr>
              <a:t>PO</a:t>
            </a:r>
            <a:r>
              <a:rPr sz="1750" spc="5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1750" spc="85" dirty="0">
                <a:solidFill>
                  <a:srgbClr val="161612"/>
                </a:solidFill>
                <a:latin typeface="Tahoma"/>
                <a:cs typeface="Tahoma"/>
              </a:rPr>
              <a:t>lifecycle</a:t>
            </a:r>
            <a:r>
              <a:rPr sz="1750" spc="40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1750" spc="55" dirty="0">
                <a:solidFill>
                  <a:srgbClr val="161612"/>
                </a:solidFill>
                <a:latin typeface="Tahoma"/>
                <a:cs typeface="Tahoma"/>
              </a:rPr>
              <a:t>while</a:t>
            </a:r>
            <a:r>
              <a:rPr sz="1750" spc="25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1750" spc="65" dirty="0">
                <a:solidFill>
                  <a:srgbClr val="161612"/>
                </a:solidFill>
                <a:latin typeface="Tahoma"/>
                <a:cs typeface="Tahoma"/>
              </a:rPr>
              <a:t>providing</a:t>
            </a:r>
            <a:r>
              <a:rPr sz="1750" spc="30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1750" spc="55" dirty="0">
                <a:solidFill>
                  <a:srgbClr val="161612"/>
                </a:solidFill>
                <a:latin typeface="Tahoma"/>
                <a:cs typeface="Tahoma"/>
              </a:rPr>
              <a:t>transparency, </a:t>
            </a:r>
            <a:r>
              <a:rPr sz="1750" spc="60" dirty="0">
                <a:solidFill>
                  <a:srgbClr val="161612"/>
                </a:solidFill>
                <a:latin typeface="Tahoma"/>
                <a:cs typeface="Tahoma"/>
              </a:rPr>
              <a:t>controls,</a:t>
            </a:r>
            <a:r>
              <a:rPr sz="1750" spc="-35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1750" spc="70" dirty="0">
                <a:solidFill>
                  <a:srgbClr val="161612"/>
                </a:solidFill>
                <a:latin typeface="Tahoma"/>
                <a:cs typeface="Tahoma"/>
              </a:rPr>
              <a:t>and</a:t>
            </a:r>
            <a:r>
              <a:rPr sz="1750" spc="-30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1750" spc="-10" dirty="0">
                <a:solidFill>
                  <a:srgbClr val="161612"/>
                </a:solidFill>
                <a:latin typeface="Tahoma"/>
                <a:cs typeface="Tahoma"/>
              </a:rPr>
              <a:t>auditability.</a:t>
            </a:r>
            <a:endParaRPr sz="1750">
              <a:latin typeface="Tahoma"/>
              <a:cs typeface="Tahoma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94004" y="3422903"/>
            <a:ext cx="883919" cy="547115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1948688" y="3378479"/>
            <a:ext cx="1623060" cy="34334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39370">
              <a:lnSpc>
                <a:spcPct val="105900"/>
              </a:lnSpc>
              <a:spcBef>
                <a:spcPts val="100"/>
              </a:spcBef>
            </a:pPr>
            <a:r>
              <a:rPr sz="2200" spc="140" dirty="0">
                <a:solidFill>
                  <a:srgbClr val="161612"/>
                </a:solidFill>
                <a:latin typeface="Tahoma"/>
                <a:cs typeface="Tahoma"/>
              </a:rPr>
              <a:t>End-</a:t>
            </a:r>
            <a:r>
              <a:rPr sz="2200" spc="200" dirty="0">
                <a:solidFill>
                  <a:srgbClr val="161612"/>
                </a:solidFill>
                <a:latin typeface="Tahoma"/>
                <a:cs typeface="Tahoma"/>
              </a:rPr>
              <a:t>to-</a:t>
            </a:r>
            <a:r>
              <a:rPr sz="2200" spc="55" dirty="0">
                <a:solidFill>
                  <a:srgbClr val="161612"/>
                </a:solidFill>
                <a:latin typeface="Tahoma"/>
                <a:cs typeface="Tahoma"/>
              </a:rPr>
              <a:t>end </a:t>
            </a:r>
            <a:r>
              <a:rPr sz="2200" spc="65" dirty="0">
                <a:solidFill>
                  <a:srgbClr val="161612"/>
                </a:solidFill>
                <a:latin typeface="Tahoma"/>
                <a:cs typeface="Tahoma"/>
              </a:rPr>
              <a:t>Automation</a:t>
            </a:r>
            <a:endParaRPr sz="2200">
              <a:latin typeface="Tahoma"/>
              <a:cs typeface="Tahoma"/>
            </a:endParaRPr>
          </a:p>
          <a:p>
            <a:pPr marL="12700" marR="5080">
              <a:lnSpc>
                <a:spcPct val="138100"/>
              </a:lnSpc>
              <a:spcBef>
                <a:spcPts val="940"/>
              </a:spcBef>
            </a:pPr>
            <a:r>
              <a:rPr sz="1750" spc="55" dirty="0">
                <a:solidFill>
                  <a:srgbClr val="161612"/>
                </a:solidFill>
                <a:latin typeface="Tahoma"/>
                <a:cs typeface="Tahoma"/>
              </a:rPr>
              <a:t>Automates </a:t>
            </a:r>
            <a:r>
              <a:rPr sz="1750" spc="50" dirty="0">
                <a:solidFill>
                  <a:srgbClr val="161612"/>
                </a:solidFill>
                <a:latin typeface="Tahoma"/>
                <a:cs typeface="Tahoma"/>
              </a:rPr>
              <a:t>Requisition</a:t>
            </a:r>
            <a:r>
              <a:rPr sz="1750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1750" spc="-50" dirty="0">
                <a:solidFill>
                  <a:srgbClr val="161612"/>
                </a:solidFill>
                <a:latin typeface="Tahoma"/>
                <a:cs typeface="Tahoma"/>
              </a:rPr>
              <a:t>→ </a:t>
            </a:r>
            <a:r>
              <a:rPr sz="1750" spc="80" dirty="0">
                <a:solidFill>
                  <a:srgbClr val="161612"/>
                </a:solidFill>
                <a:latin typeface="Tahoma"/>
                <a:cs typeface="Tahoma"/>
              </a:rPr>
              <a:t>Approval</a:t>
            </a:r>
            <a:r>
              <a:rPr sz="1750" spc="-35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1750" spc="-90" dirty="0">
                <a:solidFill>
                  <a:srgbClr val="161612"/>
                </a:solidFill>
                <a:latin typeface="Tahoma"/>
                <a:cs typeface="Tahoma"/>
              </a:rPr>
              <a:t>→</a:t>
            </a:r>
            <a:r>
              <a:rPr sz="1750" spc="-50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1750" spc="85" dirty="0">
                <a:solidFill>
                  <a:srgbClr val="161612"/>
                </a:solidFill>
                <a:latin typeface="Tahoma"/>
                <a:cs typeface="Tahoma"/>
              </a:rPr>
              <a:t>PO </a:t>
            </a:r>
            <a:r>
              <a:rPr sz="1750" spc="60" dirty="0">
                <a:solidFill>
                  <a:srgbClr val="161612"/>
                </a:solidFill>
                <a:latin typeface="Tahoma"/>
                <a:cs typeface="Tahoma"/>
              </a:rPr>
              <a:t>creation</a:t>
            </a:r>
            <a:r>
              <a:rPr sz="1750" spc="-25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1750" spc="-20" dirty="0">
                <a:solidFill>
                  <a:srgbClr val="161612"/>
                </a:solidFill>
                <a:latin typeface="Tahoma"/>
                <a:cs typeface="Tahoma"/>
              </a:rPr>
              <a:t>with </a:t>
            </a:r>
            <a:r>
              <a:rPr sz="1750" spc="60" dirty="0">
                <a:solidFill>
                  <a:srgbClr val="161612"/>
                </a:solidFill>
                <a:latin typeface="Tahoma"/>
                <a:cs typeface="Tahoma"/>
              </a:rPr>
              <a:t>configurable rules</a:t>
            </a:r>
            <a:r>
              <a:rPr sz="1750" spc="-35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1750" spc="45" dirty="0">
                <a:solidFill>
                  <a:srgbClr val="161612"/>
                </a:solidFill>
                <a:latin typeface="Tahoma"/>
                <a:cs typeface="Tahoma"/>
              </a:rPr>
              <a:t>and </a:t>
            </a:r>
            <a:r>
              <a:rPr sz="1750" spc="40" dirty="0">
                <a:solidFill>
                  <a:srgbClr val="161612"/>
                </a:solidFill>
                <a:latin typeface="Tahoma"/>
                <a:cs typeface="Tahoma"/>
              </a:rPr>
              <a:t>notifications.</a:t>
            </a:r>
            <a:endParaRPr sz="1750">
              <a:latin typeface="Tahoma"/>
              <a:cs typeface="Tahoma"/>
            </a:endParaRPr>
          </a:p>
        </p:txBody>
      </p:sp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125467" y="3422903"/>
            <a:ext cx="883919" cy="547115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5280405" y="3378479"/>
            <a:ext cx="1861820" cy="2697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67690">
              <a:lnSpc>
                <a:spcPct val="105900"/>
              </a:lnSpc>
              <a:spcBef>
                <a:spcPts val="100"/>
              </a:spcBef>
            </a:pPr>
            <a:r>
              <a:rPr sz="2200" spc="80" dirty="0">
                <a:solidFill>
                  <a:srgbClr val="161612"/>
                </a:solidFill>
                <a:latin typeface="Tahoma"/>
                <a:cs typeface="Tahoma"/>
              </a:rPr>
              <a:t>Real-</a:t>
            </a:r>
            <a:r>
              <a:rPr sz="2200" spc="65" dirty="0">
                <a:solidFill>
                  <a:srgbClr val="161612"/>
                </a:solidFill>
                <a:latin typeface="Tahoma"/>
                <a:cs typeface="Tahoma"/>
              </a:rPr>
              <a:t>time </a:t>
            </a:r>
            <a:r>
              <a:rPr sz="2200" spc="-10" dirty="0">
                <a:solidFill>
                  <a:srgbClr val="161612"/>
                </a:solidFill>
                <a:latin typeface="Tahoma"/>
                <a:cs typeface="Tahoma"/>
              </a:rPr>
              <a:t>Tracking</a:t>
            </a:r>
            <a:endParaRPr sz="2200">
              <a:latin typeface="Tahoma"/>
              <a:cs typeface="Tahoma"/>
            </a:endParaRPr>
          </a:p>
          <a:p>
            <a:pPr marL="12700" marR="5080">
              <a:lnSpc>
                <a:spcPct val="138200"/>
              </a:lnSpc>
              <a:spcBef>
                <a:spcPts val="935"/>
              </a:spcBef>
            </a:pPr>
            <a:r>
              <a:rPr sz="1750" spc="80" dirty="0">
                <a:solidFill>
                  <a:srgbClr val="161612"/>
                </a:solidFill>
                <a:latin typeface="Tahoma"/>
                <a:cs typeface="Tahoma"/>
              </a:rPr>
              <a:t>Live</a:t>
            </a:r>
            <a:r>
              <a:rPr sz="1750" spc="-50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1750" spc="50" dirty="0">
                <a:solidFill>
                  <a:srgbClr val="161612"/>
                </a:solidFill>
                <a:latin typeface="Tahoma"/>
                <a:cs typeface="Tahoma"/>
              </a:rPr>
              <a:t>status </a:t>
            </a:r>
            <a:r>
              <a:rPr sz="1750" spc="70" dirty="0">
                <a:solidFill>
                  <a:srgbClr val="161612"/>
                </a:solidFill>
                <a:latin typeface="Tahoma"/>
                <a:cs typeface="Tahoma"/>
              </a:rPr>
              <a:t>updates</a:t>
            </a:r>
            <a:r>
              <a:rPr sz="1750" spc="-20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1750" spc="45" dirty="0">
                <a:solidFill>
                  <a:srgbClr val="161612"/>
                </a:solidFill>
                <a:latin typeface="Tahoma"/>
                <a:cs typeface="Tahoma"/>
              </a:rPr>
              <a:t>and </a:t>
            </a:r>
            <a:r>
              <a:rPr sz="1750" spc="85" dirty="0">
                <a:solidFill>
                  <a:srgbClr val="161612"/>
                </a:solidFill>
                <a:latin typeface="Tahoma"/>
                <a:cs typeface="Tahoma"/>
              </a:rPr>
              <a:t>dashboards</a:t>
            </a:r>
            <a:r>
              <a:rPr sz="1750" spc="-5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1750" spc="40" dirty="0">
                <a:solidFill>
                  <a:srgbClr val="161612"/>
                </a:solidFill>
                <a:latin typeface="Tahoma"/>
                <a:cs typeface="Tahoma"/>
              </a:rPr>
              <a:t>for </a:t>
            </a:r>
            <a:r>
              <a:rPr sz="1750" spc="50" dirty="0">
                <a:solidFill>
                  <a:srgbClr val="161612"/>
                </a:solidFill>
                <a:latin typeface="Tahoma"/>
                <a:cs typeface="Tahoma"/>
              </a:rPr>
              <a:t>requisitions,</a:t>
            </a:r>
            <a:r>
              <a:rPr sz="1750" spc="5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1750" spc="70" dirty="0">
                <a:solidFill>
                  <a:srgbClr val="161612"/>
                </a:solidFill>
                <a:latin typeface="Tahoma"/>
                <a:cs typeface="Tahoma"/>
              </a:rPr>
              <a:t>POs, and</a:t>
            </a:r>
            <a:r>
              <a:rPr sz="1750" spc="-50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1750" spc="45" dirty="0">
                <a:solidFill>
                  <a:srgbClr val="161612"/>
                </a:solidFill>
                <a:latin typeface="Tahoma"/>
                <a:cs typeface="Tahoma"/>
              </a:rPr>
              <a:t>deliveries.</a:t>
            </a:r>
            <a:endParaRPr sz="1750">
              <a:latin typeface="Tahoma"/>
              <a:cs typeface="Tahoma"/>
            </a:endParaRPr>
          </a:p>
        </p:txBody>
      </p:sp>
      <p:pic>
        <p:nvPicPr>
          <p:cNvPr id="9" name="object 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456931" y="3422903"/>
            <a:ext cx="883920" cy="547115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8612505" y="3378479"/>
            <a:ext cx="1837055" cy="305181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127000">
              <a:lnSpc>
                <a:spcPct val="106100"/>
              </a:lnSpc>
              <a:spcBef>
                <a:spcPts val="95"/>
              </a:spcBef>
            </a:pPr>
            <a:r>
              <a:rPr sz="2200" spc="60" dirty="0">
                <a:solidFill>
                  <a:srgbClr val="161612"/>
                </a:solidFill>
                <a:latin typeface="Tahoma"/>
                <a:cs typeface="Tahoma"/>
              </a:rPr>
              <a:t>Centralized </a:t>
            </a:r>
            <a:r>
              <a:rPr sz="2200" spc="80" dirty="0">
                <a:solidFill>
                  <a:srgbClr val="161612"/>
                </a:solidFill>
                <a:latin typeface="Tahoma"/>
                <a:cs typeface="Tahoma"/>
              </a:rPr>
              <a:t>Vendor </a:t>
            </a:r>
            <a:r>
              <a:rPr sz="2200" spc="60" dirty="0">
                <a:solidFill>
                  <a:srgbClr val="161612"/>
                </a:solidFill>
                <a:latin typeface="Tahoma"/>
                <a:cs typeface="Tahoma"/>
              </a:rPr>
              <a:t>Management</a:t>
            </a:r>
            <a:endParaRPr sz="2200">
              <a:latin typeface="Tahoma"/>
              <a:cs typeface="Tahoma"/>
            </a:endParaRPr>
          </a:p>
          <a:p>
            <a:pPr marL="12700" marR="5080">
              <a:lnSpc>
                <a:spcPct val="138200"/>
              </a:lnSpc>
              <a:spcBef>
                <a:spcPts val="915"/>
              </a:spcBef>
            </a:pPr>
            <a:r>
              <a:rPr sz="1750" spc="75" dirty="0">
                <a:solidFill>
                  <a:srgbClr val="161612"/>
                </a:solidFill>
                <a:latin typeface="Tahoma"/>
                <a:cs typeface="Tahoma"/>
              </a:rPr>
              <a:t>Single</a:t>
            </a:r>
            <a:r>
              <a:rPr sz="1750" spc="-50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1750" spc="100" dirty="0">
                <a:solidFill>
                  <a:srgbClr val="161612"/>
                </a:solidFill>
                <a:latin typeface="Tahoma"/>
                <a:cs typeface="Tahoma"/>
              </a:rPr>
              <a:t>source</a:t>
            </a:r>
            <a:r>
              <a:rPr sz="1750" spc="-55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1750" spc="60" dirty="0">
                <a:solidFill>
                  <a:srgbClr val="161612"/>
                </a:solidFill>
                <a:latin typeface="Tahoma"/>
                <a:cs typeface="Tahoma"/>
              </a:rPr>
              <a:t>of </a:t>
            </a:r>
            <a:r>
              <a:rPr sz="1750" dirty="0">
                <a:solidFill>
                  <a:srgbClr val="161612"/>
                </a:solidFill>
                <a:latin typeface="Tahoma"/>
                <a:cs typeface="Tahoma"/>
              </a:rPr>
              <a:t>truth</a:t>
            </a:r>
            <a:r>
              <a:rPr sz="1750" spc="5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1750" spc="65" dirty="0">
                <a:solidFill>
                  <a:srgbClr val="161612"/>
                </a:solidFill>
                <a:latin typeface="Tahoma"/>
                <a:cs typeface="Tahoma"/>
              </a:rPr>
              <a:t>for</a:t>
            </a:r>
            <a:r>
              <a:rPr sz="1750" spc="-15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1750" spc="65" dirty="0">
                <a:solidFill>
                  <a:srgbClr val="161612"/>
                </a:solidFill>
                <a:latin typeface="Tahoma"/>
                <a:cs typeface="Tahoma"/>
              </a:rPr>
              <a:t>vendor </a:t>
            </a:r>
            <a:r>
              <a:rPr sz="1750" dirty="0">
                <a:solidFill>
                  <a:srgbClr val="161612"/>
                </a:solidFill>
                <a:latin typeface="Tahoma"/>
                <a:cs typeface="Tahoma"/>
              </a:rPr>
              <a:t>data,</a:t>
            </a:r>
            <a:r>
              <a:rPr sz="1750" spc="120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1750" spc="55" dirty="0">
                <a:solidFill>
                  <a:srgbClr val="161612"/>
                </a:solidFill>
                <a:latin typeface="Tahoma"/>
                <a:cs typeface="Tahoma"/>
              </a:rPr>
              <a:t>contracts, </a:t>
            </a:r>
            <a:r>
              <a:rPr sz="1750" spc="70" dirty="0">
                <a:solidFill>
                  <a:srgbClr val="161612"/>
                </a:solidFill>
                <a:latin typeface="Tahoma"/>
                <a:cs typeface="Tahoma"/>
              </a:rPr>
              <a:t>and</a:t>
            </a:r>
            <a:r>
              <a:rPr sz="1750" spc="-50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1750" spc="65" dirty="0">
                <a:solidFill>
                  <a:srgbClr val="161612"/>
                </a:solidFill>
                <a:latin typeface="Tahoma"/>
                <a:cs typeface="Tahoma"/>
              </a:rPr>
              <a:t>performance </a:t>
            </a:r>
            <a:r>
              <a:rPr sz="1750" spc="45" dirty="0">
                <a:solidFill>
                  <a:srgbClr val="161612"/>
                </a:solidFill>
                <a:latin typeface="Tahoma"/>
                <a:cs typeface="Tahoma"/>
              </a:rPr>
              <a:t>metrics.</a:t>
            </a:r>
            <a:endParaRPr sz="1750">
              <a:latin typeface="Tahoma"/>
              <a:cs typeface="Tahoma"/>
            </a:endParaRPr>
          </a:p>
        </p:txBody>
      </p:sp>
      <p:pic>
        <p:nvPicPr>
          <p:cNvPr id="11" name="object 11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0788395" y="3422903"/>
            <a:ext cx="883920" cy="547115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11944350" y="3378479"/>
            <a:ext cx="1837689" cy="34334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5900"/>
              </a:lnSpc>
              <a:spcBef>
                <a:spcPts val="100"/>
              </a:spcBef>
            </a:pPr>
            <a:r>
              <a:rPr sz="2200" dirty="0">
                <a:solidFill>
                  <a:srgbClr val="161612"/>
                </a:solidFill>
                <a:latin typeface="Tahoma"/>
                <a:cs typeface="Tahoma"/>
              </a:rPr>
              <a:t>Secure,</a:t>
            </a:r>
            <a:r>
              <a:rPr sz="2200" spc="160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2200" spc="85" dirty="0">
                <a:solidFill>
                  <a:srgbClr val="161612"/>
                </a:solidFill>
                <a:latin typeface="Tahoma"/>
                <a:cs typeface="Tahoma"/>
              </a:rPr>
              <a:t>Role- </a:t>
            </a:r>
            <a:r>
              <a:rPr sz="2200" spc="80" dirty="0">
                <a:solidFill>
                  <a:srgbClr val="161612"/>
                </a:solidFill>
                <a:latin typeface="Tahoma"/>
                <a:cs typeface="Tahoma"/>
              </a:rPr>
              <a:t>Based</a:t>
            </a:r>
            <a:r>
              <a:rPr sz="2200" spc="-90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2200" spc="140" dirty="0">
                <a:solidFill>
                  <a:srgbClr val="161612"/>
                </a:solidFill>
                <a:latin typeface="Tahoma"/>
                <a:cs typeface="Tahoma"/>
              </a:rPr>
              <a:t>Access</a:t>
            </a:r>
            <a:endParaRPr sz="2200">
              <a:latin typeface="Tahoma"/>
              <a:cs typeface="Tahoma"/>
            </a:endParaRPr>
          </a:p>
          <a:p>
            <a:pPr marL="12700" marR="106045">
              <a:lnSpc>
                <a:spcPct val="138100"/>
              </a:lnSpc>
              <a:spcBef>
                <a:spcPts val="940"/>
              </a:spcBef>
            </a:pPr>
            <a:r>
              <a:rPr sz="1750" spc="170" dirty="0">
                <a:solidFill>
                  <a:srgbClr val="161612"/>
                </a:solidFill>
                <a:latin typeface="Tahoma"/>
                <a:cs typeface="Tahoma"/>
              </a:rPr>
              <a:t>JWT-</a:t>
            </a:r>
            <a:r>
              <a:rPr sz="1750" spc="75" dirty="0">
                <a:solidFill>
                  <a:srgbClr val="161612"/>
                </a:solidFill>
                <a:latin typeface="Tahoma"/>
                <a:cs typeface="Tahoma"/>
              </a:rPr>
              <a:t>based </a:t>
            </a:r>
            <a:r>
              <a:rPr sz="1750" spc="40" dirty="0">
                <a:solidFill>
                  <a:srgbClr val="161612"/>
                </a:solidFill>
                <a:latin typeface="Tahoma"/>
                <a:cs typeface="Tahoma"/>
              </a:rPr>
              <a:t>authentication </a:t>
            </a:r>
            <a:r>
              <a:rPr sz="1750" dirty="0">
                <a:solidFill>
                  <a:srgbClr val="161612"/>
                </a:solidFill>
                <a:latin typeface="Tahoma"/>
                <a:cs typeface="Tahoma"/>
              </a:rPr>
              <a:t>with</a:t>
            </a:r>
            <a:r>
              <a:rPr sz="1750" spc="35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1750" spc="60" dirty="0">
                <a:solidFill>
                  <a:srgbClr val="161612"/>
                </a:solidFill>
                <a:latin typeface="Tahoma"/>
                <a:cs typeface="Tahoma"/>
              </a:rPr>
              <a:t>role</a:t>
            </a:r>
            <a:r>
              <a:rPr sz="1750" spc="20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1750" spc="45" dirty="0">
                <a:solidFill>
                  <a:srgbClr val="161612"/>
                </a:solidFill>
                <a:latin typeface="Tahoma"/>
                <a:cs typeface="Tahoma"/>
              </a:rPr>
              <a:t>and </a:t>
            </a:r>
            <a:r>
              <a:rPr sz="1750" spc="60" dirty="0">
                <a:solidFill>
                  <a:srgbClr val="161612"/>
                </a:solidFill>
                <a:latin typeface="Tahoma"/>
                <a:cs typeface="Tahoma"/>
              </a:rPr>
              <a:t>permission </a:t>
            </a:r>
            <a:r>
              <a:rPr sz="1750" spc="70" dirty="0">
                <a:solidFill>
                  <a:srgbClr val="161612"/>
                </a:solidFill>
                <a:latin typeface="Tahoma"/>
                <a:cs typeface="Tahoma"/>
              </a:rPr>
              <a:t>enforcement</a:t>
            </a:r>
            <a:r>
              <a:rPr sz="1750" spc="-10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1750" spc="40" dirty="0">
                <a:solidFill>
                  <a:srgbClr val="161612"/>
                </a:solidFill>
                <a:latin typeface="Tahoma"/>
                <a:cs typeface="Tahoma"/>
              </a:rPr>
              <a:t>for </a:t>
            </a:r>
            <a:r>
              <a:rPr sz="1750" spc="75" dirty="0">
                <a:solidFill>
                  <a:srgbClr val="161612"/>
                </a:solidFill>
                <a:latin typeface="Tahoma"/>
                <a:cs typeface="Tahoma"/>
              </a:rPr>
              <a:t>least-</a:t>
            </a:r>
            <a:r>
              <a:rPr sz="1750" spc="50" dirty="0">
                <a:solidFill>
                  <a:srgbClr val="161612"/>
                </a:solidFill>
                <a:latin typeface="Tahoma"/>
                <a:cs typeface="Tahoma"/>
              </a:rPr>
              <a:t>privilege </a:t>
            </a:r>
            <a:r>
              <a:rPr sz="1750" spc="95" dirty="0">
                <a:solidFill>
                  <a:srgbClr val="161612"/>
                </a:solidFill>
                <a:latin typeface="Tahoma"/>
                <a:cs typeface="Tahoma"/>
              </a:rPr>
              <a:t>access.</a:t>
            </a:r>
            <a:endParaRPr sz="175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886944" y="7543798"/>
            <a:ext cx="1743455" cy="571498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81304" y="912317"/>
            <a:ext cx="3735704" cy="5676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550" spc="110" dirty="0"/>
              <a:t>Technology</a:t>
            </a:r>
            <a:r>
              <a:rPr sz="3550" spc="-145" dirty="0"/>
              <a:t> </a:t>
            </a:r>
            <a:r>
              <a:rPr sz="3550" spc="125" dirty="0"/>
              <a:t>Stack</a:t>
            </a:r>
            <a:endParaRPr sz="3550"/>
          </a:p>
        </p:txBody>
      </p:sp>
      <p:sp>
        <p:nvSpPr>
          <p:cNvPr id="4" name="object 4"/>
          <p:cNvSpPr/>
          <p:nvPr/>
        </p:nvSpPr>
        <p:spPr>
          <a:xfrm>
            <a:off x="817460" y="1993147"/>
            <a:ext cx="520700" cy="519430"/>
          </a:xfrm>
          <a:custGeom>
            <a:avLst/>
            <a:gdLst/>
            <a:ahLst/>
            <a:cxnLst/>
            <a:rect l="l" t="t" r="r" b="b"/>
            <a:pathLst>
              <a:path w="520700" h="519430">
                <a:moveTo>
                  <a:pt x="313046" y="52310"/>
                </a:moveTo>
                <a:lnTo>
                  <a:pt x="301954" y="13682"/>
                </a:lnTo>
                <a:lnTo>
                  <a:pt x="287129" y="0"/>
                </a:lnTo>
                <a:lnTo>
                  <a:pt x="221808" y="691"/>
                </a:lnTo>
              </a:path>
              <a:path w="520700" h="519430">
                <a:moveTo>
                  <a:pt x="368194" y="74479"/>
                </a:moveTo>
                <a:lnTo>
                  <a:pt x="313046" y="52310"/>
                </a:lnTo>
              </a:path>
              <a:path w="520700" h="519430">
                <a:moveTo>
                  <a:pt x="415239" y="49084"/>
                </a:moveTo>
                <a:lnTo>
                  <a:pt x="368194" y="74479"/>
                </a:lnTo>
              </a:path>
              <a:path w="520700" h="519430">
                <a:moveTo>
                  <a:pt x="415239" y="49084"/>
                </a:moveTo>
                <a:lnTo>
                  <a:pt x="418000" y="49729"/>
                </a:lnTo>
                <a:lnTo>
                  <a:pt x="473222" y="103792"/>
                </a:lnTo>
                <a:lnTo>
                  <a:pt x="446397" y="152540"/>
                </a:lnTo>
              </a:path>
              <a:path w="520700" h="519430">
                <a:moveTo>
                  <a:pt x="468705" y="207575"/>
                </a:moveTo>
                <a:lnTo>
                  <a:pt x="446397" y="152540"/>
                </a:lnTo>
              </a:path>
              <a:path w="520700" h="519430">
                <a:moveTo>
                  <a:pt x="520235" y="224789"/>
                </a:moveTo>
                <a:lnTo>
                  <a:pt x="468705" y="207575"/>
                </a:lnTo>
              </a:path>
              <a:path w="520700" h="519430">
                <a:moveTo>
                  <a:pt x="470687" y="312722"/>
                </a:moveTo>
                <a:lnTo>
                  <a:pt x="446766" y="366839"/>
                </a:lnTo>
              </a:path>
              <a:path w="520700" h="519430">
                <a:moveTo>
                  <a:pt x="470687" y="312722"/>
                </a:moveTo>
                <a:lnTo>
                  <a:pt x="515810" y="298186"/>
                </a:lnTo>
                <a:lnTo>
                  <a:pt x="517977" y="295701"/>
                </a:lnTo>
                <a:lnTo>
                  <a:pt x="520235" y="224789"/>
                </a:lnTo>
              </a:path>
              <a:path w="520700" h="519430">
                <a:moveTo>
                  <a:pt x="470410" y="416864"/>
                </a:moveTo>
                <a:lnTo>
                  <a:pt x="415954" y="472254"/>
                </a:lnTo>
              </a:path>
              <a:path w="520700" h="519430">
                <a:moveTo>
                  <a:pt x="470410" y="416864"/>
                </a:moveTo>
                <a:lnTo>
                  <a:pt x="471194" y="413915"/>
                </a:lnTo>
                <a:lnTo>
                  <a:pt x="446766" y="366839"/>
                </a:lnTo>
              </a:path>
              <a:path w="520700" h="519430">
                <a:moveTo>
                  <a:pt x="415954" y="472254"/>
                </a:moveTo>
                <a:lnTo>
                  <a:pt x="368447" y="444130"/>
                </a:lnTo>
                <a:lnTo>
                  <a:pt x="313207" y="466608"/>
                </a:lnTo>
              </a:path>
              <a:path w="520700" h="519430">
                <a:moveTo>
                  <a:pt x="293927" y="517993"/>
                </a:moveTo>
                <a:lnTo>
                  <a:pt x="221287" y="518848"/>
                </a:lnTo>
              </a:path>
              <a:path w="520700" h="519430">
                <a:moveTo>
                  <a:pt x="293927" y="517993"/>
                </a:moveTo>
                <a:lnTo>
                  <a:pt x="296646" y="516360"/>
                </a:lnTo>
                <a:lnTo>
                  <a:pt x="313207" y="466608"/>
                </a:lnTo>
              </a:path>
              <a:path w="520700" h="519430">
                <a:moveTo>
                  <a:pt x="221287" y="518848"/>
                </a:moveTo>
                <a:lnTo>
                  <a:pt x="205865" y="466815"/>
                </a:lnTo>
                <a:lnTo>
                  <a:pt x="149827" y="444241"/>
                </a:lnTo>
                <a:lnTo>
                  <a:pt x="103363" y="471876"/>
                </a:lnTo>
                <a:lnTo>
                  <a:pt x="45154" y="414071"/>
                </a:lnTo>
              </a:path>
              <a:path w="520700" h="519430">
                <a:moveTo>
                  <a:pt x="71698" y="365977"/>
                </a:moveTo>
                <a:lnTo>
                  <a:pt x="45154" y="414071"/>
                </a:lnTo>
              </a:path>
              <a:path w="520700" h="519430">
                <a:moveTo>
                  <a:pt x="48574" y="312860"/>
                </a:moveTo>
                <a:lnTo>
                  <a:pt x="0" y="297577"/>
                </a:lnTo>
              </a:path>
              <a:path w="520700" h="519430">
                <a:moveTo>
                  <a:pt x="48574" y="312860"/>
                </a:moveTo>
                <a:lnTo>
                  <a:pt x="71698" y="365977"/>
                </a:lnTo>
              </a:path>
              <a:path w="520700" h="519430">
                <a:moveTo>
                  <a:pt x="1884" y="223392"/>
                </a:moveTo>
                <a:lnTo>
                  <a:pt x="0" y="297577"/>
                </a:lnTo>
              </a:path>
              <a:path w="520700" h="519430">
                <a:moveTo>
                  <a:pt x="1884" y="223392"/>
                </a:moveTo>
                <a:lnTo>
                  <a:pt x="50805" y="207409"/>
                </a:lnTo>
              </a:path>
              <a:path w="520700" h="519430">
                <a:moveTo>
                  <a:pt x="72440" y="152295"/>
                </a:moveTo>
                <a:lnTo>
                  <a:pt x="50805" y="207409"/>
                </a:lnTo>
              </a:path>
              <a:path w="520700" h="519430">
                <a:moveTo>
                  <a:pt x="72440" y="152295"/>
                </a:moveTo>
                <a:lnTo>
                  <a:pt x="45555" y="105630"/>
                </a:lnTo>
              </a:path>
              <a:path w="520700" h="519430">
                <a:moveTo>
                  <a:pt x="102547" y="46780"/>
                </a:moveTo>
                <a:lnTo>
                  <a:pt x="45555" y="105630"/>
                </a:lnTo>
              </a:path>
              <a:path w="520700" h="519430">
                <a:moveTo>
                  <a:pt x="151146" y="74295"/>
                </a:moveTo>
                <a:lnTo>
                  <a:pt x="102547" y="46780"/>
                </a:lnTo>
              </a:path>
              <a:path w="520700" h="519430">
                <a:moveTo>
                  <a:pt x="205519" y="52403"/>
                </a:moveTo>
                <a:lnTo>
                  <a:pt x="151146" y="74295"/>
                </a:lnTo>
              </a:path>
              <a:path w="520700" h="519430">
                <a:moveTo>
                  <a:pt x="221808" y="691"/>
                </a:moveTo>
                <a:lnTo>
                  <a:pt x="205519" y="52403"/>
                </a:lnTo>
              </a:path>
              <a:path w="520700" h="519430">
                <a:moveTo>
                  <a:pt x="378988" y="259153"/>
                </a:moveTo>
                <a:lnTo>
                  <a:pt x="369613" y="305588"/>
                </a:lnTo>
                <a:lnTo>
                  <a:pt x="344045" y="343507"/>
                </a:lnTo>
                <a:lnTo>
                  <a:pt x="306123" y="369074"/>
                </a:lnTo>
                <a:lnTo>
                  <a:pt x="259686" y="378449"/>
                </a:lnTo>
                <a:lnTo>
                  <a:pt x="213247" y="369074"/>
                </a:lnTo>
                <a:lnTo>
                  <a:pt x="175325" y="343507"/>
                </a:lnTo>
                <a:lnTo>
                  <a:pt x="149758" y="305588"/>
                </a:lnTo>
                <a:lnTo>
                  <a:pt x="140383" y="259153"/>
                </a:lnTo>
                <a:lnTo>
                  <a:pt x="149758" y="212716"/>
                </a:lnTo>
                <a:lnTo>
                  <a:pt x="175325" y="174796"/>
                </a:lnTo>
                <a:lnTo>
                  <a:pt x="213247" y="149231"/>
                </a:lnTo>
                <a:lnTo>
                  <a:pt x="259686" y="139856"/>
                </a:lnTo>
                <a:lnTo>
                  <a:pt x="306123" y="149231"/>
                </a:lnTo>
                <a:lnTo>
                  <a:pt x="344045" y="174796"/>
                </a:lnTo>
                <a:lnTo>
                  <a:pt x="369613" y="212716"/>
                </a:lnTo>
                <a:lnTo>
                  <a:pt x="378988" y="259153"/>
                </a:lnTo>
                <a:close/>
              </a:path>
            </a:pathLst>
          </a:custGeom>
          <a:ln w="23064">
            <a:solidFill>
              <a:srgbClr val="28282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781304" y="2794761"/>
            <a:ext cx="3446145" cy="15868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spc="70" dirty="0">
                <a:solidFill>
                  <a:srgbClr val="161612"/>
                </a:solidFill>
                <a:latin typeface="Tahoma"/>
                <a:cs typeface="Tahoma"/>
              </a:rPr>
              <a:t>Backend</a:t>
            </a:r>
            <a:endParaRPr sz="2200">
              <a:latin typeface="Tahoma"/>
              <a:cs typeface="Tahoma"/>
            </a:endParaRPr>
          </a:p>
          <a:p>
            <a:pPr marL="12700" marR="5080">
              <a:lnSpc>
                <a:spcPct val="138300"/>
              </a:lnSpc>
              <a:spcBef>
                <a:spcPts val="940"/>
              </a:spcBef>
            </a:pPr>
            <a:r>
              <a:rPr sz="1750" spc="70" dirty="0">
                <a:solidFill>
                  <a:srgbClr val="161612"/>
                </a:solidFill>
                <a:latin typeface="Tahoma"/>
                <a:cs typeface="Tahoma"/>
              </a:rPr>
              <a:t>Spring</a:t>
            </a:r>
            <a:r>
              <a:rPr sz="1750" spc="20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1750" spc="65" dirty="0">
                <a:solidFill>
                  <a:srgbClr val="161612"/>
                </a:solidFill>
                <a:latin typeface="Tahoma"/>
                <a:cs typeface="Tahoma"/>
              </a:rPr>
              <a:t>Boot</a:t>
            </a:r>
            <a:r>
              <a:rPr sz="1750" spc="-10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1750" dirty="0">
                <a:solidFill>
                  <a:srgbClr val="161612"/>
                </a:solidFill>
                <a:latin typeface="Tahoma"/>
                <a:cs typeface="Tahoma"/>
              </a:rPr>
              <a:t>3.2.5</a:t>
            </a:r>
            <a:r>
              <a:rPr sz="1750" spc="-15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1750" spc="90" dirty="0">
                <a:solidFill>
                  <a:srgbClr val="161612"/>
                </a:solidFill>
                <a:latin typeface="Tahoma"/>
                <a:cs typeface="Tahoma"/>
              </a:rPr>
              <a:t>(Java</a:t>
            </a:r>
            <a:r>
              <a:rPr sz="1750" spc="25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1750" spc="-80" dirty="0">
                <a:solidFill>
                  <a:srgbClr val="161612"/>
                </a:solidFill>
                <a:latin typeface="Tahoma"/>
                <a:cs typeface="Tahoma"/>
              </a:rPr>
              <a:t>17/21)</a:t>
            </a:r>
            <a:r>
              <a:rPr sz="1750" spc="-5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1750" spc="105" dirty="0">
                <a:solidFill>
                  <a:srgbClr val="161612"/>
                </a:solidFill>
                <a:latin typeface="Tahoma"/>
                <a:cs typeface="Tahoma"/>
              </a:rPr>
              <a:t>— </a:t>
            </a:r>
            <a:r>
              <a:rPr sz="1750" spc="65" dirty="0">
                <a:solidFill>
                  <a:srgbClr val="161612"/>
                </a:solidFill>
                <a:latin typeface="Tahoma"/>
                <a:cs typeface="Tahoma"/>
              </a:rPr>
              <a:t>RESTful</a:t>
            </a:r>
            <a:r>
              <a:rPr sz="1750" spc="-55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1750" spc="80" dirty="0">
                <a:solidFill>
                  <a:srgbClr val="161612"/>
                </a:solidFill>
                <a:latin typeface="Tahoma"/>
                <a:cs typeface="Tahoma"/>
              </a:rPr>
              <a:t>services,</a:t>
            </a:r>
            <a:r>
              <a:rPr sz="1750" spc="-10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1750" spc="80" dirty="0">
                <a:solidFill>
                  <a:srgbClr val="161612"/>
                </a:solidFill>
                <a:latin typeface="Tahoma"/>
                <a:cs typeface="Tahoma"/>
              </a:rPr>
              <a:t>dependency </a:t>
            </a:r>
            <a:r>
              <a:rPr sz="1750" dirty="0">
                <a:solidFill>
                  <a:srgbClr val="161612"/>
                </a:solidFill>
                <a:latin typeface="Tahoma"/>
                <a:cs typeface="Tahoma"/>
              </a:rPr>
              <a:t>injection,</a:t>
            </a:r>
            <a:r>
              <a:rPr sz="1750" spc="160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1750" spc="70" dirty="0">
                <a:solidFill>
                  <a:srgbClr val="161612"/>
                </a:solidFill>
                <a:latin typeface="Tahoma"/>
                <a:cs typeface="Tahoma"/>
              </a:rPr>
              <a:t>and</a:t>
            </a:r>
            <a:r>
              <a:rPr sz="1750" spc="135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1750" spc="35" dirty="0">
                <a:solidFill>
                  <a:srgbClr val="161612"/>
                </a:solidFill>
                <a:latin typeface="Tahoma"/>
                <a:cs typeface="Tahoma"/>
              </a:rPr>
              <a:t>actuator.</a:t>
            </a:r>
            <a:endParaRPr sz="1750">
              <a:latin typeface="Tahoma"/>
              <a:cs typeface="Tahoma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5285902" y="1980935"/>
            <a:ext cx="468630" cy="543560"/>
            <a:chOff x="5285902" y="1980935"/>
            <a:chExt cx="468630" cy="543560"/>
          </a:xfrm>
        </p:grpSpPr>
        <p:sp>
          <p:nvSpPr>
            <p:cNvPr id="7" name="object 7"/>
            <p:cNvSpPr/>
            <p:nvPr/>
          </p:nvSpPr>
          <p:spPr>
            <a:xfrm>
              <a:off x="5586568" y="2331407"/>
              <a:ext cx="154305" cy="53340"/>
            </a:xfrm>
            <a:custGeom>
              <a:avLst/>
              <a:gdLst/>
              <a:ahLst/>
              <a:cxnLst/>
              <a:rect l="l" t="t" r="r" b="b"/>
              <a:pathLst>
                <a:path w="154304" h="53339">
                  <a:moveTo>
                    <a:pt x="154133" y="0"/>
                  </a:moveTo>
                  <a:lnTo>
                    <a:pt x="119278" y="22628"/>
                  </a:lnTo>
                  <a:lnTo>
                    <a:pt x="81011" y="37469"/>
                  </a:lnTo>
                  <a:lnTo>
                    <a:pt x="36031" y="48230"/>
                  </a:lnTo>
                  <a:lnTo>
                    <a:pt x="11645" y="51818"/>
                  </a:lnTo>
                  <a:lnTo>
                    <a:pt x="0" y="53283"/>
                  </a:lnTo>
                </a:path>
              </a:pathLst>
            </a:custGeom>
            <a:ln w="23052">
              <a:solidFill>
                <a:srgbClr val="28282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530909" y="2192404"/>
              <a:ext cx="221964" cy="81143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5373405" y="2243921"/>
              <a:ext cx="369570" cy="266700"/>
            </a:xfrm>
            <a:custGeom>
              <a:avLst/>
              <a:gdLst/>
              <a:ahLst/>
              <a:cxnLst/>
              <a:rect l="l" t="t" r="r" b="b"/>
              <a:pathLst>
                <a:path w="369570" h="266700">
                  <a:moveTo>
                    <a:pt x="120348" y="18002"/>
                  </a:moveTo>
                  <a:lnTo>
                    <a:pt x="94466" y="15893"/>
                  </a:lnTo>
                  <a:lnTo>
                    <a:pt x="70371" y="13335"/>
                  </a:lnTo>
                  <a:lnTo>
                    <a:pt x="47658" y="10278"/>
                  </a:lnTo>
                  <a:lnTo>
                    <a:pt x="25921" y="6673"/>
                  </a:lnTo>
                  <a:lnTo>
                    <a:pt x="0" y="0"/>
                  </a:lnTo>
                </a:path>
                <a:path w="369570" h="266700">
                  <a:moveTo>
                    <a:pt x="369232" y="180968"/>
                  </a:moveTo>
                  <a:lnTo>
                    <a:pt x="349044" y="223614"/>
                  </a:lnTo>
                  <a:lnTo>
                    <a:pt x="306377" y="245165"/>
                  </a:lnTo>
                  <a:lnTo>
                    <a:pt x="258391" y="258318"/>
                  </a:lnTo>
                  <a:lnTo>
                    <a:pt x="216937" y="265036"/>
                  </a:lnTo>
                  <a:lnTo>
                    <a:pt x="199741" y="266661"/>
                  </a:lnTo>
                </a:path>
              </a:pathLst>
            </a:custGeom>
            <a:ln w="23053">
              <a:solidFill>
                <a:srgbClr val="28282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286072" y="2380911"/>
              <a:ext cx="161184" cy="137726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5297622" y="1992461"/>
              <a:ext cx="445134" cy="432434"/>
            </a:xfrm>
            <a:custGeom>
              <a:avLst/>
              <a:gdLst/>
              <a:ahLst/>
              <a:cxnLst/>
              <a:rect l="l" t="t" r="r" b="b"/>
              <a:pathLst>
                <a:path w="445135" h="432435">
                  <a:moveTo>
                    <a:pt x="0" y="110012"/>
                  </a:moveTo>
                  <a:lnTo>
                    <a:pt x="124" y="95677"/>
                  </a:lnTo>
                  <a:lnTo>
                    <a:pt x="148" y="82811"/>
                  </a:lnTo>
                  <a:lnTo>
                    <a:pt x="285" y="72194"/>
                  </a:lnTo>
                  <a:lnTo>
                    <a:pt x="25086" y="36673"/>
                  </a:lnTo>
                  <a:lnTo>
                    <a:pt x="66763" y="18153"/>
                  </a:lnTo>
                  <a:lnTo>
                    <a:pt x="115006" y="7368"/>
                  </a:lnTo>
                  <a:lnTo>
                    <a:pt x="162822" y="2241"/>
                  </a:lnTo>
                  <a:lnTo>
                    <a:pt x="207989" y="134"/>
                  </a:lnTo>
                  <a:lnTo>
                    <a:pt x="228494" y="0"/>
                  </a:lnTo>
                  <a:lnTo>
                    <a:pt x="248587" y="323"/>
                  </a:lnTo>
                  <a:lnTo>
                    <a:pt x="293877" y="3168"/>
                  </a:lnTo>
                  <a:lnTo>
                    <a:pt x="344288" y="10485"/>
                  </a:lnTo>
                  <a:lnTo>
                    <a:pt x="382460" y="20025"/>
                  </a:lnTo>
                  <a:lnTo>
                    <a:pt x="418493" y="35882"/>
                  </a:lnTo>
                  <a:lnTo>
                    <a:pt x="444139" y="65855"/>
                  </a:lnTo>
                  <a:lnTo>
                    <a:pt x="444891" y="100428"/>
                  </a:lnTo>
                  <a:lnTo>
                    <a:pt x="444969" y="122019"/>
                  </a:lnTo>
                </a:path>
                <a:path w="445135" h="432435">
                  <a:moveTo>
                    <a:pt x="444969" y="337604"/>
                  </a:moveTo>
                  <a:lnTo>
                    <a:pt x="445015" y="432427"/>
                  </a:lnTo>
                </a:path>
                <a:path w="445135" h="432435">
                  <a:moveTo>
                    <a:pt x="444969" y="210482"/>
                  </a:moveTo>
                  <a:lnTo>
                    <a:pt x="443079" y="338945"/>
                  </a:lnTo>
                </a:path>
                <a:path w="445135" h="432435">
                  <a:moveTo>
                    <a:pt x="444969" y="88577"/>
                  </a:moveTo>
                  <a:lnTo>
                    <a:pt x="423505" y="103936"/>
                  </a:lnTo>
                  <a:lnTo>
                    <a:pt x="400320" y="116322"/>
                  </a:lnTo>
                  <a:lnTo>
                    <a:pt x="375723" y="125598"/>
                  </a:lnTo>
                  <a:lnTo>
                    <a:pt x="350026" y="131624"/>
                  </a:lnTo>
                </a:path>
              </a:pathLst>
            </a:custGeom>
            <a:ln w="23053">
              <a:solidFill>
                <a:srgbClr val="28282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285902" y="2317429"/>
              <a:ext cx="312192" cy="81503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5297599" y="2083062"/>
              <a:ext cx="445134" cy="429895"/>
            </a:xfrm>
            <a:custGeom>
              <a:avLst/>
              <a:gdLst/>
              <a:ahLst/>
              <a:cxnLst/>
              <a:rect l="l" t="t" r="r" b="b"/>
              <a:pathLst>
                <a:path w="445135" h="429894">
                  <a:moveTo>
                    <a:pt x="275547" y="427521"/>
                  </a:moveTo>
                  <a:lnTo>
                    <a:pt x="241197" y="429328"/>
                  </a:lnTo>
                  <a:lnTo>
                    <a:pt x="206865" y="429471"/>
                  </a:lnTo>
                  <a:lnTo>
                    <a:pt x="172519" y="427771"/>
                  </a:lnTo>
                  <a:lnTo>
                    <a:pt x="138130" y="424049"/>
                  </a:lnTo>
                </a:path>
                <a:path w="445135" h="429894">
                  <a:moveTo>
                    <a:pt x="0" y="309376"/>
                  </a:moveTo>
                  <a:lnTo>
                    <a:pt x="22" y="19412"/>
                  </a:lnTo>
                </a:path>
                <a:path w="445135" h="429894">
                  <a:moveTo>
                    <a:pt x="244836" y="178958"/>
                  </a:moveTo>
                  <a:lnTo>
                    <a:pt x="196155" y="178861"/>
                  </a:lnTo>
                </a:path>
                <a:path w="445135" h="429894">
                  <a:moveTo>
                    <a:pt x="444992" y="31419"/>
                  </a:moveTo>
                  <a:lnTo>
                    <a:pt x="443747" y="120868"/>
                  </a:lnTo>
                </a:path>
                <a:path w="445135" h="429894">
                  <a:moveTo>
                    <a:pt x="75870" y="160610"/>
                  </a:moveTo>
                  <a:lnTo>
                    <a:pt x="55176" y="154030"/>
                  </a:lnTo>
                  <a:lnTo>
                    <a:pt x="35522" y="144988"/>
                  </a:lnTo>
                  <a:lnTo>
                    <a:pt x="17126" y="133601"/>
                  </a:lnTo>
                  <a:lnTo>
                    <a:pt x="207" y="119987"/>
                  </a:lnTo>
                </a:path>
                <a:path w="445135" h="429894">
                  <a:moveTo>
                    <a:pt x="350113" y="41415"/>
                  </a:moveTo>
                  <a:lnTo>
                    <a:pt x="300255" y="49811"/>
                  </a:lnTo>
                  <a:lnTo>
                    <a:pt x="250395" y="54274"/>
                  </a:lnTo>
                  <a:lnTo>
                    <a:pt x="200535" y="54707"/>
                  </a:lnTo>
                  <a:lnTo>
                    <a:pt x="150677" y="51015"/>
                  </a:lnTo>
                  <a:lnTo>
                    <a:pt x="100824" y="43102"/>
                  </a:lnTo>
                </a:path>
                <a:path w="445135" h="429894">
                  <a:moveTo>
                    <a:pt x="100893" y="42673"/>
                  </a:moveTo>
                  <a:lnTo>
                    <a:pt x="73880" y="36683"/>
                  </a:lnTo>
                  <a:lnTo>
                    <a:pt x="47888" y="27494"/>
                  </a:lnTo>
                  <a:lnTo>
                    <a:pt x="23200" y="15227"/>
                  </a:lnTo>
                  <a:lnTo>
                    <a:pt x="96" y="0"/>
                  </a:lnTo>
                </a:path>
              </a:pathLst>
            </a:custGeom>
            <a:ln w="23053">
              <a:solidFill>
                <a:srgbClr val="28282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5223764" y="2794761"/>
            <a:ext cx="3729354" cy="15868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spc="60" dirty="0">
                <a:solidFill>
                  <a:srgbClr val="161612"/>
                </a:solidFill>
                <a:latin typeface="Tahoma"/>
                <a:cs typeface="Tahoma"/>
              </a:rPr>
              <a:t>Database</a:t>
            </a:r>
            <a:endParaRPr sz="2200">
              <a:latin typeface="Tahoma"/>
              <a:cs typeface="Tahoma"/>
            </a:endParaRPr>
          </a:p>
          <a:p>
            <a:pPr marL="12700" marR="5080">
              <a:lnSpc>
                <a:spcPct val="138300"/>
              </a:lnSpc>
              <a:spcBef>
                <a:spcPts val="940"/>
              </a:spcBef>
            </a:pPr>
            <a:r>
              <a:rPr sz="1750" spc="130" dirty="0">
                <a:solidFill>
                  <a:srgbClr val="161612"/>
                </a:solidFill>
                <a:latin typeface="Tahoma"/>
                <a:cs typeface="Tahoma"/>
              </a:rPr>
              <a:t>MySQL</a:t>
            </a:r>
            <a:r>
              <a:rPr sz="1750" spc="-70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1750" spc="85" dirty="0">
                <a:solidFill>
                  <a:srgbClr val="161612"/>
                </a:solidFill>
                <a:latin typeface="Tahoma"/>
                <a:cs typeface="Tahoma"/>
              </a:rPr>
              <a:t>8.0</a:t>
            </a:r>
            <a:r>
              <a:rPr sz="1750" spc="-60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1750" spc="155" dirty="0">
                <a:solidFill>
                  <a:srgbClr val="161612"/>
                </a:solidFill>
                <a:latin typeface="Tahoma"/>
                <a:cs typeface="Tahoma"/>
              </a:rPr>
              <a:t>—</a:t>
            </a:r>
            <a:r>
              <a:rPr sz="1750" spc="-45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1750" spc="65" dirty="0">
                <a:solidFill>
                  <a:srgbClr val="161612"/>
                </a:solidFill>
                <a:latin typeface="Tahoma"/>
                <a:cs typeface="Tahoma"/>
              </a:rPr>
              <a:t>normalized</a:t>
            </a:r>
            <a:r>
              <a:rPr sz="1750" spc="-45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1750" spc="-10" dirty="0">
                <a:solidFill>
                  <a:srgbClr val="161612"/>
                </a:solidFill>
                <a:latin typeface="Tahoma"/>
                <a:cs typeface="Tahoma"/>
              </a:rPr>
              <a:t>relational </a:t>
            </a:r>
            <a:r>
              <a:rPr sz="1750" spc="75" dirty="0">
                <a:solidFill>
                  <a:srgbClr val="161612"/>
                </a:solidFill>
                <a:latin typeface="Tahoma"/>
                <a:cs typeface="Tahoma"/>
              </a:rPr>
              <a:t>schema,</a:t>
            </a:r>
            <a:r>
              <a:rPr sz="1750" spc="-40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1750" spc="65" dirty="0">
                <a:solidFill>
                  <a:srgbClr val="161612"/>
                </a:solidFill>
                <a:latin typeface="Tahoma"/>
                <a:cs typeface="Tahoma"/>
              </a:rPr>
              <a:t>foreign</a:t>
            </a:r>
            <a:r>
              <a:rPr sz="1750" spc="-45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1750" spc="90" dirty="0">
                <a:solidFill>
                  <a:srgbClr val="161612"/>
                </a:solidFill>
                <a:latin typeface="Tahoma"/>
                <a:cs typeface="Tahoma"/>
              </a:rPr>
              <a:t>key</a:t>
            </a:r>
            <a:r>
              <a:rPr sz="1750" spc="-40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1750" spc="45" dirty="0">
                <a:solidFill>
                  <a:srgbClr val="161612"/>
                </a:solidFill>
                <a:latin typeface="Tahoma"/>
                <a:cs typeface="Tahoma"/>
              </a:rPr>
              <a:t>constraints, </a:t>
            </a:r>
            <a:r>
              <a:rPr sz="1750" spc="70" dirty="0">
                <a:solidFill>
                  <a:srgbClr val="161612"/>
                </a:solidFill>
                <a:latin typeface="Tahoma"/>
                <a:cs typeface="Tahoma"/>
              </a:rPr>
              <a:t>indexed</a:t>
            </a:r>
            <a:r>
              <a:rPr sz="1750" spc="-15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1750" spc="45" dirty="0">
                <a:solidFill>
                  <a:srgbClr val="161612"/>
                </a:solidFill>
                <a:latin typeface="Tahoma"/>
                <a:cs typeface="Tahoma"/>
              </a:rPr>
              <a:t>queries.</a:t>
            </a:r>
            <a:endParaRPr sz="1750">
              <a:latin typeface="Tahoma"/>
              <a:cs typeface="Tahoma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9734553" y="1980934"/>
            <a:ext cx="453390" cy="543560"/>
            <a:chOff x="9734553" y="1980934"/>
            <a:chExt cx="453390" cy="543560"/>
          </a:xfrm>
        </p:grpSpPr>
        <p:pic>
          <p:nvPicPr>
            <p:cNvPr id="16" name="object 16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737734" y="1980934"/>
              <a:ext cx="447266" cy="100287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9746075" y="2069193"/>
              <a:ext cx="429895" cy="443865"/>
            </a:xfrm>
            <a:custGeom>
              <a:avLst/>
              <a:gdLst/>
              <a:ahLst/>
              <a:cxnLst/>
              <a:rect l="l" t="t" r="r" b="b"/>
              <a:pathLst>
                <a:path w="429895" h="443864">
                  <a:moveTo>
                    <a:pt x="221021" y="440242"/>
                  </a:moveTo>
                  <a:lnTo>
                    <a:pt x="253477" y="418681"/>
                  </a:lnTo>
                  <a:lnTo>
                    <a:pt x="288342" y="391278"/>
                  </a:lnTo>
                  <a:lnTo>
                    <a:pt x="320945" y="360894"/>
                  </a:lnTo>
                  <a:lnTo>
                    <a:pt x="354667" y="321528"/>
                  </a:lnTo>
                  <a:lnTo>
                    <a:pt x="377600" y="285736"/>
                  </a:lnTo>
                  <a:lnTo>
                    <a:pt x="398505" y="244040"/>
                  </a:lnTo>
                  <a:lnTo>
                    <a:pt x="412959" y="199433"/>
                  </a:lnTo>
                  <a:lnTo>
                    <a:pt x="421893" y="157426"/>
                  </a:lnTo>
                  <a:lnTo>
                    <a:pt x="427597" y="111483"/>
                  </a:lnTo>
                  <a:lnTo>
                    <a:pt x="429386" y="89361"/>
                  </a:lnTo>
                  <a:lnTo>
                    <a:pt x="429800" y="55191"/>
                  </a:lnTo>
                </a:path>
                <a:path w="429895" h="443864">
                  <a:moveTo>
                    <a:pt x="429616" y="17781"/>
                  </a:moveTo>
                  <a:lnTo>
                    <a:pt x="429339" y="11992"/>
                  </a:lnTo>
                  <a:lnTo>
                    <a:pt x="428602" y="6245"/>
                  </a:lnTo>
                  <a:lnTo>
                    <a:pt x="427404" y="507"/>
                  </a:lnTo>
                </a:path>
                <a:path w="429895" h="443864">
                  <a:moveTo>
                    <a:pt x="769" y="8079"/>
                  </a:moveTo>
                  <a:lnTo>
                    <a:pt x="414" y="13488"/>
                  </a:lnTo>
                  <a:lnTo>
                    <a:pt x="156" y="23258"/>
                  </a:lnTo>
                  <a:lnTo>
                    <a:pt x="12" y="38121"/>
                  </a:lnTo>
                  <a:lnTo>
                    <a:pt x="0" y="58814"/>
                  </a:lnTo>
                  <a:lnTo>
                    <a:pt x="493" y="76367"/>
                  </a:lnTo>
                  <a:lnTo>
                    <a:pt x="2936" y="118508"/>
                  </a:lnTo>
                  <a:lnTo>
                    <a:pt x="9466" y="163479"/>
                  </a:lnTo>
                  <a:lnTo>
                    <a:pt x="18888" y="205792"/>
                  </a:lnTo>
                  <a:lnTo>
                    <a:pt x="32754" y="245616"/>
                  </a:lnTo>
                  <a:lnTo>
                    <a:pt x="52634" y="286300"/>
                  </a:lnTo>
                  <a:lnTo>
                    <a:pt x="77406" y="324353"/>
                  </a:lnTo>
                  <a:lnTo>
                    <a:pt x="106996" y="359523"/>
                  </a:lnTo>
                  <a:lnTo>
                    <a:pt x="143025" y="393490"/>
                  </a:lnTo>
                  <a:lnTo>
                    <a:pt x="175306" y="418593"/>
                  </a:lnTo>
                  <a:lnTo>
                    <a:pt x="214546" y="443503"/>
                  </a:lnTo>
                  <a:lnTo>
                    <a:pt x="219887" y="440688"/>
                  </a:lnTo>
                  <a:lnTo>
                    <a:pt x="221021" y="440242"/>
                  </a:lnTo>
                </a:path>
                <a:path w="429895" h="443864">
                  <a:moveTo>
                    <a:pt x="3180" y="0"/>
                  </a:moveTo>
                  <a:lnTo>
                    <a:pt x="769" y="8079"/>
                  </a:lnTo>
                </a:path>
                <a:path w="429895" h="443864">
                  <a:moveTo>
                    <a:pt x="429800" y="55191"/>
                  </a:moveTo>
                  <a:lnTo>
                    <a:pt x="429616" y="17781"/>
                  </a:lnTo>
                </a:path>
              </a:pathLst>
            </a:custGeom>
            <a:ln w="23043">
              <a:solidFill>
                <a:srgbClr val="28282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9666223" y="2794761"/>
            <a:ext cx="3910329" cy="15868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spc="75" dirty="0">
                <a:solidFill>
                  <a:srgbClr val="161612"/>
                </a:solidFill>
                <a:latin typeface="Tahoma"/>
                <a:cs typeface="Tahoma"/>
              </a:rPr>
              <a:t>Security</a:t>
            </a:r>
            <a:endParaRPr sz="2200">
              <a:latin typeface="Tahoma"/>
              <a:cs typeface="Tahoma"/>
            </a:endParaRPr>
          </a:p>
          <a:p>
            <a:pPr marL="12700" marR="5080">
              <a:lnSpc>
                <a:spcPct val="138300"/>
              </a:lnSpc>
              <a:spcBef>
                <a:spcPts val="940"/>
              </a:spcBef>
            </a:pPr>
            <a:r>
              <a:rPr sz="1750" spc="70" dirty="0">
                <a:solidFill>
                  <a:srgbClr val="161612"/>
                </a:solidFill>
                <a:latin typeface="Tahoma"/>
                <a:cs typeface="Tahoma"/>
              </a:rPr>
              <a:t>Spring</a:t>
            </a:r>
            <a:r>
              <a:rPr sz="1750" spc="-45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1750" spc="75" dirty="0">
                <a:solidFill>
                  <a:srgbClr val="161612"/>
                </a:solidFill>
                <a:latin typeface="Tahoma"/>
                <a:cs typeface="Tahoma"/>
              </a:rPr>
              <a:t>Security</a:t>
            </a:r>
            <a:r>
              <a:rPr sz="1750" spc="-45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1750" spc="-120" dirty="0">
                <a:solidFill>
                  <a:srgbClr val="161612"/>
                </a:solidFill>
                <a:latin typeface="Tahoma"/>
                <a:cs typeface="Tahoma"/>
              </a:rPr>
              <a:t>+</a:t>
            </a:r>
            <a:r>
              <a:rPr sz="1750" spc="-45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1750" spc="125" dirty="0">
                <a:solidFill>
                  <a:srgbClr val="161612"/>
                </a:solidFill>
                <a:latin typeface="Tahoma"/>
                <a:cs typeface="Tahoma"/>
              </a:rPr>
              <a:t>JWT,</a:t>
            </a:r>
            <a:r>
              <a:rPr sz="1750" spc="-65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1750" spc="80" dirty="0">
                <a:solidFill>
                  <a:srgbClr val="161612"/>
                </a:solidFill>
                <a:latin typeface="Tahoma"/>
                <a:cs typeface="Tahoma"/>
              </a:rPr>
              <a:t>BCrypt </a:t>
            </a:r>
            <a:r>
              <a:rPr sz="1750" spc="95" dirty="0">
                <a:solidFill>
                  <a:srgbClr val="161612"/>
                </a:solidFill>
                <a:latin typeface="Tahoma"/>
                <a:cs typeface="Tahoma"/>
              </a:rPr>
              <a:t>password</a:t>
            </a:r>
            <a:r>
              <a:rPr sz="1750" spc="-20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1750" spc="55" dirty="0">
                <a:solidFill>
                  <a:srgbClr val="161612"/>
                </a:solidFill>
                <a:latin typeface="Tahoma"/>
                <a:cs typeface="Tahoma"/>
              </a:rPr>
              <a:t>hashing,</a:t>
            </a:r>
            <a:r>
              <a:rPr sz="1750" spc="-30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1750" spc="90" dirty="0">
                <a:solidFill>
                  <a:srgbClr val="161612"/>
                </a:solidFill>
                <a:latin typeface="Tahoma"/>
                <a:cs typeface="Tahoma"/>
              </a:rPr>
              <a:t>CORS,</a:t>
            </a:r>
            <a:r>
              <a:rPr sz="1750" spc="-70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1750" spc="70" dirty="0">
                <a:solidFill>
                  <a:srgbClr val="161612"/>
                </a:solidFill>
                <a:latin typeface="Tahoma"/>
                <a:cs typeface="Tahoma"/>
              </a:rPr>
              <a:t>and</a:t>
            </a:r>
            <a:r>
              <a:rPr sz="1750" spc="-35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1750" spc="55" dirty="0">
                <a:solidFill>
                  <a:srgbClr val="161612"/>
                </a:solidFill>
                <a:latin typeface="Tahoma"/>
                <a:cs typeface="Tahoma"/>
              </a:rPr>
              <a:t>global </a:t>
            </a:r>
            <a:r>
              <a:rPr sz="1750" spc="75" dirty="0">
                <a:solidFill>
                  <a:srgbClr val="161612"/>
                </a:solidFill>
                <a:latin typeface="Tahoma"/>
                <a:cs typeface="Tahoma"/>
              </a:rPr>
              <a:t>exception</a:t>
            </a:r>
            <a:r>
              <a:rPr sz="1750" spc="-25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1750" spc="35" dirty="0">
                <a:solidFill>
                  <a:srgbClr val="161612"/>
                </a:solidFill>
                <a:latin typeface="Tahoma"/>
                <a:cs typeface="Tahoma"/>
              </a:rPr>
              <a:t>handling.</a:t>
            </a:r>
            <a:endParaRPr sz="1750">
              <a:latin typeface="Tahoma"/>
              <a:cs typeface="Tahoma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850742" y="4864341"/>
            <a:ext cx="454025" cy="543560"/>
            <a:chOff x="850742" y="4864341"/>
            <a:chExt cx="454025" cy="543560"/>
          </a:xfrm>
        </p:grpSpPr>
        <p:sp>
          <p:nvSpPr>
            <p:cNvPr id="20" name="object 20"/>
            <p:cNvSpPr/>
            <p:nvPr/>
          </p:nvSpPr>
          <p:spPr>
            <a:xfrm>
              <a:off x="1131599" y="4966078"/>
              <a:ext cx="48260" cy="64135"/>
            </a:xfrm>
            <a:custGeom>
              <a:avLst/>
              <a:gdLst/>
              <a:ahLst/>
              <a:cxnLst/>
              <a:rect l="l" t="t" r="r" b="b"/>
              <a:pathLst>
                <a:path w="48259" h="64135">
                  <a:moveTo>
                    <a:pt x="48082" y="64077"/>
                  </a:moveTo>
                  <a:lnTo>
                    <a:pt x="9476" y="46558"/>
                  </a:lnTo>
                  <a:lnTo>
                    <a:pt x="243" y="12883"/>
                  </a:lnTo>
                  <a:lnTo>
                    <a:pt x="0" y="0"/>
                  </a:lnTo>
                </a:path>
              </a:pathLst>
            </a:custGeom>
            <a:ln w="23045">
              <a:solidFill>
                <a:srgbClr val="28282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1" name="object 2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226819" y="5342388"/>
              <a:ext cx="77598" cy="65236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850760" y="5327723"/>
              <a:ext cx="66657" cy="79885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850742" y="4864341"/>
              <a:ext cx="75806" cy="68442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862265" y="4875863"/>
              <a:ext cx="431165" cy="520700"/>
            </a:xfrm>
            <a:custGeom>
              <a:avLst/>
              <a:gdLst/>
              <a:ahLst/>
              <a:cxnLst/>
              <a:rect l="l" t="t" r="r" b="b"/>
              <a:pathLst>
                <a:path w="431165" h="520700">
                  <a:moveTo>
                    <a:pt x="428925" y="149687"/>
                  </a:moveTo>
                  <a:lnTo>
                    <a:pt x="278603" y="46"/>
                  </a:lnTo>
                </a:path>
                <a:path w="431165" h="520700">
                  <a:moveTo>
                    <a:pt x="428925" y="149687"/>
                  </a:moveTo>
                  <a:lnTo>
                    <a:pt x="317416" y="154291"/>
                  </a:lnTo>
                </a:path>
                <a:path w="431165" h="520700">
                  <a:moveTo>
                    <a:pt x="428925" y="149687"/>
                  </a:moveTo>
                  <a:lnTo>
                    <a:pt x="430630" y="478047"/>
                  </a:lnTo>
                </a:path>
                <a:path w="431165" h="520700">
                  <a:moveTo>
                    <a:pt x="269334" y="90214"/>
                  </a:moveTo>
                  <a:lnTo>
                    <a:pt x="269324" y="645"/>
                  </a:lnTo>
                </a:path>
                <a:path w="431165" h="520700">
                  <a:moveTo>
                    <a:pt x="376076" y="520238"/>
                  </a:moveTo>
                  <a:lnTo>
                    <a:pt x="43630" y="520222"/>
                  </a:lnTo>
                </a:path>
                <a:path w="431165" h="520700">
                  <a:moveTo>
                    <a:pt x="18" y="463382"/>
                  </a:moveTo>
                  <a:lnTo>
                    <a:pt x="0" y="45397"/>
                  </a:lnTo>
                </a:path>
                <a:path w="431165" h="520700">
                  <a:moveTo>
                    <a:pt x="52760" y="0"/>
                  </a:moveTo>
                  <a:lnTo>
                    <a:pt x="278603" y="46"/>
                  </a:lnTo>
                </a:path>
              </a:pathLst>
            </a:custGeom>
            <a:ln w="23045">
              <a:solidFill>
                <a:srgbClr val="28282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" name="object 25"/>
          <p:cNvSpPr txBox="1"/>
          <p:nvPr/>
        </p:nvSpPr>
        <p:spPr>
          <a:xfrm>
            <a:off x="781304" y="5678551"/>
            <a:ext cx="3533140" cy="15868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spc="55" dirty="0">
                <a:solidFill>
                  <a:srgbClr val="161612"/>
                </a:solidFill>
                <a:latin typeface="Tahoma"/>
                <a:cs typeface="Tahoma"/>
              </a:rPr>
              <a:t>Reporting</a:t>
            </a:r>
            <a:r>
              <a:rPr sz="2200" spc="-105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2200" spc="114" dirty="0">
                <a:solidFill>
                  <a:srgbClr val="161612"/>
                </a:solidFill>
                <a:latin typeface="Tahoma"/>
                <a:cs typeface="Tahoma"/>
              </a:rPr>
              <a:t>&amp;</a:t>
            </a:r>
            <a:r>
              <a:rPr sz="2200" spc="-114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2200" spc="90" dirty="0">
                <a:solidFill>
                  <a:srgbClr val="161612"/>
                </a:solidFill>
                <a:latin typeface="Tahoma"/>
                <a:cs typeface="Tahoma"/>
              </a:rPr>
              <a:t>Docs</a:t>
            </a:r>
            <a:endParaRPr sz="2200">
              <a:latin typeface="Tahoma"/>
              <a:cs typeface="Tahoma"/>
            </a:endParaRPr>
          </a:p>
          <a:p>
            <a:pPr marL="12700" marR="5080">
              <a:lnSpc>
                <a:spcPct val="138300"/>
              </a:lnSpc>
              <a:spcBef>
                <a:spcPts val="940"/>
              </a:spcBef>
            </a:pPr>
            <a:r>
              <a:rPr sz="1750" spc="95" dirty="0">
                <a:solidFill>
                  <a:srgbClr val="161612"/>
                </a:solidFill>
                <a:latin typeface="Tahoma"/>
                <a:cs typeface="Tahoma"/>
              </a:rPr>
              <a:t>Swagger</a:t>
            </a:r>
            <a:r>
              <a:rPr sz="1750" spc="70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1750" dirty="0">
                <a:solidFill>
                  <a:srgbClr val="161612"/>
                </a:solidFill>
                <a:latin typeface="Tahoma"/>
                <a:cs typeface="Tahoma"/>
              </a:rPr>
              <a:t>(OpenAPI)</a:t>
            </a:r>
            <a:r>
              <a:rPr sz="1750" spc="85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1750" spc="65" dirty="0">
                <a:solidFill>
                  <a:srgbClr val="161612"/>
                </a:solidFill>
                <a:latin typeface="Tahoma"/>
                <a:cs typeface="Tahoma"/>
              </a:rPr>
              <a:t>for</a:t>
            </a:r>
            <a:r>
              <a:rPr sz="1750" spc="75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1750" dirty="0">
                <a:solidFill>
                  <a:srgbClr val="161612"/>
                </a:solidFill>
                <a:latin typeface="Tahoma"/>
                <a:cs typeface="Tahoma"/>
              </a:rPr>
              <a:t>API</a:t>
            </a:r>
            <a:r>
              <a:rPr sz="1750" spc="80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1750" spc="75" dirty="0">
                <a:solidFill>
                  <a:srgbClr val="161612"/>
                </a:solidFill>
                <a:latin typeface="Tahoma"/>
                <a:cs typeface="Tahoma"/>
              </a:rPr>
              <a:t>docs; </a:t>
            </a:r>
            <a:r>
              <a:rPr sz="1750" spc="90" dirty="0">
                <a:solidFill>
                  <a:srgbClr val="161612"/>
                </a:solidFill>
                <a:latin typeface="Tahoma"/>
                <a:cs typeface="Tahoma"/>
              </a:rPr>
              <a:t>JasperReports</a:t>
            </a:r>
            <a:r>
              <a:rPr sz="1750" spc="-20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1750" dirty="0">
                <a:solidFill>
                  <a:srgbClr val="161612"/>
                </a:solidFill>
                <a:latin typeface="Tahoma"/>
                <a:cs typeface="Tahoma"/>
              </a:rPr>
              <a:t>&amp;</a:t>
            </a:r>
            <a:r>
              <a:rPr sz="1750" spc="-65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1750" spc="105" dirty="0">
                <a:solidFill>
                  <a:srgbClr val="161612"/>
                </a:solidFill>
                <a:latin typeface="Tahoma"/>
                <a:cs typeface="Tahoma"/>
              </a:rPr>
              <a:t>Apache</a:t>
            </a:r>
            <a:r>
              <a:rPr sz="1750" spc="-30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1750" dirty="0">
                <a:solidFill>
                  <a:srgbClr val="161612"/>
                </a:solidFill>
                <a:latin typeface="Tahoma"/>
                <a:cs typeface="Tahoma"/>
              </a:rPr>
              <a:t>POI</a:t>
            </a:r>
            <a:r>
              <a:rPr sz="1750" spc="-45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1750" spc="40" dirty="0">
                <a:solidFill>
                  <a:srgbClr val="161612"/>
                </a:solidFill>
                <a:latin typeface="Tahoma"/>
                <a:cs typeface="Tahoma"/>
              </a:rPr>
              <a:t>for </a:t>
            </a:r>
            <a:r>
              <a:rPr sz="1750" spc="110" dirty="0">
                <a:solidFill>
                  <a:srgbClr val="161612"/>
                </a:solidFill>
                <a:latin typeface="Tahoma"/>
                <a:cs typeface="Tahoma"/>
              </a:rPr>
              <a:t>PDF/XLSX</a:t>
            </a:r>
            <a:r>
              <a:rPr sz="1750" spc="-95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1750" spc="50" dirty="0">
                <a:solidFill>
                  <a:srgbClr val="161612"/>
                </a:solidFill>
                <a:latin typeface="Tahoma"/>
                <a:cs typeface="Tahoma"/>
              </a:rPr>
              <a:t>exports.</a:t>
            </a:r>
            <a:endParaRPr sz="1750">
              <a:latin typeface="Tahoma"/>
              <a:cs typeface="Tahoma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5273109" y="4876238"/>
            <a:ext cx="494665" cy="520065"/>
          </a:xfrm>
          <a:custGeom>
            <a:avLst/>
            <a:gdLst/>
            <a:ahLst/>
            <a:cxnLst/>
            <a:rect l="l" t="t" r="r" b="b"/>
            <a:pathLst>
              <a:path w="494664" h="520064">
                <a:moveTo>
                  <a:pt x="57850" y="83484"/>
                </a:moveTo>
                <a:lnTo>
                  <a:pt x="34572" y="94786"/>
                </a:lnTo>
                <a:lnTo>
                  <a:pt x="20230" y="102318"/>
                </a:lnTo>
                <a:lnTo>
                  <a:pt x="10995" y="108107"/>
                </a:lnTo>
                <a:lnTo>
                  <a:pt x="3035" y="114183"/>
                </a:lnTo>
              </a:path>
              <a:path w="494664" h="520064">
                <a:moveTo>
                  <a:pt x="491283" y="115884"/>
                </a:moveTo>
                <a:lnTo>
                  <a:pt x="493772" y="374051"/>
                </a:lnTo>
              </a:path>
              <a:path w="494664" h="520064">
                <a:moveTo>
                  <a:pt x="246760" y="519869"/>
                </a:moveTo>
                <a:lnTo>
                  <a:pt x="246953" y="238255"/>
                </a:lnTo>
              </a:path>
              <a:path w="494664" h="520064">
                <a:moveTo>
                  <a:pt x="378470" y="170910"/>
                </a:moveTo>
                <a:lnTo>
                  <a:pt x="246953" y="236918"/>
                </a:lnTo>
              </a:path>
              <a:path w="494664" h="520064">
                <a:moveTo>
                  <a:pt x="378470" y="170910"/>
                </a:moveTo>
                <a:lnTo>
                  <a:pt x="378604" y="261779"/>
                </a:lnTo>
              </a:path>
              <a:path w="494664" h="520064">
                <a:moveTo>
                  <a:pt x="491283" y="115884"/>
                </a:moveTo>
                <a:lnTo>
                  <a:pt x="380281" y="170099"/>
                </a:lnTo>
              </a:path>
              <a:path w="494664" h="520064">
                <a:moveTo>
                  <a:pt x="245672" y="237559"/>
                </a:moveTo>
                <a:lnTo>
                  <a:pt x="2770" y="115506"/>
                </a:lnTo>
              </a:path>
              <a:path w="494664" h="520064">
                <a:moveTo>
                  <a:pt x="246760" y="519869"/>
                </a:moveTo>
                <a:lnTo>
                  <a:pt x="25646" y="410498"/>
                </a:lnTo>
              </a:path>
              <a:path w="494664" h="520064">
                <a:moveTo>
                  <a:pt x="490684" y="112538"/>
                </a:moveTo>
                <a:lnTo>
                  <a:pt x="268634" y="4833"/>
                </a:lnTo>
              </a:path>
              <a:path w="494664" h="520064">
                <a:moveTo>
                  <a:pt x="380281" y="170099"/>
                </a:moveTo>
                <a:lnTo>
                  <a:pt x="134057" y="47327"/>
                </a:lnTo>
              </a:path>
              <a:path w="494664" h="520064">
                <a:moveTo>
                  <a:pt x="494094" y="374065"/>
                </a:moveTo>
                <a:lnTo>
                  <a:pt x="491369" y="387383"/>
                </a:lnTo>
                <a:lnTo>
                  <a:pt x="484738" y="398872"/>
                </a:lnTo>
                <a:lnTo>
                  <a:pt x="474857" y="407719"/>
                </a:lnTo>
                <a:lnTo>
                  <a:pt x="462384" y="413112"/>
                </a:lnTo>
              </a:path>
              <a:path w="494664" h="520064">
                <a:moveTo>
                  <a:pt x="462522" y="413784"/>
                </a:moveTo>
                <a:lnTo>
                  <a:pt x="246760" y="519869"/>
                </a:lnTo>
              </a:path>
              <a:path w="494664" h="520064">
                <a:moveTo>
                  <a:pt x="25720" y="410314"/>
                </a:moveTo>
                <a:lnTo>
                  <a:pt x="13609" y="402838"/>
                </a:lnTo>
                <a:lnTo>
                  <a:pt x="4951" y="392029"/>
                </a:lnTo>
                <a:lnTo>
                  <a:pt x="348" y="378966"/>
                </a:lnTo>
                <a:lnTo>
                  <a:pt x="400" y="364732"/>
                </a:lnTo>
              </a:path>
              <a:path w="494664" h="520064">
                <a:moveTo>
                  <a:pt x="0" y="364663"/>
                </a:moveTo>
                <a:lnTo>
                  <a:pt x="2770" y="115506"/>
                </a:lnTo>
              </a:path>
              <a:path w="494664" h="520064">
                <a:moveTo>
                  <a:pt x="268634" y="4833"/>
                </a:moveTo>
                <a:lnTo>
                  <a:pt x="253903" y="254"/>
                </a:lnTo>
                <a:lnTo>
                  <a:pt x="240959" y="0"/>
                </a:lnTo>
                <a:lnTo>
                  <a:pt x="228043" y="3453"/>
                </a:lnTo>
                <a:lnTo>
                  <a:pt x="213394" y="9995"/>
                </a:lnTo>
                <a:lnTo>
                  <a:pt x="57850" y="83484"/>
                </a:lnTo>
              </a:path>
            </a:pathLst>
          </a:custGeom>
          <a:ln w="23039">
            <a:solidFill>
              <a:srgbClr val="28282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 txBox="1"/>
          <p:nvPr/>
        </p:nvSpPr>
        <p:spPr>
          <a:xfrm>
            <a:off x="5223764" y="5678551"/>
            <a:ext cx="4062095" cy="121793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dirty="0">
                <a:solidFill>
                  <a:srgbClr val="161612"/>
                </a:solidFill>
                <a:latin typeface="Tahoma"/>
                <a:cs typeface="Tahoma"/>
              </a:rPr>
              <a:t>Build</a:t>
            </a:r>
            <a:r>
              <a:rPr sz="2200" spc="20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2200" spc="114" dirty="0">
                <a:solidFill>
                  <a:srgbClr val="161612"/>
                </a:solidFill>
                <a:latin typeface="Tahoma"/>
                <a:cs typeface="Tahoma"/>
              </a:rPr>
              <a:t>&amp;</a:t>
            </a:r>
            <a:r>
              <a:rPr sz="2200" spc="15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2200" spc="-25" dirty="0">
                <a:solidFill>
                  <a:srgbClr val="161612"/>
                </a:solidFill>
                <a:latin typeface="Tahoma"/>
                <a:cs typeface="Tahoma"/>
              </a:rPr>
              <a:t>CI</a:t>
            </a:r>
            <a:endParaRPr sz="2200">
              <a:latin typeface="Tahoma"/>
              <a:cs typeface="Tahoma"/>
            </a:endParaRPr>
          </a:p>
          <a:p>
            <a:pPr marL="12700" marR="5080">
              <a:lnSpc>
                <a:spcPct val="138300"/>
              </a:lnSpc>
              <a:spcBef>
                <a:spcPts val="940"/>
              </a:spcBef>
            </a:pPr>
            <a:r>
              <a:rPr sz="1750" spc="110" dirty="0">
                <a:solidFill>
                  <a:srgbClr val="161612"/>
                </a:solidFill>
                <a:latin typeface="Tahoma"/>
                <a:cs typeface="Tahoma"/>
              </a:rPr>
              <a:t>Maven</a:t>
            </a:r>
            <a:r>
              <a:rPr sz="1750" spc="-45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1750" spc="65" dirty="0">
                <a:solidFill>
                  <a:srgbClr val="161612"/>
                </a:solidFill>
                <a:latin typeface="Tahoma"/>
                <a:cs typeface="Tahoma"/>
              </a:rPr>
              <a:t>for</a:t>
            </a:r>
            <a:r>
              <a:rPr sz="1750" spc="-50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1750" spc="65" dirty="0">
                <a:solidFill>
                  <a:srgbClr val="161612"/>
                </a:solidFill>
                <a:latin typeface="Tahoma"/>
                <a:cs typeface="Tahoma"/>
              </a:rPr>
              <a:t>builds</a:t>
            </a:r>
            <a:r>
              <a:rPr sz="1750" spc="-25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1750" spc="70" dirty="0">
                <a:solidFill>
                  <a:srgbClr val="161612"/>
                </a:solidFill>
                <a:latin typeface="Tahoma"/>
                <a:cs typeface="Tahoma"/>
              </a:rPr>
              <a:t>and</a:t>
            </a:r>
            <a:r>
              <a:rPr sz="1750" spc="-45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1750" spc="80" dirty="0">
                <a:solidFill>
                  <a:srgbClr val="161612"/>
                </a:solidFill>
                <a:latin typeface="Tahoma"/>
                <a:cs typeface="Tahoma"/>
              </a:rPr>
              <a:t>dependency </a:t>
            </a:r>
            <a:r>
              <a:rPr sz="1750" spc="10" dirty="0">
                <a:solidFill>
                  <a:srgbClr val="161612"/>
                </a:solidFill>
                <a:latin typeface="Tahoma"/>
                <a:cs typeface="Tahoma"/>
              </a:rPr>
              <a:t>management;</a:t>
            </a:r>
            <a:r>
              <a:rPr sz="1750" spc="70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1750" spc="50" dirty="0">
                <a:solidFill>
                  <a:srgbClr val="161612"/>
                </a:solidFill>
                <a:latin typeface="Tahoma"/>
                <a:cs typeface="Tahoma"/>
              </a:rPr>
              <a:t>suitable</a:t>
            </a:r>
            <a:r>
              <a:rPr sz="1750" spc="100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1750" spc="65" dirty="0">
                <a:solidFill>
                  <a:srgbClr val="161612"/>
                </a:solidFill>
                <a:latin typeface="Tahoma"/>
                <a:cs typeface="Tahoma"/>
              </a:rPr>
              <a:t>for</a:t>
            </a:r>
            <a:r>
              <a:rPr sz="1750" spc="50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1750" spc="10" dirty="0">
                <a:solidFill>
                  <a:srgbClr val="161612"/>
                </a:solidFill>
                <a:latin typeface="Tahoma"/>
                <a:cs typeface="Tahoma"/>
              </a:rPr>
              <a:t>CI</a:t>
            </a:r>
            <a:r>
              <a:rPr sz="1750" spc="65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1750" spc="45" dirty="0">
                <a:solidFill>
                  <a:srgbClr val="161612"/>
                </a:solidFill>
                <a:latin typeface="Tahoma"/>
                <a:cs typeface="Tahoma"/>
              </a:rPr>
              <a:t>pipelines.</a:t>
            </a:r>
            <a:endParaRPr sz="175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144000" y="-1"/>
            <a:ext cx="5486400" cy="8229599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35355" y="2239721"/>
            <a:ext cx="4606290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70" dirty="0"/>
              <a:t>Project</a:t>
            </a:r>
            <a:r>
              <a:rPr sz="2000" spc="-85" dirty="0"/>
              <a:t> </a:t>
            </a:r>
            <a:r>
              <a:rPr sz="2000" spc="85" dirty="0"/>
              <a:t>Architecture</a:t>
            </a:r>
            <a:r>
              <a:rPr sz="2000" spc="-90" dirty="0"/>
              <a:t> </a:t>
            </a:r>
            <a:r>
              <a:rPr sz="2000" spc="-80" dirty="0"/>
              <a:t>—</a:t>
            </a:r>
            <a:r>
              <a:rPr sz="2000" spc="-75" dirty="0"/>
              <a:t> </a:t>
            </a:r>
            <a:r>
              <a:rPr sz="2000" spc="75" dirty="0"/>
              <a:t>Layered</a:t>
            </a:r>
            <a:r>
              <a:rPr sz="2000" spc="-100" dirty="0"/>
              <a:t> </a:t>
            </a:r>
            <a:r>
              <a:rPr sz="2000" spc="-10" dirty="0"/>
              <a:t>Design</a:t>
            </a:r>
            <a:endParaRPr sz="2000"/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48055" y="2935223"/>
            <a:ext cx="5251704" cy="2403348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4282821" y="3195639"/>
            <a:ext cx="1285240" cy="442595"/>
          </a:xfrm>
          <a:prstGeom prst="rect">
            <a:avLst/>
          </a:prstGeom>
        </p:spPr>
        <p:txBody>
          <a:bodyPr vert="horz" wrap="square" lIns="0" tIns="603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75"/>
              </a:spcBef>
            </a:pPr>
            <a:r>
              <a:rPr sz="900" spc="10" dirty="0">
                <a:solidFill>
                  <a:srgbClr val="161612"/>
                </a:solidFill>
                <a:latin typeface="Tahoma"/>
                <a:cs typeface="Tahoma"/>
              </a:rPr>
              <a:t>Repository</a:t>
            </a:r>
            <a:r>
              <a:rPr sz="900" spc="75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900" spc="10" dirty="0">
                <a:solidFill>
                  <a:srgbClr val="161612"/>
                </a:solidFill>
                <a:latin typeface="Tahoma"/>
                <a:cs typeface="Tahoma"/>
              </a:rPr>
              <a:t>&amp;</a:t>
            </a:r>
            <a:r>
              <a:rPr sz="900" spc="70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900" spc="-20" dirty="0">
                <a:solidFill>
                  <a:srgbClr val="161612"/>
                </a:solidFill>
                <a:latin typeface="Tahoma"/>
                <a:cs typeface="Tahoma"/>
              </a:rPr>
              <a:t>Data</a:t>
            </a:r>
            <a:endParaRPr sz="900">
              <a:latin typeface="Tahoma"/>
              <a:cs typeface="Tahoma"/>
            </a:endParaRPr>
          </a:p>
          <a:p>
            <a:pPr marL="12700">
              <a:lnSpc>
                <a:spcPts val="770"/>
              </a:lnSpc>
              <a:spcBef>
                <a:spcPts val="285"/>
              </a:spcBef>
            </a:pPr>
            <a:r>
              <a:rPr sz="700" spc="20" dirty="0">
                <a:solidFill>
                  <a:srgbClr val="161612"/>
                </a:solidFill>
                <a:latin typeface="Tahoma"/>
                <a:cs typeface="Tahoma"/>
              </a:rPr>
              <a:t>Data</a:t>
            </a:r>
            <a:r>
              <a:rPr sz="700" spc="35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700" spc="20" dirty="0">
                <a:solidFill>
                  <a:srgbClr val="161612"/>
                </a:solidFill>
                <a:latin typeface="Tahoma"/>
                <a:cs typeface="Tahoma"/>
              </a:rPr>
              <a:t>access,</a:t>
            </a:r>
            <a:r>
              <a:rPr sz="700" spc="70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700" spc="20" dirty="0">
                <a:solidFill>
                  <a:srgbClr val="161612"/>
                </a:solidFill>
                <a:latin typeface="Tahoma"/>
                <a:cs typeface="Tahoma"/>
              </a:rPr>
              <a:t>MySQL,</a:t>
            </a:r>
            <a:r>
              <a:rPr sz="700" spc="85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700" spc="-10" dirty="0">
                <a:solidFill>
                  <a:srgbClr val="161612"/>
                </a:solidFill>
                <a:latin typeface="Tahoma"/>
                <a:cs typeface="Tahoma"/>
              </a:rPr>
              <a:t>external</a:t>
            </a:r>
            <a:endParaRPr sz="700">
              <a:latin typeface="Tahoma"/>
              <a:cs typeface="Tahoma"/>
            </a:endParaRPr>
          </a:p>
          <a:p>
            <a:pPr marL="12700">
              <a:lnSpc>
                <a:spcPts val="770"/>
              </a:lnSpc>
            </a:pPr>
            <a:r>
              <a:rPr sz="700" spc="-10" dirty="0">
                <a:solidFill>
                  <a:srgbClr val="161612"/>
                </a:solidFill>
                <a:latin typeface="Tahoma"/>
                <a:cs typeface="Tahoma"/>
              </a:rPr>
              <a:t>vendors</a:t>
            </a:r>
            <a:endParaRPr sz="700">
              <a:latin typeface="Tahoma"/>
              <a:cs typeface="Tahom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38885" y="3985402"/>
            <a:ext cx="822325" cy="442595"/>
          </a:xfrm>
          <a:prstGeom prst="rect">
            <a:avLst/>
          </a:prstGeom>
        </p:spPr>
        <p:txBody>
          <a:bodyPr vert="horz" wrap="square" lIns="0" tIns="60325" rIns="0" bIns="0" rtlCol="0">
            <a:spAutoFit/>
          </a:bodyPr>
          <a:lstStyle/>
          <a:p>
            <a:pPr marL="415290">
              <a:lnSpc>
                <a:spcPct val="100000"/>
              </a:lnSpc>
              <a:spcBef>
                <a:spcPts val="475"/>
              </a:spcBef>
            </a:pPr>
            <a:r>
              <a:rPr sz="900" spc="-10" dirty="0">
                <a:solidFill>
                  <a:srgbClr val="161612"/>
                </a:solidFill>
                <a:latin typeface="Tahoma"/>
                <a:cs typeface="Tahoma"/>
              </a:rPr>
              <a:t>Service</a:t>
            </a:r>
            <a:endParaRPr sz="900">
              <a:latin typeface="Tahoma"/>
              <a:cs typeface="Tahoma"/>
            </a:endParaRPr>
          </a:p>
          <a:p>
            <a:pPr marR="6350" algn="r">
              <a:lnSpc>
                <a:spcPts val="770"/>
              </a:lnSpc>
              <a:spcBef>
                <a:spcPts val="290"/>
              </a:spcBef>
            </a:pPr>
            <a:r>
              <a:rPr sz="700" spc="10" dirty="0">
                <a:solidFill>
                  <a:srgbClr val="161612"/>
                </a:solidFill>
                <a:latin typeface="Tahoma"/>
                <a:cs typeface="Tahoma"/>
              </a:rPr>
              <a:t>Business</a:t>
            </a:r>
            <a:r>
              <a:rPr sz="700" spc="160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700" spc="10" dirty="0">
                <a:solidFill>
                  <a:srgbClr val="161612"/>
                </a:solidFill>
                <a:latin typeface="Tahoma"/>
                <a:cs typeface="Tahoma"/>
              </a:rPr>
              <a:t>rules</a:t>
            </a:r>
            <a:r>
              <a:rPr sz="700" spc="130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700" spc="-25" dirty="0">
                <a:solidFill>
                  <a:srgbClr val="161612"/>
                </a:solidFill>
                <a:latin typeface="Tahoma"/>
                <a:cs typeface="Tahoma"/>
              </a:rPr>
              <a:t>and</a:t>
            </a:r>
            <a:endParaRPr sz="700">
              <a:latin typeface="Tahoma"/>
              <a:cs typeface="Tahoma"/>
            </a:endParaRPr>
          </a:p>
          <a:p>
            <a:pPr marR="5080" algn="r">
              <a:lnSpc>
                <a:spcPts val="770"/>
              </a:lnSpc>
            </a:pPr>
            <a:r>
              <a:rPr sz="700" spc="-10" dirty="0">
                <a:solidFill>
                  <a:srgbClr val="161612"/>
                </a:solidFill>
                <a:latin typeface="Tahoma"/>
                <a:cs typeface="Tahoma"/>
              </a:rPr>
              <a:t>orchestration</a:t>
            </a:r>
            <a:endParaRPr sz="700">
              <a:latin typeface="Tahoma"/>
              <a:cs typeface="Tahom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282821" y="4393199"/>
            <a:ext cx="1270635" cy="354330"/>
          </a:xfrm>
          <a:prstGeom prst="rect">
            <a:avLst/>
          </a:prstGeom>
        </p:spPr>
        <p:txBody>
          <a:bodyPr vert="horz" wrap="square" lIns="0" tIns="603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75"/>
              </a:spcBef>
            </a:pPr>
            <a:r>
              <a:rPr sz="900" spc="-10" dirty="0">
                <a:solidFill>
                  <a:srgbClr val="161612"/>
                </a:solidFill>
                <a:latin typeface="Tahoma"/>
                <a:cs typeface="Tahoma"/>
              </a:rPr>
              <a:t>Controller</a:t>
            </a:r>
            <a:endParaRPr sz="9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290"/>
              </a:spcBef>
            </a:pPr>
            <a:r>
              <a:rPr sz="700" spc="10" dirty="0">
                <a:solidFill>
                  <a:srgbClr val="161612"/>
                </a:solidFill>
                <a:latin typeface="Tahoma"/>
                <a:cs typeface="Tahoma"/>
              </a:rPr>
              <a:t>Stateless</a:t>
            </a:r>
            <a:r>
              <a:rPr sz="700" spc="80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700" spc="10" dirty="0">
                <a:solidFill>
                  <a:srgbClr val="161612"/>
                </a:solidFill>
                <a:latin typeface="Tahoma"/>
                <a:cs typeface="Tahoma"/>
              </a:rPr>
              <a:t>REST</a:t>
            </a:r>
            <a:r>
              <a:rPr sz="700" spc="70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700" spc="10" dirty="0">
                <a:solidFill>
                  <a:srgbClr val="161612"/>
                </a:solidFill>
                <a:latin typeface="Tahoma"/>
                <a:cs typeface="Tahoma"/>
              </a:rPr>
              <a:t>API</a:t>
            </a:r>
            <a:r>
              <a:rPr sz="700" spc="80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700" spc="-10" dirty="0">
                <a:solidFill>
                  <a:srgbClr val="161612"/>
                </a:solidFill>
                <a:latin typeface="Tahoma"/>
                <a:cs typeface="Tahoma"/>
              </a:rPr>
              <a:t>endpoints</a:t>
            </a:r>
            <a:endParaRPr sz="700">
              <a:latin typeface="Tahoma"/>
              <a:cs typeface="Tahom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35355" y="5390159"/>
            <a:ext cx="5240655" cy="3581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9000"/>
              </a:lnSpc>
              <a:spcBef>
                <a:spcPts val="100"/>
              </a:spcBef>
            </a:pPr>
            <a:r>
              <a:rPr sz="1000" dirty="0">
                <a:solidFill>
                  <a:srgbClr val="161612"/>
                </a:solidFill>
                <a:latin typeface="Tahoma"/>
                <a:cs typeface="Tahoma"/>
              </a:rPr>
              <a:t>Diagram</a:t>
            </a:r>
            <a:r>
              <a:rPr sz="1000" spc="180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1000" dirty="0">
                <a:solidFill>
                  <a:srgbClr val="161612"/>
                </a:solidFill>
                <a:latin typeface="Tahoma"/>
                <a:cs typeface="Tahoma"/>
              </a:rPr>
              <a:t>illustrates</a:t>
            </a:r>
            <a:r>
              <a:rPr sz="1000" spc="185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1000" dirty="0">
                <a:solidFill>
                  <a:srgbClr val="161612"/>
                </a:solidFill>
                <a:latin typeface="Tahoma"/>
                <a:cs typeface="Tahoma"/>
              </a:rPr>
              <a:t>separation</a:t>
            </a:r>
            <a:r>
              <a:rPr sz="1000" spc="200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1000" spc="50" dirty="0">
                <a:solidFill>
                  <a:srgbClr val="161612"/>
                </a:solidFill>
                <a:latin typeface="Tahoma"/>
                <a:cs typeface="Tahoma"/>
              </a:rPr>
              <a:t>of</a:t>
            </a:r>
            <a:r>
              <a:rPr sz="1000" spc="185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1000" dirty="0">
                <a:solidFill>
                  <a:srgbClr val="161612"/>
                </a:solidFill>
                <a:latin typeface="Tahoma"/>
                <a:cs typeface="Tahoma"/>
              </a:rPr>
              <a:t>concerns:</a:t>
            </a:r>
            <a:r>
              <a:rPr sz="1000" spc="245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1000" dirty="0">
                <a:solidFill>
                  <a:srgbClr val="161612"/>
                </a:solidFill>
                <a:latin typeface="Tahoma"/>
                <a:cs typeface="Tahoma"/>
              </a:rPr>
              <a:t>Controllers</a:t>
            </a:r>
            <a:r>
              <a:rPr sz="1000" spc="170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1000" dirty="0">
                <a:solidFill>
                  <a:srgbClr val="161612"/>
                </a:solidFill>
                <a:latin typeface="Tahoma"/>
                <a:cs typeface="Tahoma"/>
              </a:rPr>
              <a:t>(API),</a:t>
            </a:r>
            <a:r>
              <a:rPr sz="1000" spc="185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1000" spc="50" dirty="0">
                <a:solidFill>
                  <a:srgbClr val="161612"/>
                </a:solidFill>
                <a:latin typeface="Tahoma"/>
                <a:cs typeface="Tahoma"/>
              </a:rPr>
              <a:t>Services</a:t>
            </a:r>
            <a:r>
              <a:rPr sz="1000" spc="245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1000" dirty="0">
                <a:solidFill>
                  <a:srgbClr val="161612"/>
                </a:solidFill>
                <a:latin typeface="Tahoma"/>
                <a:cs typeface="Tahoma"/>
              </a:rPr>
              <a:t>(business</a:t>
            </a:r>
            <a:r>
              <a:rPr sz="1000" spc="185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1000" spc="-10" dirty="0">
                <a:solidFill>
                  <a:srgbClr val="161612"/>
                </a:solidFill>
                <a:latin typeface="Tahoma"/>
                <a:cs typeface="Tahoma"/>
              </a:rPr>
              <a:t>rules), </a:t>
            </a:r>
            <a:r>
              <a:rPr sz="1000" spc="20" dirty="0">
                <a:solidFill>
                  <a:srgbClr val="161612"/>
                </a:solidFill>
                <a:latin typeface="Tahoma"/>
                <a:cs typeface="Tahoma"/>
              </a:rPr>
              <a:t>Repositories</a:t>
            </a:r>
            <a:r>
              <a:rPr sz="1000" spc="50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1000" spc="20" dirty="0">
                <a:solidFill>
                  <a:srgbClr val="161612"/>
                </a:solidFill>
                <a:latin typeface="Tahoma"/>
                <a:cs typeface="Tahoma"/>
              </a:rPr>
              <a:t>(data</a:t>
            </a:r>
            <a:r>
              <a:rPr sz="1000" spc="40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1000" spc="45" dirty="0">
                <a:solidFill>
                  <a:srgbClr val="161612"/>
                </a:solidFill>
                <a:latin typeface="Tahoma"/>
                <a:cs typeface="Tahoma"/>
              </a:rPr>
              <a:t>access),</a:t>
            </a:r>
            <a:r>
              <a:rPr sz="1000" spc="85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1000" spc="20" dirty="0">
                <a:solidFill>
                  <a:srgbClr val="161612"/>
                </a:solidFill>
                <a:latin typeface="Tahoma"/>
                <a:cs typeface="Tahoma"/>
              </a:rPr>
              <a:t>making the</a:t>
            </a:r>
            <a:r>
              <a:rPr sz="1000" spc="40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1000" spc="20" dirty="0">
                <a:solidFill>
                  <a:srgbClr val="161612"/>
                </a:solidFill>
                <a:latin typeface="Tahoma"/>
                <a:cs typeface="Tahoma"/>
              </a:rPr>
              <a:t>system</a:t>
            </a:r>
            <a:r>
              <a:rPr sz="1000" spc="40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1000" spc="20" dirty="0">
                <a:solidFill>
                  <a:srgbClr val="161612"/>
                </a:solidFill>
                <a:latin typeface="Tahoma"/>
                <a:cs typeface="Tahoma"/>
              </a:rPr>
              <a:t>modular</a:t>
            </a:r>
            <a:r>
              <a:rPr sz="1000" spc="35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1000" spc="20" dirty="0">
                <a:solidFill>
                  <a:srgbClr val="161612"/>
                </a:solidFill>
                <a:latin typeface="Tahoma"/>
                <a:cs typeface="Tahoma"/>
              </a:rPr>
              <a:t>and</a:t>
            </a:r>
            <a:r>
              <a:rPr sz="1000" spc="40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1000" spc="-10" dirty="0">
                <a:solidFill>
                  <a:srgbClr val="161612"/>
                </a:solidFill>
                <a:latin typeface="Tahoma"/>
                <a:cs typeface="Tahoma"/>
              </a:rPr>
              <a:t>testable.</a:t>
            </a:r>
            <a:endParaRPr sz="1000">
              <a:latin typeface="Tahoma"/>
              <a:cs typeface="Tahoma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6012179" y="2770632"/>
            <a:ext cx="2699385" cy="894715"/>
            <a:chOff x="6012179" y="2770632"/>
            <a:chExt cx="2699385" cy="894715"/>
          </a:xfrm>
        </p:grpSpPr>
        <p:sp>
          <p:nvSpPr>
            <p:cNvPr id="10" name="object 10"/>
            <p:cNvSpPr/>
            <p:nvPr/>
          </p:nvSpPr>
          <p:spPr>
            <a:xfrm>
              <a:off x="6019799" y="2778252"/>
              <a:ext cx="2684145" cy="879475"/>
            </a:xfrm>
            <a:custGeom>
              <a:avLst/>
              <a:gdLst/>
              <a:ahLst/>
              <a:cxnLst/>
              <a:rect l="l" t="t" r="r" b="b"/>
              <a:pathLst>
                <a:path w="2684145" h="879475">
                  <a:moveTo>
                    <a:pt x="2664586" y="0"/>
                  </a:moveTo>
                  <a:lnTo>
                    <a:pt x="19176" y="0"/>
                  </a:lnTo>
                  <a:lnTo>
                    <a:pt x="11733" y="1514"/>
                  </a:lnTo>
                  <a:lnTo>
                    <a:pt x="5635" y="5635"/>
                  </a:lnTo>
                  <a:lnTo>
                    <a:pt x="1514" y="11733"/>
                  </a:lnTo>
                  <a:lnTo>
                    <a:pt x="0" y="19176"/>
                  </a:lnTo>
                  <a:lnTo>
                    <a:pt x="0" y="860171"/>
                  </a:lnTo>
                  <a:lnTo>
                    <a:pt x="1514" y="867614"/>
                  </a:lnTo>
                  <a:lnTo>
                    <a:pt x="5635" y="873712"/>
                  </a:lnTo>
                  <a:lnTo>
                    <a:pt x="11733" y="877833"/>
                  </a:lnTo>
                  <a:lnTo>
                    <a:pt x="19176" y="879348"/>
                  </a:lnTo>
                  <a:lnTo>
                    <a:pt x="2664586" y="879348"/>
                  </a:lnTo>
                  <a:lnTo>
                    <a:pt x="2672030" y="877833"/>
                  </a:lnTo>
                  <a:lnTo>
                    <a:pt x="2678128" y="873712"/>
                  </a:lnTo>
                  <a:lnTo>
                    <a:pt x="2682249" y="867614"/>
                  </a:lnTo>
                  <a:lnTo>
                    <a:pt x="2683764" y="860171"/>
                  </a:lnTo>
                  <a:lnTo>
                    <a:pt x="2683764" y="19176"/>
                  </a:lnTo>
                  <a:lnTo>
                    <a:pt x="2682249" y="11733"/>
                  </a:lnTo>
                  <a:lnTo>
                    <a:pt x="2678128" y="5635"/>
                  </a:lnTo>
                  <a:lnTo>
                    <a:pt x="2672030" y="1514"/>
                  </a:lnTo>
                  <a:lnTo>
                    <a:pt x="2664586" y="0"/>
                  </a:lnTo>
                  <a:close/>
                </a:path>
              </a:pathLst>
            </a:custGeom>
            <a:solidFill>
              <a:srgbClr val="F8F8F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6019799" y="2778252"/>
              <a:ext cx="2684145" cy="879475"/>
            </a:xfrm>
            <a:custGeom>
              <a:avLst/>
              <a:gdLst/>
              <a:ahLst/>
              <a:cxnLst/>
              <a:rect l="l" t="t" r="r" b="b"/>
              <a:pathLst>
                <a:path w="2684145" h="879475">
                  <a:moveTo>
                    <a:pt x="0" y="19176"/>
                  </a:moveTo>
                  <a:lnTo>
                    <a:pt x="1514" y="11733"/>
                  </a:lnTo>
                  <a:lnTo>
                    <a:pt x="5635" y="5635"/>
                  </a:lnTo>
                  <a:lnTo>
                    <a:pt x="11733" y="1514"/>
                  </a:lnTo>
                  <a:lnTo>
                    <a:pt x="19176" y="0"/>
                  </a:lnTo>
                  <a:lnTo>
                    <a:pt x="2664586" y="0"/>
                  </a:lnTo>
                  <a:lnTo>
                    <a:pt x="2672030" y="1514"/>
                  </a:lnTo>
                  <a:lnTo>
                    <a:pt x="2678128" y="5635"/>
                  </a:lnTo>
                  <a:lnTo>
                    <a:pt x="2682249" y="11733"/>
                  </a:lnTo>
                  <a:lnTo>
                    <a:pt x="2683764" y="19176"/>
                  </a:lnTo>
                  <a:lnTo>
                    <a:pt x="2683764" y="860171"/>
                  </a:lnTo>
                  <a:lnTo>
                    <a:pt x="2682249" y="867614"/>
                  </a:lnTo>
                  <a:lnTo>
                    <a:pt x="2678128" y="873712"/>
                  </a:lnTo>
                  <a:lnTo>
                    <a:pt x="2672030" y="877833"/>
                  </a:lnTo>
                  <a:lnTo>
                    <a:pt x="2664586" y="879348"/>
                  </a:lnTo>
                  <a:lnTo>
                    <a:pt x="19176" y="879348"/>
                  </a:lnTo>
                  <a:lnTo>
                    <a:pt x="11733" y="877833"/>
                  </a:lnTo>
                  <a:lnTo>
                    <a:pt x="5635" y="873712"/>
                  </a:lnTo>
                  <a:lnTo>
                    <a:pt x="1514" y="867614"/>
                  </a:lnTo>
                  <a:lnTo>
                    <a:pt x="0" y="860171"/>
                  </a:lnTo>
                  <a:lnTo>
                    <a:pt x="0" y="19176"/>
                  </a:lnTo>
                  <a:close/>
                </a:path>
              </a:pathLst>
            </a:custGeom>
            <a:ln w="15240">
              <a:solidFill>
                <a:srgbClr val="D2D1C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6150609" y="2796071"/>
            <a:ext cx="2304415" cy="726440"/>
          </a:xfrm>
          <a:prstGeom prst="rect">
            <a:avLst/>
          </a:prstGeom>
        </p:spPr>
        <p:txBody>
          <a:bodyPr vert="horz" wrap="square" lIns="0" tIns="1193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40"/>
              </a:spcBef>
            </a:pPr>
            <a:r>
              <a:rPr sz="1250" spc="-10" dirty="0">
                <a:solidFill>
                  <a:srgbClr val="161612"/>
                </a:solidFill>
                <a:latin typeface="Tahoma"/>
                <a:cs typeface="Tahoma"/>
              </a:rPr>
              <a:t>Scalability</a:t>
            </a:r>
            <a:endParaRPr sz="1250">
              <a:latin typeface="Tahoma"/>
              <a:cs typeface="Tahoma"/>
            </a:endParaRPr>
          </a:p>
          <a:p>
            <a:pPr marL="12700" marR="5080">
              <a:lnSpc>
                <a:spcPct val="109000"/>
              </a:lnSpc>
              <a:spcBef>
                <a:spcPts val="560"/>
              </a:spcBef>
            </a:pPr>
            <a:r>
              <a:rPr sz="1000" spc="10" dirty="0">
                <a:solidFill>
                  <a:srgbClr val="161612"/>
                </a:solidFill>
                <a:latin typeface="Tahoma"/>
                <a:cs typeface="Tahoma"/>
              </a:rPr>
              <a:t>Stateless</a:t>
            </a:r>
            <a:r>
              <a:rPr sz="1000" spc="135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1000" spc="10" dirty="0">
                <a:solidFill>
                  <a:srgbClr val="161612"/>
                </a:solidFill>
                <a:latin typeface="Tahoma"/>
                <a:cs typeface="Tahoma"/>
              </a:rPr>
              <a:t>REST</a:t>
            </a:r>
            <a:r>
              <a:rPr sz="1000" spc="135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1000" spc="10" dirty="0">
                <a:solidFill>
                  <a:srgbClr val="161612"/>
                </a:solidFill>
                <a:latin typeface="Tahoma"/>
                <a:cs typeface="Tahoma"/>
              </a:rPr>
              <a:t>APIs</a:t>
            </a:r>
            <a:r>
              <a:rPr sz="1000" spc="120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1000" spc="10" dirty="0">
                <a:solidFill>
                  <a:srgbClr val="161612"/>
                </a:solidFill>
                <a:latin typeface="Tahoma"/>
                <a:cs typeface="Tahoma"/>
              </a:rPr>
              <a:t>enable</a:t>
            </a:r>
            <a:r>
              <a:rPr sz="1000" spc="130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1000" spc="-10" dirty="0">
                <a:solidFill>
                  <a:srgbClr val="161612"/>
                </a:solidFill>
                <a:latin typeface="Tahoma"/>
                <a:cs typeface="Tahoma"/>
              </a:rPr>
              <a:t>horizontal </a:t>
            </a:r>
            <a:r>
              <a:rPr sz="1000" spc="10" dirty="0">
                <a:solidFill>
                  <a:srgbClr val="161612"/>
                </a:solidFill>
                <a:latin typeface="Tahoma"/>
                <a:cs typeface="Tahoma"/>
              </a:rPr>
              <a:t>scaling</a:t>
            </a:r>
            <a:r>
              <a:rPr sz="1000" spc="140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1000" spc="10" dirty="0">
                <a:solidFill>
                  <a:srgbClr val="161612"/>
                </a:solidFill>
                <a:latin typeface="Tahoma"/>
                <a:cs typeface="Tahoma"/>
              </a:rPr>
              <a:t>behind</a:t>
            </a:r>
            <a:r>
              <a:rPr sz="1000" spc="155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1000" spc="10" dirty="0">
                <a:solidFill>
                  <a:srgbClr val="161612"/>
                </a:solidFill>
                <a:latin typeface="Tahoma"/>
                <a:cs typeface="Tahoma"/>
              </a:rPr>
              <a:t>load</a:t>
            </a:r>
            <a:r>
              <a:rPr sz="1000" spc="120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1000" spc="-10" dirty="0">
                <a:solidFill>
                  <a:srgbClr val="161612"/>
                </a:solidFill>
                <a:latin typeface="Tahoma"/>
                <a:cs typeface="Tahoma"/>
              </a:rPr>
              <a:t>balancers.</a:t>
            </a:r>
            <a:endParaRPr sz="1000">
              <a:latin typeface="Tahoma"/>
              <a:cs typeface="Tahoma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6012179" y="3721608"/>
            <a:ext cx="2699385" cy="1054735"/>
            <a:chOff x="6012179" y="3721608"/>
            <a:chExt cx="2699385" cy="1054735"/>
          </a:xfrm>
        </p:grpSpPr>
        <p:sp>
          <p:nvSpPr>
            <p:cNvPr id="14" name="object 14"/>
            <p:cNvSpPr/>
            <p:nvPr/>
          </p:nvSpPr>
          <p:spPr>
            <a:xfrm>
              <a:off x="6019799" y="3729228"/>
              <a:ext cx="2684145" cy="1039494"/>
            </a:xfrm>
            <a:custGeom>
              <a:avLst/>
              <a:gdLst/>
              <a:ahLst/>
              <a:cxnLst/>
              <a:rect l="l" t="t" r="r" b="b"/>
              <a:pathLst>
                <a:path w="2684145" h="1039495">
                  <a:moveTo>
                    <a:pt x="2664586" y="0"/>
                  </a:moveTo>
                  <a:lnTo>
                    <a:pt x="19176" y="0"/>
                  </a:lnTo>
                  <a:lnTo>
                    <a:pt x="11733" y="1514"/>
                  </a:lnTo>
                  <a:lnTo>
                    <a:pt x="5635" y="5635"/>
                  </a:lnTo>
                  <a:lnTo>
                    <a:pt x="1514" y="11733"/>
                  </a:lnTo>
                  <a:lnTo>
                    <a:pt x="0" y="19176"/>
                  </a:lnTo>
                  <a:lnTo>
                    <a:pt x="0" y="1020191"/>
                  </a:lnTo>
                  <a:lnTo>
                    <a:pt x="1514" y="1027634"/>
                  </a:lnTo>
                  <a:lnTo>
                    <a:pt x="5635" y="1033732"/>
                  </a:lnTo>
                  <a:lnTo>
                    <a:pt x="11733" y="1037853"/>
                  </a:lnTo>
                  <a:lnTo>
                    <a:pt x="19176" y="1039368"/>
                  </a:lnTo>
                  <a:lnTo>
                    <a:pt x="2664586" y="1039368"/>
                  </a:lnTo>
                  <a:lnTo>
                    <a:pt x="2672030" y="1037853"/>
                  </a:lnTo>
                  <a:lnTo>
                    <a:pt x="2678128" y="1033732"/>
                  </a:lnTo>
                  <a:lnTo>
                    <a:pt x="2682249" y="1027634"/>
                  </a:lnTo>
                  <a:lnTo>
                    <a:pt x="2683764" y="1020191"/>
                  </a:lnTo>
                  <a:lnTo>
                    <a:pt x="2683764" y="19176"/>
                  </a:lnTo>
                  <a:lnTo>
                    <a:pt x="2682249" y="11733"/>
                  </a:lnTo>
                  <a:lnTo>
                    <a:pt x="2678128" y="5635"/>
                  </a:lnTo>
                  <a:lnTo>
                    <a:pt x="2672030" y="1514"/>
                  </a:lnTo>
                  <a:lnTo>
                    <a:pt x="2664586" y="0"/>
                  </a:lnTo>
                  <a:close/>
                </a:path>
              </a:pathLst>
            </a:custGeom>
            <a:solidFill>
              <a:srgbClr val="F8F8F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6019799" y="3729228"/>
              <a:ext cx="2684145" cy="1039494"/>
            </a:xfrm>
            <a:custGeom>
              <a:avLst/>
              <a:gdLst/>
              <a:ahLst/>
              <a:cxnLst/>
              <a:rect l="l" t="t" r="r" b="b"/>
              <a:pathLst>
                <a:path w="2684145" h="1039495">
                  <a:moveTo>
                    <a:pt x="0" y="19176"/>
                  </a:moveTo>
                  <a:lnTo>
                    <a:pt x="1514" y="11733"/>
                  </a:lnTo>
                  <a:lnTo>
                    <a:pt x="5635" y="5635"/>
                  </a:lnTo>
                  <a:lnTo>
                    <a:pt x="11733" y="1514"/>
                  </a:lnTo>
                  <a:lnTo>
                    <a:pt x="19176" y="0"/>
                  </a:lnTo>
                  <a:lnTo>
                    <a:pt x="2664586" y="0"/>
                  </a:lnTo>
                  <a:lnTo>
                    <a:pt x="2672030" y="1514"/>
                  </a:lnTo>
                  <a:lnTo>
                    <a:pt x="2678128" y="5635"/>
                  </a:lnTo>
                  <a:lnTo>
                    <a:pt x="2682249" y="11733"/>
                  </a:lnTo>
                  <a:lnTo>
                    <a:pt x="2683764" y="19176"/>
                  </a:lnTo>
                  <a:lnTo>
                    <a:pt x="2683764" y="1020191"/>
                  </a:lnTo>
                  <a:lnTo>
                    <a:pt x="2682249" y="1027634"/>
                  </a:lnTo>
                  <a:lnTo>
                    <a:pt x="2678128" y="1033732"/>
                  </a:lnTo>
                  <a:lnTo>
                    <a:pt x="2672030" y="1037853"/>
                  </a:lnTo>
                  <a:lnTo>
                    <a:pt x="2664586" y="1039368"/>
                  </a:lnTo>
                  <a:lnTo>
                    <a:pt x="19176" y="1039368"/>
                  </a:lnTo>
                  <a:lnTo>
                    <a:pt x="11733" y="1037853"/>
                  </a:lnTo>
                  <a:lnTo>
                    <a:pt x="5635" y="1033732"/>
                  </a:lnTo>
                  <a:lnTo>
                    <a:pt x="1514" y="1027634"/>
                  </a:lnTo>
                  <a:lnTo>
                    <a:pt x="0" y="1020191"/>
                  </a:lnTo>
                  <a:lnTo>
                    <a:pt x="0" y="19176"/>
                  </a:lnTo>
                  <a:close/>
                </a:path>
              </a:pathLst>
            </a:custGeom>
            <a:ln w="15240">
              <a:solidFill>
                <a:srgbClr val="D2D1C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6150609" y="3748053"/>
            <a:ext cx="2225040" cy="889635"/>
          </a:xfrm>
          <a:prstGeom prst="rect">
            <a:avLst/>
          </a:prstGeom>
        </p:spPr>
        <p:txBody>
          <a:bodyPr vert="horz" wrap="square" lIns="0" tIns="1187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35"/>
              </a:spcBef>
            </a:pPr>
            <a:r>
              <a:rPr sz="1250" spc="-10" dirty="0">
                <a:solidFill>
                  <a:srgbClr val="161612"/>
                </a:solidFill>
                <a:latin typeface="Tahoma"/>
                <a:cs typeface="Tahoma"/>
              </a:rPr>
              <a:t>Maintainability</a:t>
            </a:r>
            <a:endParaRPr sz="1250">
              <a:latin typeface="Tahoma"/>
              <a:cs typeface="Tahoma"/>
            </a:endParaRPr>
          </a:p>
          <a:p>
            <a:pPr marL="12700" marR="5080">
              <a:lnSpc>
                <a:spcPct val="108500"/>
              </a:lnSpc>
              <a:spcBef>
                <a:spcPts val="565"/>
              </a:spcBef>
            </a:pPr>
            <a:r>
              <a:rPr sz="1000" spc="10" dirty="0">
                <a:solidFill>
                  <a:srgbClr val="161612"/>
                </a:solidFill>
                <a:latin typeface="Tahoma"/>
                <a:cs typeface="Tahoma"/>
              </a:rPr>
              <a:t>Layered</a:t>
            </a:r>
            <a:r>
              <a:rPr sz="1000" spc="130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1000" spc="55" dirty="0">
                <a:solidFill>
                  <a:srgbClr val="161612"/>
                </a:solidFill>
                <a:latin typeface="Tahoma"/>
                <a:cs typeface="Tahoma"/>
              </a:rPr>
              <a:t>codebase</a:t>
            </a:r>
            <a:r>
              <a:rPr sz="1000" spc="120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1000" spc="10" dirty="0">
                <a:solidFill>
                  <a:srgbClr val="161612"/>
                </a:solidFill>
                <a:latin typeface="Tahoma"/>
                <a:cs typeface="Tahoma"/>
              </a:rPr>
              <a:t>supports</a:t>
            </a:r>
            <a:r>
              <a:rPr sz="1000" spc="95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1000" spc="10" dirty="0">
                <a:solidFill>
                  <a:srgbClr val="161612"/>
                </a:solidFill>
                <a:latin typeface="Tahoma"/>
                <a:cs typeface="Tahoma"/>
              </a:rPr>
              <a:t>unit</a:t>
            </a:r>
            <a:r>
              <a:rPr sz="1000" spc="85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1000" spc="-25" dirty="0">
                <a:solidFill>
                  <a:srgbClr val="161612"/>
                </a:solidFill>
                <a:latin typeface="Tahoma"/>
                <a:cs typeface="Tahoma"/>
              </a:rPr>
              <a:t>and </a:t>
            </a:r>
            <a:r>
              <a:rPr sz="1000" dirty="0">
                <a:solidFill>
                  <a:srgbClr val="161612"/>
                </a:solidFill>
                <a:latin typeface="Tahoma"/>
                <a:cs typeface="Tahoma"/>
              </a:rPr>
              <a:t>integration</a:t>
            </a:r>
            <a:r>
              <a:rPr sz="1000" spc="160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1000" dirty="0">
                <a:solidFill>
                  <a:srgbClr val="161612"/>
                </a:solidFill>
                <a:latin typeface="Tahoma"/>
                <a:cs typeface="Tahoma"/>
              </a:rPr>
              <a:t>testing,</a:t>
            </a:r>
            <a:r>
              <a:rPr sz="1000" spc="145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1000" dirty="0">
                <a:solidFill>
                  <a:srgbClr val="161612"/>
                </a:solidFill>
                <a:latin typeface="Tahoma"/>
                <a:cs typeface="Tahoma"/>
              </a:rPr>
              <a:t>and</a:t>
            </a:r>
            <a:r>
              <a:rPr sz="1000" spc="150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1000" dirty="0">
                <a:solidFill>
                  <a:srgbClr val="161612"/>
                </a:solidFill>
                <a:latin typeface="Tahoma"/>
                <a:cs typeface="Tahoma"/>
              </a:rPr>
              <a:t>clean</a:t>
            </a:r>
            <a:r>
              <a:rPr sz="1000" spc="175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1000" spc="-25" dirty="0">
                <a:solidFill>
                  <a:srgbClr val="161612"/>
                </a:solidFill>
                <a:latin typeface="Tahoma"/>
                <a:cs typeface="Tahoma"/>
              </a:rPr>
              <a:t>CI </a:t>
            </a:r>
            <a:r>
              <a:rPr sz="1000" spc="-10" dirty="0">
                <a:solidFill>
                  <a:srgbClr val="161612"/>
                </a:solidFill>
                <a:latin typeface="Tahoma"/>
                <a:cs typeface="Tahoma"/>
              </a:rPr>
              <a:t>workflows.</a:t>
            </a:r>
            <a:endParaRPr sz="1000">
              <a:latin typeface="Tahoma"/>
              <a:cs typeface="Tahoma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6012179" y="4832603"/>
            <a:ext cx="2699385" cy="1054735"/>
            <a:chOff x="6012179" y="4832603"/>
            <a:chExt cx="2699385" cy="1054735"/>
          </a:xfrm>
        </p:grpSpPr>
        <p:sp>
          <p:nvSpPr>
            <p:cNvPr id="18" name="object 18"/>
            <p:cNvSpPr/>
            <p:nvPr/>
          </p:nvSpPr>
          <p:spPr>
            <a:xfrm>
              <a:off x="6019799" y="4840223"/>
              <a:ext cx="2684145" cy="1039494"/>
            </a:xfrm>
            <a:custGeom>
              <a:avLst/>
              <a:gdLst/>
              <a:ahLst/>
              <a:cxnLst/>
              <a:rect l="l" t="t" r="r" b="b"/>
              <a:pathLst>
                <a:path w="2684145" h="1039495">
                  <a:moveTo>
                    <a:pt x="2664586" y="0"/>
                  </a:moveTo>
                  <a:lnTo>
                    <a:pt x="19176" y="0"/>
                  </a:lnTo>
                  <a:lnTo>
                    <a:pt x="11733" y="1514"/>
                  </a:lnTo>
                  <a:lnTo>
                    <a:pt x="5635" y="5635"/>
                  </a:lnTo>
                  <a:lnTo>
                    <a:pt x="1514" y="11733"/>
                  </a:lnTo>
                  <a:lnTo>
                    <a:pt x="0" y="19176"/>
                  </a:lnTo>
                  <a:lnTo>
                    <a:pt x="0" y="1020190"/>
                  </a:lnTo>
                  <a:lnTo>
                    <a:pt x="1514" y="1027634"/>
                  </a:lnTo>
                  <a:lnTo>
                    <a:pt x="5635" y="1033732"/>
                  </a:lnTo>
                  <a:lnTo>
                    <a:pt x="11733" y="1037853"/>
                  </a:lnTo>
                  <a:lnTo>
                    <a:pt x="19176" y="1039368"/>
                  </a:lnTo>
                  <a:lnTo>
                    <a:pt x="2664586" y="1039368"/>
                  </a:lnTo>
                  <a:lnTo>
                    <a:pt x="2672030" y="1037853"/>
                  </a:lnTo>
                  <a:lnTo>
                    <a:pt x="2678128" y="1033732"/>
                  </a:lnTo>
                  <a:lnTo>
                    <a:pt x="2682249" y="1027634"/>
                  </a:lnTo>
                  <a:lnTo>
                    <a:pt x="2683764" y="1020190"/>
                  </a:lnTo>
                  <a:lnTo>
                    <a:pt x="2683764" y="19176"/>
                  </a:lnTo>
                  <a:lnTo>
                    <a:pt x="2682249" y="11733"/>
                  </a:lnTo>
                  <a:lnTo>
                    <a:pt x="2678128" y="5635"/>
                  </a:lnTo>
                  <a:lnTo>
                    <a:pt x="2672030" y="1514"/>
                  </a:lnTo>
                  <a:lnTo>
                    <a:pt x="2664586" y="0"/>
                  </a:lnTo>
                  <a:close/>
                </a:path>
              </a:pathLst>
            </a:custGeom>
            <a:solidFill>
              <a:srgbClr val="F8F8F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6019799" y="4840223"/>
              <a:ext cx="2684145" cy="1039494"/>
            </a:xfrm>
            <a:custGeom>
              <a:avLst/>
              <a:gdLst/>
              <a:ahLst/>
              <a:cxnLst/>
              <a:rect l="l" t="t" r="r" b="b"/>
              <a:pathLst>
                <a:path w="2684145" h="1039495">
                  <a:moveTo>
                    <a:pt x="0" y="19176"/>
                  </a:moveTo>
                  <a:lnTo>
                    <a:pt x="1514" y="11733"/>
                  </a:lnTo>
                  <a:lnTo>
                    <a:pt x="5635" y="5635"/>
                  </a:lnTo>
                  <a:lnTo>
                    <a:pt x="11733" y="1514"/>
                  </a:lnTo>
                  <a:lnTo>
                    <a:pt x="19176" y="0"/>
                  </a:lnTo>
                  <a:lnTo>
                    <a:pt x="2664586" y="0"/>
                  </a:lnTo>
                  <a:lnTo>
                    <a:pt x="2672030" y="1514"/>
                  </a:lnTo>
                  <a:lnTo>
                    <a:pt x="2678128" y="5635"/>
                  </a:lnTo>
                  <a:lnTo>
                    <a:pt x="2682249" y="11733"/>
                  </a:lnTo>
                  <a:lnTo>
                    <a:pt x="2683764" y="19176"/>
                  </a:lnTo>
                  <a:lnTo>
                    <a:pt x="2683764" y="1020190"/>
                  </a:lnTo>
                  <a:lnTo>
                    <a:pt x="2682249" y="1027634"/>
                  </a:lnTo>
                  <a:lnTo>
                    <a:pt x="2678128" y="1033732"/>
                  </a:lnTo>
                  <a:lnTo>
                    <a:pt x="2672030" y="1037853"/>
                  </a:lnTo>
                  <a:lnTo>
                    <a:pt x="2664586" y="1039368"/>
                  </a:lnTo>
                  <a:lnTo>
                    <a:pt x="19176" y="1039368"/>
                  </a:lnTo>
                  <a:lnTo>
                    <a:pt x="11733" y="1037853"/>
                  </a:lnTo>
                  <a:lnTo>
                    <a:pt x="5635" y="1033732"/>
                  </a:lnTo>
                  <a:lnTo>
                    <a:pt x="1514" y="1027634"/>
                  </a:lnTo>
                  <a:lnTo>
                    <a:pt x="0" y="1020190"/>
                  </a:lnTo>
                  <a:lnTo>
                    <a:pt x="0" y="19176"/>
                  </a:lnTo>
                  <a:close/>
                </a:path>
              </a:pathLst>
            </a:custGeom>
            <a:ln w="15240">
              <a:solidFill>
                <a:srgbClr val="D2D1C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6150609" y="4859049"/>
            <a:ext cx="2240915" cy="890269"/>
          </a:xfrm>
          <a:prstGeom prst="rect">
            <a:avLst/>
          </a:prstGeom>
        </p:spPr>
        <p:txBody>
          <a:bodyPr vert="horz" wrap="square" lIns="0" tIns="1187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35"/>
              </a:spcBef>
            </a:pPr>
            <a:r>
              <a:rPr sz="1250" spc="-10" dirty="0">
                <a:solidFill>
                  <a:srgbClr val="161612"/>
                </a:solidFill>
                <a:latin typeface="Tahoma"/>
                <a:cs typeface="Tahoma"/>
              </a:rPr>
              <a:t>Extensibility</a:t>
            </a:r>
            <a:endParaRPr sz="1250">
              <a:latin typeface="Tahoma"/>
              <a:cs typeface="Tahoma"/>
            </a:endParaRPr>
          </a:p>
          <a:p>
            <a:pPr marL="12700" marR="5080">
              <a:lnSpc>
                <a:spcPct val="108600"/>
              </a:lnSpc>
              <a:spcBef>
                <a:spcPts val="560"/>
              </a:spcBef>
            </a:pPr>
            <a:r>
              <a:rPr sz="1000" spc="45" dirty="0">
                <a:solidFill>
                  <a:srgbClr val="161612"/>
                </a:solidFill>
                <a:latin typeface="Tahoma"/>
                <a:cs typeface="Tahoma"/>
              </a:rPr>
              <a:t>Modular</a:t>
            </a:r>
            <a:r>
              <a:rPr sz="1000" spc="70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1000" spc="10" dirty="0">
                <a:solidFill>
                  <a:srgbClr val="161612"/>
                </a:solidFill>
                <a:latin typeface="Tahoma"/>
                <a:cs typeface="Tahoma"/>
              </a:rPr>
              <a:t>modules</a:t>
            </a:r>
            <a:r>
              <a:rPr sz="1000" spc="85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1000" spc="10" dirty="0">
                <a:solidFill>
                  <a:srgbClr val="161612"/>
                </a:solidFill>
                <a:latin typeface="Tahoma"/>
                <a:cs typeface="Tahoma"/>
              </a:rPr>
              <a:t>for</a:t>
            </a:r>
            <a:r>
              <a:rPr sz="1000" spc="95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1000" spc="-10" dirty="0">
                <a:solidFill>
                  <a:srgbClr val="161612"/>
                </a:solidFill>
                <a:latin typeface="Tahoma"/>
                <a:cs typeface="Tahoma"/>
              </a:rPr>
              <a:t>vendor </a:t>
            </a:r>
            <a:r>
              <a:rPr sz="1000" dirty="0">
                <a:solidFill>
                  <a:srgbClr val="161612"/>
                </a:solidFill>
                <a:latin typeface="Tahoma"/>
                <a:cs typeface="Tahoma"/>
              </a:rPr>
              <a:t>management,</a:t>
            </a:r>
            <a:r>
              <a:rPr sz="1000" spc="190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1000" dirty="0">
                <a:solidFill>
                  <a:srgbClr val="161612"/>
                </a:solidFill>
                <a:latin typeface="Tahoma"/>
                <a:cs typeface="Tahoma"/>
              </a:rPr>
              <a:t>reporting,</a:t>
            </a:r>
            <a:r>
              <a:rPr sz="1000" spc="204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1000" dirty="0">
                <a:solidFill>
                  <a:srgbClr val="161612"/>
                </a:solidFill>
                <a:latin typeface="Tahoma"/>
                <a:cs typeface="Tahoma"/>
              </a:rPr>
              <a:t>and</a:t>
            </a:r>
            <a:r>
              <a:rPr sz="1000" spc="175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1000" spc="-10" dirty="0">
                <a:solidFill>
                  <a:srgbClr val="161612"/>
                </a:solidFill>
                <a:latin typeface="Tahoma"/>
                <a:cs typeface="Tahoma"/>
              </a:rPr>
              <a:t>auditing </a:t>
            </a:r>
            <a:r>
              <a:rPr sz="1000" spc="10" dirty="0">
                <a:solidFill>
                  <a:srgbClr val="161612"/>
                </a:solidFill>
                <a:latin typeface="Tahoma"/>
                <a:cs typeface="Tahoma"/>
              </a:rPr>
              <a:t>simplify</a:t>
            </a:r>
            <a:r>
              <a:rPr sz="1000" spc="130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1000" spc="10" dirty="0">
                <a:solidFill>
                  <a:srgbClr val="161612"/>
                </a:solidFill>
                <a:latin typeface="Tahoma"/>
                <a:cs typeface="Tahoma"/>
              </a:rPr>
              <a:t>feature</a:t>
            </a:r>
            <a:r>
              <a:rPr sz="1000" spc="170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1000" spc="-10" dirty="0">
                <a:solidFill>
                  <a:srgbClr val="161612"/>
                </a:solidFill>
                <a:latin typeface="Tahoma"/>
                <a:cs typeface="Tahoma"/>
              </a:rPr>
              <a:t>additions.</a:t>
            </a:r>
            <a:endParaRPr sz="10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789407" y="7531606"/>
            <a:ext cx="1743455" cy="57150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81304" y="1753616"/>
            <a:ext cx="6633209" cy="5670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550" spc="125" dirty="0"/>
              <a:t>Database</a:t>
            </a:r>
            <a:r>
              <a:rPr sz="3550" spc="-195" dirty="0"/>
              <a:t> </a:t>
            </a:r>
            <a:r>
              <a:rPr sz="3550" spc="70" dirty="0"/>
              <a:t>Design</a:t>
            </a:r>
            <a:r>
              <a:rPr sz="3550" spc="-170" dirty="0"/>
              <a:t> </a:t>
            </a:r>
            <a:r>
              <a:rPr sz="3550" spc="-130" dirty="0"/>
              <a:t>—</a:t>
            </a:r>
            <a:r>
              <a:rPr sz="3550" spc="-140" dirty="0"/>
              <a:t> </a:t>
            </a:r>
            <a:r>
              <a:rPr sz="3550" spc="110" dirty="0"/>
              <a:t>Key</a:t>
            </a:r>
            <a:r>
              <a:rPr sz="3550" spc="-155" dirty="0"/>
              <a:t> </a:t>
            </a:r>
            <a:r>
              <a:rPr sz="3550" spc="100" dirty="0"/>
              <a:t>Entities</a:t>
            </a:r>
            <a:endParaRPr sz="3550"/>
          </a:p>
        </p:txBody>
      </p:sp>
      <p:sp>
        <p:nvSpPr>
          <p:cNvPr id="4" name="object 4"/>
          <p:cNvSpPr txBox="1"/>
          <p:nvPr/>
        </p:nvSpPr>
        <p:spPr>
          <a:xfrm>
            <a:off x="781304" y="2850642"/>
            <a:ext cx="9909810" cy="2927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50" spc="75" dirty="0">
                <a:solidFill>
                  <a:srgbClr val="161612"/>
                </a:solidFill>
                <a:latin typeface="Tahoma"/>
                <a:cs typeface="Tahoma"/>
              </a:rPr>
              <a:t>Normalized</a:t>
            </a:r>
            <a:r>
              <a:rPr sz="1750" spc="45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1750" dirty="0">
                <a:solidFill>
                  <a:srgbClr val="161612"/>
                </a:solidFill>
                <a:latin typeface="Tahoma"/>
                <a:cs typeface="Tahoma"/>
              </a:rPr>
              <a:t>relational</a:t>
            </a:r>
            <a:r>
              <a:rPr sz="1750" spc="70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1750" spc="95" dirty="0">
                <a:solidFill>
                  <a:srgbClr val="161612"/>
                </a:solidFill>
                <a:latin typeface="Tahoma"/>
                <a:cs typeface="Tahoma"/>
              </a:rPr>
              <a:t>schema</a:t>
            </a:r>
            <a:r>
              <a:rPr sz="1750" spc="60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1750" dirty="0">
                <a:solidFill>
                  <a:srgbClr val="161612"/>
                </a:solidFill>
                <a:latin typeface="Tahoma"/>
                <a:cs typeface="Tahoma"/>
              </a:rPr>
              <a:t>with</a:t>
            </a:r>
            <a:r>
              <a:rPr sz="1750" spc="75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1750" spc="85" dirty="0">
                <a:solidFill>
                  <a:srgbClr val="161612"/>
                </a:solidFill>
                <a:latin typeface="Tahoma"/>
                <a:cs typeface="Tahoma"/>
              </a:rPr>
              <a:t>enforced</a:t>
            </a:r>
            <a:r>
              <a:rPr sz="1750" spc="55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1750" spc="50" dirty="0">
                <a:solidFill>
                  <a:srgbClr val="161612"/>
                </a:solidFill>
                <a:latin typeface="Tahoma"/>
                <a:cs typeface="Tahoma"/>
              </a:rPr>
              <a:t>referential</a:t>
            </a:r>
            <a:r>
              <a:rPr sz="1750" spc="80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1750" dirty="0">
                <a:solidFill>
                  <a:srgbClr val="161612"/>
                </a:solidFill>
                <a:latin typeface="Tahoma"/>
                <a:cs typeface="Tahoma"/>
              </a:rPr>
              <a:t>integrity</a:t>
            </a:r>
            <a:r>
              <a:rPr sz="1750" spc="80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1750" spc="70" dirty="0">
                <a:solidFill>
                  <a:srgbClr val="161612"/>
                </a:solidFill>
                <a:latin typeface="Tahoma"/>
                <a:cs typeface="Tahoma"/>
              </a:rPr>
              <a:t>and</a:t>
            </a:r>
            <a:r>
              <a:rPr sz="1750" spc="50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1750" spc="80" dirty="0">
                <a:solidFill>
                  <a:srgbClr val="161612"/>
                </a:solidFill>
                <a:latin typeface="Tahoma"/>
                <a:cs typeface="Tahoma"/>
              </a:rPr>
              <a:t>indexes</a:t>
            </a:r>
            <a:r>
              <a:rPr sz="1750" spc="65" dirty="0">
                <a:solidFill>
                  <a:srgbClr val="161612"/>
                </a:solidFill>
                <a:latin typeface="Tahoma"/>
                <a:cs typeface="Tahoma"/>
              </a:rPr>
              <a:t> for</a:t>
            </a:r>
            <a:r>
              <a:rPr sz="1750" spc="45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1750" spc="55" dirty="0">
                <a:solidFill>
                  <a:srgbClr val="161612"/>
                </a:solidFill>
                <a:latin typeface="Tahoma"/>
                <a:cs typeface="Tahoma"/>
              </a:rPr>
              <a:t>performance.</a:t>
            </a:r>
            <a:endParaRPr sz="1750">
              <a:latin typeface="Tahoma"/>
              <a:cs typeface="Tahoma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94004" y="3427476"/>
            <a:ext cx="670559" cy="838200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1735327" y="3403219"/>
            <a:ext cx="2075814" cy="232283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spc="60" dirty="0">
                <a:solidFill>
                  <a:srgbClr val="161612"/>
                </a:solidFill>
                <a:latin typeface="Tahoma"/>
                <a:cs typeface="Tahoma"/>
              </a:rPr>
              <a:t>Users</a:t>
            </a:r>
            <a:r>
              <a:rPr sz="2200" spc="-100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2200" spc="114" dirty="0">
                <a:solidFill>
                  <a:srgbClr val="161612"/>
                </a:solidFill>
                <a:latin typeface="Tahoma"/>
                <a:cs typeface="Tahoma"/>
              </a:rPr>
              <a:t>&amp;</a:t>
            </a:r>
            <a:r>
              <a:rPr sz="2200" spc="-90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2200" spc="-20" dirty="0">
                <a:solidFill>
                  <a:srgbClr val="161612"/>
                </a:solidFill>
                <a:latin typeface="Tahoma"/>
                <a:cs typeface="Tahoma"/>
              </a:rPr>
              <a:t>Roles</a:t>
            </a:r>
            <a:endParaRPr sz="2200">
              <a:latin typeface="Tahoma"/>
              <a:cs typeface="Tahoma"/>
            </a:endParaRPr>
          </a:p>
          <a:p>
            <a:pPr marL="12700" marR="5080">
              <a:lnSpc>
                <a:spcPct val="138200"/>
              </a:lnSpc>
              <a:spcBef>
                <a:spcPts val="940"/>
              </a:spcBef>
            </a:pPr>
            <a:r>
              <a:rPr sz="1750" spc="50" dirty="0">
                <a:solidFill>
                  <a:srgbClr val="161612"/>
                </a:solidFill>
                <a:latin typeface="Tahoma"/>
                <a:cs typeface="Tahoma"/>
              </a:rPr>
              <a:t>Authentication,</a:t>
            </a:r>
            <a:r>
              <a:rPr sz="1750" spc="-40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1750" spc="40" dirty="0">
                <a:solidFill>
                  <a:srgbClr val="161612"/>
                </a:solidFill>
                <a:latin typeface="Tahoma"/>
                <a:cs typeface="Tahoma"/>
              </a:rPr>
              <a:t>role </a:t>
            </a:r>
            <a:r>
              <a:rPr sz="1750" spc="65" dirty="0">
                <a:solidFill>
                  <a:srgbClr val="161612"/>
                </a:solidFill>
                <a:latin typeface="Tahoma"/>
                <a:cs typeface="Tahoma"/>
              </a:rPr>
              <a:t>assignments </a:t>
            </a:r>
            <a:r>
              <a:rPr sz="1750" dirty="0">
                <a:solidFill>
                  <a:srgbClr val="161612"/>
                </a:solidFill>
                <a:latin typeface="Tahoma"/>
                <a:cs typeface="Tahoma"/>
              </a:rPr>
              <a:t>(Admin,</a:t>
            </a:r>
            <a:r>
              <a:rPr sz="1750" spc="215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1750" spc="65" dirty="0">
                <a:solidFill>
                  <a:srgbClr val="161612"/>
                </a:solidFill>
                <a:latin typeface="Tahoma"/>
                <a:cs typeface="Tahoma"/>
              </a:rPr>
              <a:t>Manager, </a:t>
            </a:r>
            <a:r>
              <a:rPr sz="1750" spc="50" dirty="0">
                <a:solidFill>
                  <a:srgbClr val="161612"/>
                </a:solidFill>
                <a:latin typeface="Tahoma"/>
                <a:cs typeface="Tahoma"/>
              </a:rPr>
              <a:t>Employee),</a:t>
            </a:r>
            <a:r>
              <a:rPr sz="1750" spc="-5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1750" spc="45" dirty="0">
                <a:solidFill>
                  <a:srgbClr val="161612"/>
                </a:solidFill>
                <a:latin typeface="Tahoma"/>
                <a:cs typeface="Tahoma"/>
              </a:rPr>
              <a:t>and </a:t>
            </a:r>
            <a:r>
              <a:rPr sz="1750" dirty="0">
                <a:solidFill>
                  <a:srgbClr val="161612"/>
                </a:solidFill>
                <a:latin typeface="Tahoma"/>
                <a:cs typeface="Tahoma"/>
              </a:rPr>
              <a:t>audit</a:t>
            </a:r>
            <a:r>
              <a:rPr sz="1750" spc="160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1750" spc="-10" dirty="0">
                <a:solidFill>
                  <a:srgbClr val="161612"/>
                </a:solidFill>
                <a:latin typeface="Tahoma"/>
                <a:cs typeface="Tahoma"/>
              </a:rPr>
              <a:t>metadata.</a:t>
            </a:r>
            <a:endParaRPr sz="1750">
              <a:latin typeface="Tahoma"/>
              <a:cs typeface="Tahoma"/>
            </a:endParaRPr>
          </a:p>
        </p:txBody>
      </p:sp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125467" y="3427476"/>
            <a:ext cx="670560" cy="838200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5067046" y="3403219"/>
            <a:ext cx="2082800" cy="232283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spc="80" dirty="0">
                <a:solidFill>
                  <a:srgbClr val="161612"/>
                </a:solidFill>
                <a:latin typeface="Tahoma"/>
                <a:cs typeface="Tahoma"/>
              </a:rPr>
              <a:t>Vendors</a:t>
            </a:r>
            <a:endParaRPr sz="2200">
              <a:latin typeface="Tahoma"/>
              <a:cs typeface="Tahoma"/>
            </a:endParaRPr>
          </a:p>
          <a:p>
            <a:pPr marL="12700" marR="5080">
              <a:lnSpc>
                <a:spcPct val="138200"/>
              </a:lnSpc>
              <a:spcBef>
                <a:spcPts val="940"/>
              </a:spcBef>
            </a:pPr>
            <a:r>
              <a:rPr sz="1750" spc="80" dirty="0">
                <a:solidFill>
                  <a:srgbClr val="161612"/>
                </a:solidFill>
                <a:latin typeface="Tahoma"/>
                <a:cs typeface="Tahoma"/>
              </a:rPr>
              <a:t>Vendor</a:t>
            </a:r>
            <a:r>
              <a:rPr sz="1750" spc="-35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1750" spc="55" dirty="0">
                <a:solidFill>
                  <a:srgbClr val="161612"/>
                </a:solidFill>
                <a:latin typeface="Tahoma"/>
                <a:cs typeface="Tahoma"/>
              </a:rPr>
              <a:t>master</a:t>
            </a:r>
            <a:r>
              <a:rPr sz="1750" spc="-35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1750" spc="-20" dirty="0">
                <a:solidFill>
                  <a:srgbClr val="161612"/>
                </a:solidFill>
                <a:latin typeface="Tahoma"/>
                <a:cs typeface="Tahoma"/>
              </a:rPr>
              <a:t>with </a:t>
            </a:r>
            <a:r>
              <a:rPr sz="1750" spc="75" dirty="0">
                <a:solidFill>
                  <a:srgbClr val="161612"/>
                </a:solidFill>
                <a:latin typeface="Tahoma"/>
                <a:cs typeface="Tahoma"/>
              </a:rPr>
              <a:t>contact</a:t>
            </a:r>
            <a:r>
              <a:rPr sz="1750" spc="-50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1750" spc="-10" dirty="0">
                <a:solidFill>
                  <a:srgbClr val="161612"/>
                </a:solidFill>
                <a:latin typeface="Tahoma"/>
                <a:cs typeface="Tahoma"/>
              </a:rPr>
              <a:t>info, </a:t>
            </a:r>
            <a:r>
              <a:rPr sz="1750" spc="60" dirty="0">
                <a:solidFill>
                  <a:srgbClr val="161612"/>
                </a:solidFill>
                <a:latin typeface="Tahoma"/>
                <a:cs typeface="Tahoma"/>
              </a:rPr>
              <a:t>contracts,</a:t>
            </a:r>
            <a:r>
              <a:rPr sz="1750" spc="-20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1750" spc="-10" dirty="0">
                <a:solidFill>
                  <a:srgbClr val="161612"/>
                </a:solidFill>
                <a:latin typeface="Tahoma"/>
                <a:cs typeface="Tahoma"/>
              </a:rPr>
              <a:t>ratings, </a:t>
            </a:r>
            <a:r>
              <a:rPr sz="1750" spc="70" dirty="0">
                <a:solidFill>
                  <a:srgbClr val="161612"/>
                </a:solidFill>
                <a:latin typeface="Tahoma"/>
                <a:cs typeface="Tahoma"/>
              </a:rPr>
              <a:t>and</a:t>
            </a:r>
            <a:r>
              <a:rPr sz="1750" spc="-50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1750" spc="70" dirty="0">
                <a:solidFill>
                  <a:srgbClr val="161612"/>
                </a:solidFill>
                <a:latin typeface="Tahoma"/>
                <a:cs typeface="Tahoma"/>
              </a:rPr>
              <a:t>compliance </a:t>
            </a:r>
            <a:r>
              <a:rPr sz="1750" spc="60" dirty="0">
                <a:solidFill>
                  <a:srgbClr val="161612"/>
                </a:solidFill>
                <a:latin typeface="Tahoma"/>
                <a:cs typeface="Tahoma"/>
              </a:rPr>
              <a:t>documents.</a:t>
            </a:r>
            <a:endParaRPr sz="1750">
              <a:latin typeface="Tahoma"/>
              <a:cs typeface="Tahoma"/>
            </a:endParaRPr>
          </a:p>
        </p:txBody>
      </p:sp>
      <p:pic>
        <p:nvPicPr>
          <p:cNvPr id="9" name="object 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456931" y="3427476"/>
            <a:ext cx="670559" cy="838200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8399144" y="3403219"/>
            <a:ext cx="2039620" cy="195389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spc="50" dirty="0">
                <a:solidFill>
                  <a:srgbClr val="161612"/>
                </a:solidFill>
                <a:latin typeface="Tahoma"/>
                <a:cs typeface="Tahoma"/>
              </a:rPr>
              <a:t>Requisitions</a:t>
            </a:r>
            <a:endParaRPr sz="2200">
              <a:latin typeface="Tahoma"/>
              <a:cs typeface="Tahoma"/>
            </a:endParaRPr>
          </a:p>
          <a:p>
            <a:pPr marL="12700" marR="5080">
              <a:lnSpc>
                <a:spcPct val="138100"/>
              </a:lnSpc>
              <a:spcBef>
                <a:spcPts val="940"/>
              </a:spcBef>
            </a:pPr>
            <a:r>
              <a:rPr sz="1750" spc="85" dirty="0">
                <a:solidFill>
                  <a:srgbClr val="161612"/>
                </a:solidFill>
                <a:latin typeface="Tahoma"/>
                <a:cs typeface="Tahoma"/>
              </a:rPr>
              <a:t>Line-</a:t>
            </a:r>
            <a:r>
              <a:rPr sz="1750" dirty="0">
                <a:solidFill>
                  <a:srgbClr val="161612"/>
                </a:solidFill>
                <a:latin typeface="Tahoma"/>
                <a:cs typeface="Tahoma"/>
              </a:rPr>
              <a:t>item</a:t>
            </a:r>
            <a:r>
              <a:rPr sz="1750" spc="100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1750" spc="-10" dirty="0">
                <a:solidFill>
                  <a:srgbClr val="161612"/>
                </a:solidFill>
                <a:latin typeface="Tahoma"/>
                <a:cs typeface="Tahoma"/>
              </a:rPr>
              <a:t>details, </a:t>
            </a:r>
            <a:r>
              <a:rPr sz="1750" spc="95" dirty="0">
                <a:solidFill>
                  <a:srgbClr val="161612"/>
                </a:solidFill>
                <a:latin typeface="Tahoma"/>
                <a:cs typeface="Tahoma"/>
              </a:rPr>
              <a:t>cost</a:t>
            </a:r>
            <a:r>
              <a:rPr sz="1750" spc="-60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1750" spc="50" dirty="0">
                <a:solidFill>
                  <a:srgbClr val="161612"/>
                </a:solidFill>
                <a:latin typeface="Tahoma"/>
                <a:cs typeface="Tahoma"/>
              </a:rPr>
              <a:t>centers, </a:t>
            </a:r>
            <a:r>
              <a:rPr sz="1750" spc="65" dirty="0">
                <a:solidFill>
                  <a:srgbClr val="161612"/>
                </a:solidFill>
                <a:latin typeface="Tahoma"/>
                <a:cs typeface="Tahoma"/>
              </a:rPr>
              <a:t>budget</a:t>
            </a:r>
            <a:r>
              <a:rPr sz="1750" spc="-35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1750" spc="65" dirty="0">
                <a:solidFill>
                  <a:srgbClr val="161612"/>
                </a:solidFill>
                <a:latin typeface="Tahoma"/>
                <a:cs typeface="Tahoma"/>
              </a:rPr>
              <a:t>references, </a:t>
            </a:r>
            <a:r>
              <a:rPr sz="1750" spc="70" dirty="0">
                <a:solidFill>
                  <a:srgbClr val="161612"/>
                </a:solidFill>
                <a:latin typeface="Tahoma"/>
                <a:cs typeface="Tahoma"/>
              </a:rPr>
              <a:t>and</a:t>
            </a:r>
            <a:r>
              <a:rPr sz="1750" spc="-35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1750" spc="50" dirty="0">
                <a:solidFill>
                  <a:srgbClr val="161612"/>
                </a:solidFill>
                <a:latin typeface="Tahoma"/>
                <a:cs typeface="Tahoma"/>
              </a:rPr>
              <a:t>current</a:t>
            </a:r>
            <a:r>
              <a:rPr sz="1750" spc="-15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1750" spc="-10" dirty="0">
                <a:solidFill>
                  <a:srgbClr val="161612"/>
                </a:solidFill>
                <a:latin typeface="Tahoma"/>
                <a:cs typeface="Tahoma"/>
              </a:rPr>
              <a:t>status.</a:t>
            </a:r>
            <a:endParaRPr sz="1750">
              <a:latin typeface="Tahoma"/>
              <a:cs typeface="Tahoma"/>
            </a:endParaRPr>
          </a:p>
        </p:txBody>
      </p:sp>
      <p:pic>
        <p:nvPicPr>
          <p:cNvPr id="11" name="object 11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0788395" y="3427476"/>
            <a:ext cx="670559" cy="838200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11730990" y="3382797"/>
            <a:ext cx="1961514" cy="305181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633730" algn="just">
              <a:lnSpc>
                <a:spcPct val="106100"/>
              </a:lnSpc>
              <a:spcBef>
                <a:spcPts val="95"/>
              </a:spcBef>
            </a:pPr>
            <a:r>
              <a:rPr sz="2200" spc="65" dirty="0">
                <a:solidFill>
                  <a:srgbClr val="161612"/>
                </a:solidFill>
                <a:latin typeface="Tahoma"/>
                <a:cs typeface="Tahoma"/>
              </a:rPr>
              <a:t>Purchase </a:t>
            </a:r>
            <a:r>
              <a:rPr sz="2200" spc="85" dirty="0">
                <a:solidFill>
                  <a:srgbClr val="161612"/>
                </a:solidFill>
                <a:latin typeface="Tahoma"/>
                <a:cs typeface="Tahoma"/>
              </a:rPr>
              <a:t>Orders</a:t>
            </a:r>
            <a:r>
              <a:rPr sz="2200" spc="-100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2200" spc="65" dirty="0">
                <a:solidFill>
                  <a:srgbClr val="161612"/>
                </a:solidFill>
                <a:latin typeface="Tahoma"/>
                <a:cs typeface="Tahoma"/>
              </a:rPr>
              <a:t>&amp; </a:t>
            </a:r>
            <a:r>
              <a:rPr sz="2200" spc="75" dirty="0">
                <a:solidFill>
                  <a:srgbClr val="161612"/>
                </a:solidFill>
                <a:latin typeface="Tahoma"/>
                <a:cs typeface="Tahoma"/>
              </a:rPr>
              <a:t>Approvals</a:t>
            </a:r>
            <a:endParaRPr sz="2200">
              <a:latin typeface="Tahoma"/>
              <a:cs typeface="Tahoma"/>
            </a:endParaRPr>
          </a:p>
          <a:p>
            <a:pPr marL="12700" marR="5080">
              <a:lnSpc>
                <a:spcPct val="138100"/>
              </a:lnSpc>
              <a:spcBef>
                <a:spcPts val="919"/>
              </a:spcBef>
            </a:pPr>
            <a:r>
              <a:rPr sz="1750" spc="120" dirty="0">
                <a:solidFill>
                  <a:srgbClr val="161612"/>
                </a:solidFill>
                <a:latin typeface="Tahoma"/>
                <a:cs typeface="Tahoma"/>
              </a:rPr>
              <a:t>PO</a:t>
            </a:r>
            <a:r>
              <a:rPr sz="1750" spc="-70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1750" spc="40" dirty="0">
                <a:solidFill>
                  <a:srgbClr val="161612"/>
                </a:solidFill>
                <a:latin typeface="Tahoma"/>
                <a:cs typeface="Tahoma"/>
              </a:rPr>
              <a:t>creation, </a:t>
            </a:r>
            <a:r>
              <a:rPr sz="1750" spc="75" dirty="0">
                <a:solidFill>
                  <a:srgbClr val="161612"/>
                </a:solidFill>
                <a:latin typeface="Tahoma"/>
                <a:cs typeface="Tahoma"/>
              </a:rPr>
              <a:t>vendor</a:t>
            </a:r>
            <a:r>
              <a:rPr sz="1750" spc="-35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1750" spc="-10" dirty="0">
                <a:solidFill>
                  <a:srgbClr val="161612"/>
                </a:solidFill>
                <a:latin typeface="Tahoma"/>
                <a:cs typeface="Tahoma"/>
              </a:rPr>
              <a:t>linkage, </a:t>
            </a:r>
            <a:r>
              <a:rPr sz="1750" spc="70" dirty="0">
                <a:solidFill>
                  <a:srgbClr val="161612"/>
                </a:solidFill>
                <a:latin typeface="Tahoma"/>
                <a:cs typeface="Tahoma"/>
              </a:rPr>
              <a:t>approval</a:t>
            </a:r>
            <a:r>
              <a:rPr sz="1750" spc="-25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1750" spc="40" dirty="0">
                <a:solidFill>
                  <a:srgbClr val="161612"/>
                </a:solidFill>
                <a:latin typeface="Tahoma"/>
                <a:cs typeface="Tahoma"/>
              </a:rPr>
              <a:t>history, </a:t>
            </a:r>
            <a:r>
              <a:rPr sz="1750" spc="70" dirty="0">
                <a:solidFill>
                  <a:srgbClr val="161612"/>
                </a:solidFill>
                <a:latin typeface="Tahoma"/>
                <a:cs typeface="Tahoma"/>
              </a:rPr>
              <a:t>and</a:t>
            </a:r>
            <a:r>
              <a:rPr sz="1750" spc="-50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1750" spc="75" dirty="0">
                <a:solidFill>
                  <a:srgbClr val="161612"/>
                </a:solidFill>
                <a:latin typeface="Tahoma"/>
                <a:cs typeface="Tahoma"/>
              </a:rPr>
              <a:t>closure </a:t>
            </a:r>
            <a:r>
              <a:rPr sz="1750" spc="95" dirty="0">
                <a:solidFill>
                  <a:srgbClr val="161612"/>
                </a:solidFill>
                <a:latin typeface="Tahoma"/>
                <a:cs typeface="Tahoma"/>
              </a:rPr>
              <a:t>records</a:t>
            </a:r>
            <a:r>
              <a:rPr sz="1750" spc="-40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1750" spc="65" dirty="0">
                <a:solidFill>
                  <a:srgbClr val="161612"/>
                </a:solidFill>
                <a:latin typeface="Tahoma"/>
                <a:cs typeface="Tahoma"/>
              </a:rPr>
              <a:t>for</a:t>
            </a:r>
            <a:r>
              <a:rPr sz="1750" spc="-55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1750" spc="35" dirty="0">
                <a:solidFill>
                  <a:srgbClr val="161612"/>
                </a:solidFill>
                <a:latin typeface="Tahoma"/>
                <a:cs typeface="Tahoma"/>
              </a:rPr>
              <a:t>audits.</a:t>
            </a:r>
            <a:endParaRPr sz="175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-1"/>
            <a:ext cx="5486399" cy="8229599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68096" rIns="0" bIns="0" rtlCol="0">
            <a:spAutoFit/>
          </a:bodyPr>
          <a:lstStyle/>
          <a:p>
            <a:pPr marL="5332095">
              <a:lnSpc>
                <a:spcPct val="100000"/>
              </a:lnSpc>
              <a:spcBef>
                <a:spcPts val="95"/>
              </a:spcBef>
            </a:pPr>
            <a:r>
              <a:rPr sz="2550" spc="90" dirty="0"/>
              <a:t>Authentication</a:t>
            </a:r>
            <a:r>
              <a:rPr sz="2550" spc="-75" dirty="0"/>
              <a:t> </a:t>
            </a:r>
            <a:r>
              <a:rPr sz="2550" spc="150" dirty="0"/>
              <a:t>&amp;</a:t>
            </a:r>
            <a:r>
              <a:rPr sz="2550" spc="-120" dirty="0"/>
              <a:t> </a:t>
            </a:r>
            <a:r>
              <a:rPr sz="2550" spc="80" dirty="0"/>
              <a:t>Security</a:t>
            </a:r>
            <a:endParaRPr sz="2550"/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059721" y="2449944"/>
            <a:ext cx="154895" cy="143080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6056376" y="2673095"/>
            <a:ext cx="8004175" cy="22860"/>
          </a:xfrm>
          <a:custGeom>
            <a:avLst/>
            <a:gdLst/>
            <a:ahLst/>
            <a:cxnLst/>
            <a:rect l="l" t="t" r="r" b="b"/>
            <a:pathLst>
              <a:path w="8004175" h="22860">
                <a:moveTo>
                  <a:pt x="8004047" y="0"/>
                </a:moveTo>
                <a:lnTo>
                  <a:pt x="0" y="0"/>
                </a:lnTo>
                <a:lnTo>
                  <a:pt x="0" y="22860"/>
                </a:lnTo>
                <a:lnTo>
                  <a:pt x="8004047" y="22860"/>
                </a:lnTo>
                <a:lnTo>
                  <a:pt x="8004047" y="0"/>
                </a:lnTo>
                <a:close/>
              </a:path>
            </a:pathLst>
          </a:custGeom>
          <a:solidFill>
            <a:srgbClr val="28282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6043421" y="1805251"/>
            <a:ext cx="7553959" cy="1536700"/>
          </a:xfrm>
          <a:prstGeom prst="rect">
            <a:avLst/>
          </a:prstGeom>
        </p:spPr>
        <p:txBody>
          <a:bodyPr vert="horz" wrap="square" lIns="0" tIns="501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95"/>
              </a:spcBef>
            </a:pPr>
            <a:r>
              <a:rPr sz="1250" spc="20" dirty="0">
                <a:solidFill>
                  <a:srgbClr val="161612"/>
                </a:solidFill>
                <a:latin typeface="Tahoma"/>
                <a:cs typeface="Tahoma"/>
              </a:rPr>
              <a:t>Robust</a:t>
            </a:r>
            <a:r>
              <a:rPr sz="1250" spc="65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1250" spc="20" dirty="0">
                <a:solidFill>
                  <a:srgbClr val="161612"/>
                </a:solidFill>
                <a:latin typeface="Tahoma"/>
                <a:cs typeface="Tahoma"/>
              </a:rPr>
              <a:t>authentication</a:t>
            </a:r>
            <a:r>
              <a:rPr sz="1250" spc="110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1250" spc="20" dirty="0">
                <a:solidFill>
                  <a:srgbClr val="161612"/>
                </a:solidFill>
                <a:latin typeface="Tahoma"/>
                <a:cs typeface="Tahoma"/>
              </a:rPr>
              <a:t>pipeline</a:t>
            </a:r>
            <a:r>
              <a:rPr sz="1250" spc="50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1250" spc="20" dirty="0">
                <a:solidFill>
                  <a:srgbClr val="161612"/>
                </a:solidFill>
                <a:latin typeface="Tahoma"/>
                <a:cs typeface="Tahoma"/>
              </a:rPr>
              <a:t>and</a:t>
            </a:r>
            <a:r>
              <a:rPr sz="1250" spc="65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1250" spc="55" dirty="0">
                <a:solidFill>
                  <a:srgbClr val="161612"/>
                </a:solidFill>
                <a:latin typeface="Tahoma"/>
                <a:cs typeface="Tahoma"/>
              </a:rPr>
              <a:t>defensive</a:t>
            </a:r>
            <a:r>
              <a:rPr sz="1250" spc="65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1250" spc="20" dirty="0">
                <a:solidFill>
                  <a:srgbClr val="161612"/>
                </a:solidFill>
                <a:latin typeface="Tahoma"/>
                <a:cs typeface="Tahoma"/>
              </a:rPr>
              <a:t>controls</a:t>
            </a:r>
            <a:r>
              <a:rPr sz="1250" spc="110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1250" spc="20" dirty="0">
                <a:solidFill>
                  <a:srgbClr val="161612"/>
                </a:solidFill>
                <a:latin typeface="Tahoma"/>
                <a:cs typeface="Tahoma"/>
              </a:rPr>
              <a:t>to</a:t>
            </a:r>
            <a:r>
              <a:rPr sz="1250" spc="65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1250" spc="45" dirty="0">
                <a:solidFill>
                  <a:srgbClr val="161612"/>
                </a:solidFill>
                <a:latin typeface="Tahoma"/>
                <a:cs typeface="Tahoma"/>
              </a:rPr>
              <a:t>protect</a:t>
            </a:r>
            <a:r>
              <a:rPr sz="1250" spc="75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1250" spc="20" dirty="0">
                <a:solidFill>
                  <a:srgbClr val="161612"/>
                </a:solidFill>
                <a:latin typeface="Tahoma"/>
                <a:cs typeface="Tahoma"/>
              </a:rPr>
              <a:t>procurement</a:t>
            </a:r>
            <a:r>
              <a:rPr sz="1250" spc="105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1250" spc="20" dirty="0">
                <a:solidFill>
                  <a:srgbClr val="161612"/>
                </a:solidFill>
                <a:latin typeface="Tahoma"/>
                <a:cs typeface="Tahoma"/>
              </a:rPr>
              <a:t>data</a:t>
            </a:r>
            <a:r>
              <a:rPr sz="1250" spc="60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1250" spc="20" dirty="0">
                <a:solidFill>
                  <a:srgbClr val="161612"/>
                </a:solidFill>
                <a:latin typeface="Tahoma"/>
                <a:cs typeface="Tahoma"/>
              </a:rPr>
              <a:t>and</a:t>
            </a:r>
            <a:r>
              <a:rPr sz="1250" spc="70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1250" spc="55" dirty="0">
                <a:solidFill>
                  <a:srgbClr val="161612"/>
                </a:solidFill>
                <a:latin typeface="Tahoma"/>
                <a:cs typeface="Tahoma"/>
              </a:rPr>
              <a:t>enforce</a:t>
            </a:r>
            <a:r>
              <a:rPr sz="1250" spc="80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1250" spc="-10" dirty="0">
                <a:solidFill>
                  <a:srgbClr val="161612"/>
                </a:solidFill>
                <a:latin typeface="Tahoma"/>
                <a:cs typeface="Tahoma"/>
              </a:rPr>
              <a:t>least</a:t>
            </a:r>
            <a:endParaRPr sz="12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300"/>
              </a:spcBef>
            </a:pPr>
            <a:r>
              <a:rPr sz="1250" spc="-10" dirty="0">
                <a:solidFill>
                  <a:srgbClr val="161612"/>
                </a:solidFill>
                <a:latin typeface="Tahoma"/>
                <a:cs typeface="Tahoma"/>
              </a:rPr>
              <a:t>privilege.</a:t>
            </a:r>
            <a:endParaRPr sz="1250">
              <a:latin typeface="Tahoma"/>
              <a:cs typeface="Tahoma"/>
            </a:endParaRPr>
          </a:p>
          <a:p>
            <a:pPr>
              <a:lnSpc>
                <a:spcPct val="100000"/>
              </a:lnSpc>
            </a:pPr>
            <a:endParaRPr sz="125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025"/>
              </a:spcBef>
            </a:pPr>
            <a:endParaRPr sz="12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sz="1600" spc="-290" dirty="0">
                <a:solidFill>
                  <a:srgbClr val="161612"/>
                </a:solidFill>
                <a:latin typeface="Tahoma"/>
                <a:cs typeface="Tahoma"/>
              </a:rPr>
              <a:t>1.</a:t>
            </a:r>
            <a:r>
              <a:rPr sz="1600" spc="-60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1600" spc="55" dirty="0">
                <a:solidFill>
                  <a:srgbClr val="161612"/>
                </a:solidFill>
                <a:latin typeface="Tahoma"/>
                <a:cs typeface="Tahoma"/>
              </a:rPr>
              <a:t>Credential</a:t>
            </a:r>
            <a:r>
              <a:rPr sz="1600" spc="-30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1600" spc="40" dirty="0">
                <a:solidFill>
                  <a:srgbClr val="161612"/>
                </a:solidFill>
                <a:latin typeface="Tahoma"/>
                <a:cs typeface="Tahoma"/>
              </a:rPr>
              <a:t>Verification</a:t>
            </a:r>
            <a:endParaRPr sz="16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840"/>
              </a:spcBef>
            </a:pPr>
            <a:r>
              <a:rPr sz="1250" spc="70" dirty="0">
                <a:solidFill>
                  <a:srgbClr val="161612"/>
                </a:solidFill>
                <a:latin typeface="Tahoma"/>
                <a:cs typeface="Tahoma"/>
              </a:rPr>
              <a:t>Passwords</a:t>
            </a:r>
            <a:r>
              <a:rPr sz="1250" spc="75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1250" spc="50" dirty="0">
                <a:solidFill>
                  <a:srgbClr val="161612"/>
                </a:solidFill>
                <a:latin typeface="Tahoma"/>
                <a:cs typeface="Tahoma"/>
              </a:rPr>
              <a:t>hashed</a:t>
            </a:r>
            <a:r>
              <a:rPr sz="1250" spc="35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1250" dirty="0">
                <a:solidFill>
                  <a:srgbClr val="161612"/>
                </a:solidFill>
                <a:latin typeface="Tahoma"/>
                <a:cs typeface="Tahoma"/>
              </a:rPr>
              <a:t>with</a:t>
            </a:r>
            <a:r>
              <a:rPr sz="1250" spc="50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1250" dirty="0">
                <a:solidFill>
                  <a:srgbClr val="161612"/>
                </a:solidFill>
                <a:latin typeface="Tahoma"/>
                <a:cs typeface="Tahoma"/>
              </a:rPr>
              <a:t>BCrypt;</a:t>
            </a:r>
            <a:r>
              <a:rPr sz="1250" spc="35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1250" spc="55" dirty="0">
                <a:solidFill>
                  <a:srgbClr val="161612"/>
                </a:solidFill>
                <a:latin typeface="Tahoma"/>
                <a:cs typeface="Tahoma"/>
              </a:rPr>
              <a:t>account</a:t>
            </a:r>
            <a:r>
              <a:rPr sz="1250" spc="75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1250" spc="45" dirty="0">
                <a:solidFill>
                  <a:srgbClr val="161612"/>
                </a:solidFill>
                <a:latin typeface="Tahoma"/>
                <a:cs typeface="Tahoma"/>
              </a:rPr>
              <a:t>lockout</a:t>
            </a:r>
            <a:r>
              <a:rPr sz="1250" spc="70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1250" dirty="0">
                <a:solidFill>
                  <a:srgbClr val="161612"/>
                </a:solidFill>
                <a:latin typeface="Tahoma"/>
                <a:cs typeface="Tahoma"/>
              </a:rPr>
              <a:t>and</a:t>
            </a:r>
            <a:r>
              <a:rPr sz="1250" spc="35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1250" spc="60" dirty="0">
                <a:solidFill>
                  <a:srgbClr val="161612"/>
                </a:solidFill>
                <a:latin typeface="Tahoma"/>
                <a:cs typeface="Tahoma"/>
              </a:rPr>
              <a:t>password </a:t>
            </a:r>
            <a:r>
              <a:rPr sz="1250" spc="55" dirty="0">
                <a:solidFill>
                  <a:srgbClr val="161612"/>
                </a:solidFill>
                <a:latin typeface="Tahoma"/>
                <a:cs typeface="Tahoma"/>
              </a:rPr>
              <a:t>policies</a:t>
            </a:r>
            <a:r>
              <a:rPr sz="1250" spc="35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1250" spc="40" dirty="0">
                <a:solidFill>
                  <a:srgbClr val="161612"/>
                </a:solidFill>
                <a:latin typeface="Tahoma"/>
                <a:cs typeface="Tahoma"/>
              </a:rPr>
              <a:t>enforced.</a:t>
            </a:r>
            <a:endParaRPr sz="1250">
              <a:latin typeface="Tahoma"/>
              <a:cs typeface="Tahoma"/>
            </a:endParaRPr>
          </a:p>
        </p:txBody>
      </p:sp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059652" y="3650373"/>
            <a:ext cx="155015" cy="74066"/>
          </a:xfrm>
          <a:prstGeom prst="rect">
            <a:avLst/>
          </a:prstGeom>
        </p:spPr>
      </p:pic>
      <p:sp>
        <p:nvSpPr>
          <p:cNvPr id="8" name="object 8"/>
          <p:cNvSpPr/>
          <p:nvPr/>
        </p:nvSpPr>
        <p:spPr>
          <a:xfrm>
            <a:off x="6056376" y="3840479"/>
            <a:ext cx="8004175" cy="22860"/>
          </a:xfrm>
          <a:custGeom>
            <a:avLst/>
            <a:gdLst/>
            <a:ahLst/>
            <a:cxnLst/>
            <a:rect l="l" t="t" r="r" b="b"/>
            <a:pathLst>
              <a:path w="8004175" h="22860">
                <a:moveTo>
                  <a:pt x="8004047" y="0"/>
                </a:moveTo>
                <a:lnTo>
                  <a:pt x="0" y="0"/>
                </a:lnTo>
                <a:lnTo>
                  <a:pt x="0" y="22860"/>
                </a:lnTo>
                <a:lnTo>
                  <a:pt x="8004047" y="22860"/>
                </a:lnTo>
                <a:lnTo>
                  <a:pt x="8004047" y="0"/>
                </a:lnTo>
                <a:close/>
              </a:path>
            </a:pathLst>
          </a:custGeom>
          <a:solidFill>
            <a:srgbClr val="28282E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9" name="object 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070206" y="4776604"/>
            <a:ext cx="133951" cy="156247"/>
          </a:xfrm>
          <a:prstGeom prst="rect">
            <a:avLst/>
          </a:prstGeom>
        </p:spPr>
      </p:pic>
      <p:sp>
        <p:nvSpPr>
          <p:cNvPr id="10" name="object 10"/>
          <p:cNvSpPr/>
          <p:nvPr/>
        </p:nvSpPr>
        <p:spPr>
          <a:xfrm>
            <a:off x="6056376" y="5006340"/>
            <a:ext cx="8004175" cy="22860"/>
          </a:xfrm>
          <a:custGeom>
            <a:avLst/>
            <a:gdLst/>
            <a:ahLst/>
            <a:cxnLst/>
            <a:rect l="l" t="t" r="r" b="b"/>
            <a:pathLst>
              <a:path w="8004175" h="22860">
                <a:moveTo>
                  <a:pt x="8004047" y="0"/>
                </a:moveTo>
                <a:lnTo>
                  <a:pt x="0" y="0"/>
                </a:lnTo>
                <a:lnTo>
                  <a:pt x="0" y="22860"/>
                </a:lnTo>
                <a:lnTo>
                  <a:pt x="8004047" y="22860"/>
                </a:lnTo>
                <a:lnTo>
                  <a:pt x="8004047" y="0"/>
                </a:lnTo>
                <a:close/>
              </a:path>
            </a:pathLst>
          </a:custGeom>
          <a:solidFill>
            <a:srgbClr val="28282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48590" rIns="0" bIns="0" rtlCol="0">
            <a:spAutoFit/>
          </a:bodyPr>
          <a:lstStyle/>
          <a:p>
            <a:pPr marL="222885" indent="-210185">
              <a:lnSpc>
                <a:spcPct val="100000"/>
              </a:lnSpc>
              <a:spcBef>
                <a:spcPts val="1170"/>
              </a:spcBef>
              <a:buAutoNum type="arabicPeriod" startAt="2"/>
              <a:tabLst>
                <a:tab pos="222885" algn="l"/>
              </a:tabLst>
            </a:pPr>
            <a:r>
              <a:rPr spc="60" dirty="0"/>
              <a:t>JWT</a:t>
            </a:r>
            <a:r>
              <a:rPr spc="-65" dirty="0"/>
              <a:t> </a:t>
            </a:r>
            <a:r>
              <a:rPr spc="-10" dirty="0"/>
              <a:t>Issuance</a:t>
            </a:r>
          </a:p>
          <a:p>
            <a:pPr marL="12700">
              <a:lnSpc>
                <a:spcPct val="100000"/>
              </a:lnSpc>
              <a:spcBef>
                <a:spcPts val="840"/>
              </a:spcBef>
            </a:pPr>
            <a:r>
              <a:rPr sz="1250" spc="55" dirty="0"/>
              <a:t>Signed</a:t>
            </a:r>
            <a:r>
              <a:rPr sz="1250" spc="35" dirty="0"/>
              <a:t> </a:t>
            </a:r>
            <a:r>
              <a:rPr sz="1250" spc="120" dirty="0"/>
              <a:t>JWT</a:t>
            </a:r>
            <a:r>
              <a:rPr sz="1250" spc="80" dirty="0"/>
              <a:t> </a:t>
            </a:r>
            <a:r>
              <a:rPr sz="1250" spc="50" dirty="0"/>
              <a:t>tokens</a:t>
            </a:r>
            <a:r>
              <a:rPr sz="1250" spc="80" dirty="0"/>
              <a:t> </a:t>
            </a:r>
            <a:r>
              <a:rPr sz="1250" spc="45" dirty="0"/>
              <a:t>include</a:t>
            </a:r>
            <a:r>
              <a:rPr sz="1250" spc="60" dirty="0"/>
              <a:t> </a:t>
            </a:r>
            <a:r>
              <a:rPr sz="1250" dirty="0"/>
              <a:t>role</a:t>
            </a:r>
            <a:r>
              <a:rPr sz="1250" spc="70" dirty="0"/>
              <a:t> </a:t>
            </a:r>
            <a:r>
              <a:rPr sz="1250" dirty="0"/>
              <a:t>claims;</a:t>
            </a:r>
            <a:r>
              <a:rPr sz="1250" spc="80" dirty="0"/>
              <a:t> </a:t>
            </a:r>
            <a:r>
              <a:rPr sz="1250" dirty="0"/>
              <a:t>short-lived</a:t>
            </a:r>
            <a:r>
              <a:rPr sz="1250" spc="65" dirty="0"/>
              <a:t> </a:t>
            </a:r>
            <a:r>
              <a:rPr sz="1250" spc="50" dirty="0"/>
              <a:t>tokens</a:t>
            </a:r>
            <a:r>
              <a:rPr sz="1250" spc="75" dirty="0"/>
              <a:t> </a:t>
            </a:r>
            <a:r>
              <a:rPr sz="1250" dirty="0"/>
              <a:t>with</a:t>
            </a:r>
            <a:r>
              <a:rPr sz="1250" spc="55" dirty="0"/>
              <a:t> </a:t>
            </a:r>
            <a:r>
              <a:rPr sz="1250" spc="45" dirty="0"/>
              <a:t>refresh</a:t>
            </a:r>
            <a:r>
              <a:rPr sz="1250" spc="60" dirty="0"/>
              <a:t> flows</a:t>
            </a:r>
            <a:r>
              <a:rPr sz="1250" spc="85" dirty="0"/>
              <a:t> </a:t>
            </a:r>
            <a:r>
              <a:rPr sz="1250" spc="35" dirty="0"/>
              <a:t>possible.</a:t>
            </a:r>
            <a:endParaRPr sz="1250"/>
          </a:p>
          <a:p>
            <a:pPr>
              <a:lnSpc>
                <a:spcPct val="100000"/>
              </a:lnSpc>
            </a:pPr>
            <a:endParaRPr sz="1250"/>
          </a:p>
          <a:p>
            <a:pPr>
              <a:lnSpc>
                <a:spcPct val="100000"/>
              </a:lnSpc>
            </a:pPr>
            <a:endParaRPr sz="1250"/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sz="1250"/>
          </a:p>
          <a:p>
            <a:pPr marL="225425" indent="-212725">
              <a:lnSpc>
                <a:spcPct val="100000"/>
              </a:lnSpc>
              <a:buAutoNum type="arabicPeriod" startAt="3"/>
              <a:tabLst>
                <a:tab pos="225425" algn="l"/>
              </a:tabLst>
            </a:pPr>
            <a:r>
              <a:rPr spc="55" dirty="0"/>
              <a:t>Request</a:t>
            </a:r>
            <a:r>
              <a:rPr spc="-60" dirty="0"/>
              <a:t> </a:t>
            </a:r>
            <a:r>
              <a:rPr spc="35" dirty="0"/>
              <a:t>Validation</a:t>
            </a:r>
          </a:p>
          <a:p>
            <a:pPr marL="12700">
              <a:lnSpc>
                <a:spcPct val="100000"/>
              </a:lnSpc>
              <a:spcBef>
                <a:spcPts val="840"/>
              </a:spcBef>
            </a:pPr>
            <a:r>
              <a:rPr sz="1250" spc="120" dirty="0"/>
              <a:t>JWT</a:t>
            </a:r>
            <a:r>
              <a:rPr sz="1250" spc="85" dirty="0"/>
              <a:t> </a:t>
            </a:r>
            <a:r>
              <a:rPr sz="1250" spc="10" dirty="0"/>
              <a:t>filter</a:t>
            </a:r>
            <a:r>
              <a:rPr sz="1250" spc="75" dirty="0"/>
              <a:t> </a:t>
            </a:r>
            <a:r>
              <a:rPr sz="1250" spc="10" dirty="0"/>
              <a:t>validates</a:t>
            </a:r>
            <a:r>
              <a:rPr sz="1250" spc="70" dirty="0"/>
              <a:t> </a:t>
            </a:r>
            <a:r>
              <a:rPr sz="1250" spc="50" dirty="0"/>
              <a:t>tokens</a:t>
            </a:r>
            <a:r>
              <a:rPr sz="1250" spc="90" dirty="0"/>
              <a:t> </a:t>
            </a:r>
            <a:r>
              <a:rPr sz="1250" spc="50" dirty="0"/>
              <a:t>per</a:t>
            </a:r>
            <a:r>
              <a:rPr sz="1250" spc="40" dirty="0"/>
              <a:t> </a:t>
            </a:r>
            <a:r>
              <a:rPr sz="1250" spc="10" dirty="0"/>
              <a:t>request;</a:t>
            </a:r>
            <a:r>
              <a:rPr sz="1250" spc="65" dirty="0"/>
              <a:t> </a:t>
            </a:r>
            <a:r>
              <a:rPr sz="1250" spc="55" dirty="0"/>
              <a:t>role-</a:t>
            </a:r>
            <a:r>
              <a:rPr sz="1250" spc="70" dirty="0"/>
              <a:t>based</a:t>
            </a:r>
            <a:r>
              <a:rPr sz="1250" spc="50" dirty="0"/>
              <a:t> </a:t>
            </a:r>
            <a:r>
              <a:rPr sz="1250" spc="10" dirty="0"/>
              <a:t>authorization</a:t>
            </a:r>
            <a:r>
              <a:rPr sz="1250" spc="130" dirty="0"/>
              <a:t> </a:t>
            </a:r>
            <a:r>
              <a:rPr sz="1250" spc="10" dirty="0"/>
              <a:t>on</a:t>
            </a:r>
            <a:r>
              <a:rPr sz="1250" spc="70" dirty="0"/>
              <a:t> </a:t>
            </a:r>
            <a:r>
              <a:rPr sz="1250" spc="-10" dirty="0"/>
              <a:t>endpoints.</a:t>
            </a:r>
            <a:endParaRPr sz="1250"/>
          </a:p>
        </p:txBody>
      </p:sp>
      <p:pic>
        <p:nvPicPr>
          <p:cNvPr id="12" name="object 12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6059742" y="5942929"/>
            <a:ext cx="154874" cy="155318"/>
          </a:xfrm>
          <a:prstGeom prst="rect">
            <a:avLst/>
          </a:prstGeom>
        </p:spPr>
      </p:pic>
      <p:sp>
        <p:nvSpPr>
          <p:cNvPr id="13" name="object 13"/>
          <p:cNvSpPr/>
          <p:nvPr/>
        </p:nvSpPr>
        <p:spPr>
          <a:xfrm>
            <a:off x="6056376" y="6172200"/>
            <a:ext cx="8004175" cy="22860"/>
          </a:xfrm>
          <a:custGeom>
            <a:avLst/>
            <a:gdLst/>
            <a:ahLst/>
            <a:cxnLst/>
            <a:rect l="l" t="t" r="r" b="b"/>
            <a:pathLst>
              <a:path w="8004175" h="22860">
                <a:moveTo>
                  <a:pt x="8004047" y="0"/>
                </a:moveTo>
                <a:lnTo>
                  <a:pt x="0" y="0"/>
                </a:lnTo>
                <a:lnTo>
                  <a:pt x="0" y="22860"/>
                </a:lnTo>
                <a:lnTo>
                  <a:pt x="8004047" y="22860"/>
                </a:lnTo>
                <a:lnTo>
                  <a:pt x="8004047" y="0"/>
                </a:lnTo>
                <a:close/>
              </a:path>
            </a:pathLst>
          </a:custGeom>
          <a:solidFill>
            <a:srgbClr val="28282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6043421" y="6138807"/>
            <a:ext cx="6890384" cy="702945"/>
          </a:xfrm>
          <a:prstGeom prst="rect">
            <a:avLst/>
          </a:prstGeom>
        </p:spPr>
        <p:txBody>
          <a:bodyPr vert="horz" wrap="square" lIns="0" tIns="1492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75"/>
              </a:spcBef>
            </a:pPr>
            <a:r>
              <a:rPr sz="1600" spc="-30" dirty="0">
                <a:solidFill>
                  <a:srgbClr val="161612"/>
                </a:solidFill>
                <a:latin typeface="Tahoma"/>
                <a:cs typeface="Tahoma"/>
              </a:rPr>
              <a:t>4.</a:t>
            </a:r>
            <a:r>
              <a:rPr sz="1600" spc="130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1600" dirty="0">
                <a:solidFill>
                  <a:srgbClr val="161612"/>
                </a:solidFill>
                <a:latin typeface="Tahoma"/>
                <a:cs typeface="Tahoma"/>
              </a:rPr>
              <a:t>Defensive</a:t>
            </a:r>
            <a:r>
              <a:rPr sz="1600" spc="135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1600" spc="60" dirty="0">
                <a:solidFill>
                  <a:srgbClr val="161612"/>
                </a:solidFill>
                <a:latin typeface="Tahoma"/>
                <a:cs typeface="Tahoma"/>
              </a:rPr>
              <a:t>Practices</a:t>
            </a:r>
            <a:endParaRPr sz="16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840"/>
              </a:spcBef>
            </a:pPr>
            <a:r>
              <a:rPr sz="1250" spc="85" dirty="0">
                <a:solidFill>
                  <a:srgbClr val="161612"/>
                </a:solidFill>
                <a:latin typeface="Tahoma"/>
                <a:cs typeface="Tahoma"/>
              </a:rPr>
              <a:t>CORS </a:t>
            </a:r>
            <a:r>
              <a:rPr sz="1250" spc="10" dirty="0">
                <a:solidFill>
                  <a:srgbClr val="161612"/>
                </a:solidFill>
                <a:latin typeface="Tahoma"/>
                <a:cs typeface="Tahoma"/>
              </a:rPr>
              <a:t>configuration,</a:t>
            </a:r>
            <a:r>
              <a:rPr sz="1250" spc="160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1250" spc="10" dirty="0">
                <a:solidFill>
                  <a:srgbClr val="161612"/>
                </a:solidFill>
                <a:latin typeface="Tahoma"/>
                <a:cs typeface="Tahoma"/>
              </a:rPr>
              <a:t>input</a:t>
            </a:r>
            <a:r>
              <a:rPr sz="1250" spc="105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1250" spc="10" dirty="0">
                <a:solidFill>
                  <a:srgbClr val="161612"/>
                </a:solidFill>
                <a:latin typeface="Tahoma"/>
                <a:cs typeface="Tahoma"/>
              </a:rPr>
              <a:t>validation,</a:t>
            </a:r>
            <a:r>
              <a:rPr sz="1250" spc="130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1250" spc="45" dirty="0">
                <a:solidFill>
                  <a:srgbClr val="161612"/>
                </a:solidFill>
                <a:latin typeface="Tahoma"/>
                <a:cs typeface="Tahoma"/>
              </a:rPr>
              <a:t>parameterized</a:t>
            </a:r>
            <a:r>
              <a:rPr sz="1250" spc="110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1250" spc="10" dirty="0">
                <a:solidFill>
                  <a:srgbClr val="161612"/>
                </a:solidFill>
                <a:latin typeface="Tahoma"/>
                <a:cs typeface="Tahoma"/>
              </a:rPr>
              <a:t>queries,</a:t>
            </a:r>
            <a:r>
              <a:rPr sz="1250" spc="100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1250" spc="10" dirty="0">
                <a:solidFill>
                  <a:srgbClr val="161612"/>
                </a:solidFill>
                <a:latin typeface="Tahoma"/>
                <a:cs typeface="Tahoma"/>
              </a:rPr>
              <a:t>and</a:t>
            </a:r>
            <a:r>
              <a:rPr sz="1250" spc="110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1250" spc="10" dirty="0">
                <a:solidFill>
                  <a:srgbClr val="161612"/>
                </a:solidFill>
                <a:latin typeface="Tahoma"/>
                <a:cs typeface="Tahoma"/>
              </a:rPr>
              <a:t>global</a:t>
            </a:r>
            <a:r>
              <a:rPr sz="1250" spc="85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1250" spc="50" dirty="0">
                <a:solidFill>
                  <a:srgbClr val="161612"/>
                </a:solidFill>
                <a:latin typeface="Tahoma"/>
                <a:cs typeface="Tahoma"/>
              </a:rPr>
              <a:t>exception</a:t>
            </a:r>
            <a:r>
              <a:rPr sz="1250" spc="95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1250" spc="-10" dirty="0">
                <a:solidFill>
                  <a:srgbClr val="161612"/>
                </a:solidFill>
                <a:latin typeface="Tahoma"/>
                <a:cs typeface="Tahoma"/>
              </a:rPr>
              <a:t>handling.</a:t>
            </a:r>
            <a:endParaRPr sz="1250">
              <a:latin typeface="Tahoma"/>
              <a:cs typeface="Tahoma"/>
            </a:endParaRPr>
          </a:p>
        </p:txBody>
      </p:sp>
      <p:pic>
        <p:nvPicPr>
          <p:cNvPr id="15" name="object 15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2886943" y="7543798"/>
            <a:ext cx="1743455" cy="57149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144000" y="-1"/>
            <a:ext cx="5486400" cy="8229599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81304" y="1222679"/>
            <a:ext cx="6547484" cy="1168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5600"/>
              </a:lnSpc>
              <a:spcBef>
                <a:spcPts val="100"/>
              </a:spcBef>
            </a:pPr>
            <a:r>
              <a:rPr sz="3550" spc="135" dirty="0"/>
              <a:t>Procurement</a:t>
            </a:r>
            <a:r>
              <a:rPr sz="3550" spc="-190" dirty="0"/>
              <a:t> </a:t>
            </a:r>
            <a:r>
              <a:rPr sz="3550" spc="95" dirty="0"/>
              <a:t>Workflow</a:t>
            </a:r>
            <a:r>
              <a:rPr sz="3550" spc="-165" dirty="0"/>
              <a:t> </a:t>
            </a:r>
            <a:r>
              <a:rPr sz="3550" spc="-130" dirty="0"/>
              <a:t>—</a:t>
            </a:r>
            <a:r>
              <a:rPr sz="3550" spc="-140" dirty="0"/>
              <a:t> </a:t>
            </a:r>
            <a:r>
              <a:rPr sz="3550" spc="80" dirty="0"/>
              <a:t>From </a:t>
            </a:r>
            <a:r>
              <a:rPr sz="3550" spc="100" dirty="0"/>
              <a:t>Requisition</a:t>
            </a:r>
            <a:r>
              <a:rPr sz="3550" spc="-195" dirty="0"/>
              <a:t> </a:t>
            </a:r>
            <a:r>
              <a:rPr sz="3550" spc="185" dirty="0"/>
              <a:t>to</a:t>
            </a:r>
            <a:r>
              <a:rPr sz="3550" spc="-160" dirty="0"/>
              <a:t> </a:t>
            </a:r>
            <a:r>
              <a:rPr sz="3550" spc="120" dirty="0"/>
              <a:t>Closure</a:t>
            </a:r>
            <a:endParaRPr sz="3550"/>
          </a:p>
        </p:txBody>
      </p:sp>
      <p:grpSp>
        <p:nvGrpSpPr>
          <p:cNvPr id="4" name="object 4"/>
          <p:cNvGrpSpPr/>
          <p:nvPr/>
        </p:nvGrpSpPr>
        <p:grpSpPr>
          <a:xfrm>
            <a:off x="794004" y="2761488"/>
            <a:ext cx="7556500" cy="2836545"/>
            <a:chOff x="794004" y="2761488"/>
            <a:chExt cx="7556500" cy="2836545"/>
          </a:xfrm>
        </p:grpSpPr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94004" y="2761488"/>
              <a:ext cx="7555992" cy="2836164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7310066" y="3499997"/>
              <a:ext cx="263525" cy="358140"/>
            </a:xfrm>
            <a:custGeom>
              <a:avLst/>
              <a:gdLst/>
              <a:ahLst/>
              <a:cxnLst/>
              <a:rect l="l" t="t" r="r" b="b"/>
              <a:pathLst>
                <a:path w="263525" h="358139">
                  <a:moveTo>
                    <a:pt x="245948" y="48591"/>
                  </a:moveTo>
                  <a:lnTo>
                    <a:pt x="263130" y="65680"/>
                  </a:lnTo>
                  <a:lnTo>
                    <a:pt x="263194" y="68147"/>
                  </a:lnTo>
                </a:path>
                <a:path w="263525" h="358139">
                  <a:moveTo>
                    <a:pt x="199099" y="48495"/>
                  </a:moveTo>
                  <a:lnTo>
                    <a:pt x="180106" y="41010"/>
                  </a:lnTo>
                  <a:lnTo>
                    <a:pt x="171031" y="40788"/>
                  </a:lnTo>
                </a:path>
                <a:path w="263525" h="358139">
                  <a:moveTo>
                    <a:pt x="92616" y="40693"/>
                  </a:moveTo>
                  <a:lnTo>
                    <a:pt x="87439" y="41073"/>
                  </a:lnTo>
                  <a:lnTo>
                    <a:pt x="79062" y="41137"/>
                  </a:lnTo>
                  <a:lnTo>
                    <a:pt x="73606" y="42152"/>
                  </a:lnTo>
                  <a:lnTo>
                    <a:pt x="71167" y="43040"/>
                  </a:lnTo>
                  <a:lnTo>
                    <a:pt x="68566" y="44562"/>
                  </a:lnTo>
                  <a:lnTo>
                    <a:pt x="64103" y="48527"/>
                  </a:lnTo>
                </a:path>
                <a:path w="263525" h="358139">
                  <a:moveTo>
                    <a:pt x="22419" y="357884"/>
                  </a:moveTo>
                  <a:lnTo>
                    <a:pt x="159" y="337199"/>
                  </a:lnTo>
                  <a:lnTo>
                    <a:pt x="152" y="327557"/>
                  </a:lnTo>
                </a:path>
                <a:path w="263525" h="358139">
                  <a:moveTo>
                    <a:pt x="110011" y="248581"/>
                  </a:moveTo>
                  <a:lnTo>
                    <a:pt x="204562" y="145068"/>
                  </a:lnTo>
                </a:path>
                <a:path w="263525" h="358139">
                  <a:moveTo>
                    <a:pt x="66448" y="201706"/>
                  </a:moveTo>
                  <a:lnTo>
                    <a:pt x="110011" y="248581"/>
                  </a:lnTo>
                </a:path>
                <a:path w="263525" h="358139">
                  <a:moveTo>
                    <a:pt x="61804" y="50747"/>
                  </a:moveTo>
                  <a:lnTo>
                    <a:pt x="60364" y="82125"/>
                  </a:lnTo>
                </a:path>
                <a:path w="263525" h="358139">
                  <a:moveTo>
                    <a:pt x="202579" y="82258"/>
                  </a:moveTo>
                  <a:lnTo>
                    <a:pt x="60364" y="82125"/>
                  </a:lnTo>
                </a:path>
                <a:path w="263525" h="358139">
                  <a:moveTo>
                    <a:pt x="202579" y="82258"/>
                  </a:moveTo>
                  <a:lnTo>
                    <a:pt x="201326" y="50811"/>
                  </a:lnTo>
                </a:path>
                <a:path w="263525" h="358139">
                  <a:moveTo>
                    <a:pt x="171126" y="40788"/>
                  </a:moveTo>
                  <a:lnTo>
                    <a:pt x="168595" y="25361"/>
                  </a:lnTo>
                  <a:lnTo>
                    <a:pt x="160620" y="12544"/>
                  </a:lnTo>
                  <a:lnTo>
                    <a:pt x="148422" y="3652"/>
                  </a:lnTo>
                  <a:lnTo>
                    <a:pt x="133219" y="0"/>
                  </a:lnTo>
                  <a:lnTo>
                    <a:pt x="117791" y="2532"/>
                  </a:lnTo>
                  <a:lnTo>
                    <a:pt x="92435" y="37902"/>
                  </a:lnTo>
                  <a:lnTo>
                    <a:pt x="92400" y="39773"/>
                  </a:lnTo>
                  <a:lnTo>
                    <a:pt x="92435" y="40693"/>
                  </a:lnTo>
                </a:path>
                <a:path w="263525" h="358139">
                  <a:moveTo>
                    <a:pt x="263448" y="338725"/>
                  </a:moveTo>
                  <a:lnTo>
                    <a:pt x="261553" y="346485"/>
                  </a:lnTo>
                  <a:lnTo>
                    <a:pt x="256984" y="352699"/>
                  </a:lnTo>
                  <a:lnTo>
                    <a:pt x="250416" y="356747"/>
                  </a:lnTo>
                  <a:lnTo>
                    <a:pt x="242526" y="358009"/>
                  </a:lnTo>
                  <a:lnTo>
                    <a:pt x="241327" y="357960"/>
                  </a:lnTo>
                  <a:lnTo>
                    <a:pt x="240135" y="357804"/>
                  </a:lnTo>
                  <a:lnTo>
                    <a:pt x="238964" y="357543"/>
                  </a:lnTo>
                </a:path>
                <a:path w="263525" h="358139">
                  <a:moveTo>
                    <a:pt x="200939" y="48495"/>
                  </a:moveTo>
                  <a:lnTo>
                    <a:pt x="245948" y="48591"/>
                  </a:lnTo>
                </a:path>
                <a:path w="263525" h="358139">
                  <a:moveTo>
                    <a:pt x="238885" y="357894"/>
                  </a:moveTo>
                  <a:lnTo>
                    <a:pt x="22419" y="357884"/>
                  </a:lnTo>
                </a:path>
                <a:path w="263525" h="358139">
                  <a:moveTo>
                    <a:pt x="263194" y="68147"/>
                  </a:moveTo>
                  <a:lnTo>
                    <a:pt x="263290" y="338719"/>
                  </a:lnTo>
                </a:path>
                <a:path w="263525" h="358139">
                  <a:moveTo>
                    <a:pt x="152" y="327557"/>
                  </a:moveTo>
                  <a:lnTo>
                    <a:pt x="152" y="68975"/>
                  </a:lnTo>
                </a:path>
                <a:path w="263525" h="358139">
                  <a:moveTo>
                    <a:pt x="0" y="68985"/>
                  </a:moveTo>
                  <a:lnTo>
                    <a:pt x="20557" y="48146"/>
                  </a:lnTo>
                  <a:lnTo>
                    <a:pt x="22904" y="48432"/>
                  </a:lnTo>
                  <a:lnTo>
                    <a:pt x="25146" y="49130"/>
                  </a:lnTo>
                </a:path>
                <a:path w="263525" h="358139">
                  <a:moveTo>
                    <a:pt x="25327" y="48527"/>
                  </a:moveTo>
                  <a:lnTo>
                    <a:pt x="62134" y="48527"/>
                  </a:lnTo>
                </a:path>
              </a:pathLst>
            </a:custGeom>
            <a:ln w="15850">
              <a:solidFill>
                <a:srgbClr val="16161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6930643" y="4886959"/>
            <a:ext cx="1077595" cy="2324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350" dirty="0">
                <a:solidFill>
                  <a:srgbClr val="161612"/>
                </a:solidFill>
                <a:latin typeface="Tahoma"/>
                <a:cs typeface="Tahoma"/>
              </a:rPr>
              <a:t>Fulfill</a:t>
            </a:r>
            <a:r>
              <a:rPr sz="1350" spc="-40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1350" spc="80" dirty="0">
                <a:solidFill>
                  <a:srgbClr val="161612"/>
                </a:solidFill>
                <a:latin typeface="Tahoma"/>
                <a:cs typeface="Tahoma"/>
              </a:rPr>
              <a:t>&amp;</a:t>
            </a:r>
            <a:r>
              <a:rPr sz="1350" spc="-55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1350" spc="45" dirty="0">
                <a:solidFill>
                  <a:srgbClr val="161612"/>
                </a:solidFill>
                <a:latin typeface="Tahoma"/>
                <a:cs typeface="Tahoma"/>
              </a:rPr>
              <a:t>Audit</a:t>
            </a:r>
            <a:endParaRPr sz="1350">
              <a:latin typeface="Tahoma"/>
              <a:cs typeface="Tahoma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1532233" y="3493588"/>
            <a:ext cx="4668520" cy="374015"/>
            <a:chOff x="1532233" y="3493588"/>
            <a:chExt cx="4668520" cy="374015"/>
          </a:xfrm>
        </p:grpSpPr>
        <p:sp>
          <p:nvSpPr>
            <p:cNvPr id="9" name="object 9"/>
            <p:cNvSpPr/>
            <p:nvPr/>
          </p:nvSpPr>
          <p:spPr>
            <a:xfrm>
              <a:off x="6075761" y="3719416"/>
              <a:ext cx="76200" cy="76835"/>
            </a:xfrm>
            <a:custGeom>
              <a:avLst/>
              <a:gdLst/>
              <a:ahLst/>
              <a:cxnLst/>
              <a:rect l="l" t="t" r="r" b="b"/>
              <a:pathLst>
                <a:path w="76200" h="76835">
                  <a:moveTo>
                    <a:pt x="75570" y="30933"/>
                  </a:moveTo>
                  <a:lnTo>
                    <a:pt x="46341" y="678"/>
                  </a:lnTo>
                  <a:lnTo>
                    <a:pt x="41808" y="0"/>
                  </a:lnTo>
                  <a:lnTo>
                    <a:pt x="36895" y="12"/>
                  </a:lnTo>
                  <a:lnTo>
                    <a:pt x="31166" y="739"/>
                  </a:lnTo>
                  <a:lnTo>
                    <a:pt x="25787" y="2169"/>
                  </a:lnTo>
                  <a:lnTo>
                    <a:pt x="22063" y="3723"/>
                  </a:lnTo>
                  <a:lnTo>
                    <a:pt x="18530" y="5674"/>
                  </a:lnTo>
                  <a:lnTo>
                    <a:pt x="5617" y="15106"/>
                  </a:lnTo>
                </a:path>
                <a:path w="76200" h="76835">
                  <a:moveTo>
                    <a:pt x="75570" y="30933"/>
                  </a:moveTo>
                  <a:lnTo>
                    <a:pt x="60757" y="68334"/>
                  </a:lnTo>
                  <a:lnTo>
                    <a:pt x="37418" y="76629"/>
                  </a:lnTo>
                  <a:lnTo>
                    <a:pt x="33584" y="76410"/>
                  </a:lnTo>
                  <a:lnTo>
                    <a:pt x="2899" y="50988"/>
                  </a:lnTo>
                  <a:lnTo>
                    <a:pt x="1107" y="43354"/>
                  </a:lnTo>
                  <a:lnTo>
                    <a:pt x="0" y="32304"/>
                  </a:lnTo>
                </a:path>
              </a:pathLst>
            </a:custGeom>
            <a:ln w="15859">
              <a:solidFill>
                <a:srgbClr val="16161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875529" y="3711226"/>
              <a:ext cx="93545" cy="92345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5834760" y="3565140"/>
              <a:ext cx="358140" cy="186690"/>
            </a:xfrm>
            <a:custGeom>
              <a:avLst/>
              <a:gdLst/>
              <a:ahLst/>
              <a:cxnLst/>
              <a:rect l="l" t="t" r="r" b="b"/>
              <a:pathLst>
                <a:path w="358139" h="186689">
                  <a:moveTo>
                    <a:pt x="316571" y="185210"/>
                  </a:moveTo>
                  <a:lnTo>
                    <a:pt x="355617" y="174134"/>
                  </a:lnTo>
                  <a:lnTo>
                    <a:pt x="357583" y="168136"/>
                  </a:lnTo>
                  <a:lnTo>
                    <a:pt x="357964" y="162303"/>
                  </a:lnTo>
                </a:path>
                <a:path w="358139" h="186689">
                  <a:moveTo>
                    <a:pt x="245650" y="174873"/>
                  </a:moveTo>
                  <a:lnTo>
                    <a:pt x="243588" y="186580"/>
                  </a:lnTo>
                </a:path>
                <a:path w="358139" h="186689">
                  <a:moveTo>
                    <a:pt x="357900" y="104020"/>
                  </a:moveTo>
                  <a:lnTo>
                    <a:pt x="304073" y="103848"/>
                  </a:lnTo>
                </a:path>
                <a:path w="358139" h="186689">
                  <a:moveTo>
                    <a:pt x="244609" y="608"/>
                  </a:moveTo>
                  <a:lnTo>
                    <a:pt x="245653" y="170106"/>
                  </a:lnTo>
                </a:path>
                <a:path w="358139" h="186689">
                  <a:moveTo>
                    <a:pt x="244609" y="608"/>
                  </a:moveTo>
                  <a:lnTo>
                    <a:pt x="0" y="0"/>
                  </a:lnTo>
                </a:path>
                <a:path w="358139" h="186689">
                  <a:moveTo>
                    <a:pt x="241000" y="186580"/>
                  </a:moveTo>
                  <a:lnTo>
                    <a:pt x="126384" y="186542"/>
                  </a:lnTo>
                </a:path>
                <a:path w="358139" h="186689">
                  <a:moveTo>
                    <a:pt x="48698" y="186672"/>
                  </a:moveTo>
                  <a:lnTo>
                    <a:pt x="237" y="185743"/>
                  </a:lnTo>
                  <a:lnTo>
                    <a:pt x="0" y="0"/>
                  </a:lnTo>
                </a:path>
              </a:pathLst>
            </a:custGeom>
            <a:ln w="15859">
              <a:solidFill>
                <a:srgbClr val="16161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072567" y="3591382"/>
              <a:ext cx="128150" cy="143991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412029" y="3493592"/>
              <a:ext cx="344489" cy="373876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2990317" y="3501521"/>
              <a:ext cx="332105" cy="358140"/>
            </a:xfrm>
            <a:custGeom>
              <a:avLst/>
              <a:gdLst/>
              <a:ahLst/>
              <a:cxnLst/>
              <a:rect l="l" t="t" r="r" b="b"/>
              <a:pathLst>
                <a:path w="332104" h="358139">
                  <a:moveTo>
                    <a:pt x="45801" y="335613"/>
                  </a:moveTo>
                  <a:lnTo>
                    <a:pt x="9946" y="319866"/>
                  </a:lnTo>
                  <a:lnTo>
                    <a:pt x="46" y="294460"/>
                  </a:lnTo>
                  <a:lnTo>
                    <a:pt x="0" y="279267"/>
                  </a:lnTo>
                </a:path>
                <a:path w="332104" h="358139">
                  <a:moveTo>
                    <a:pt x="7" y="50557"/>
                  </a:moveTo>
                  <a:lnTo>
                    <a:pt x="15278" y="10530"/>
                  </a:lnTo>
                  <a:lnTo>
                    <a:pt x="62136" y="28"/>
                  </a:lnTo>
                  <a:lnTo>
                    <a:pt x="76625" y="0"/>
                  </a:lnTo>
                </a:path>
                <a:path w="332104" h="358139">
                  <a:moveTo>
                    <a:pt x="231886" y="63"/>
                  </a:moveTo>
                  <a:lnTo>
                    <a:pt x="268779" y="16968"/>
                  </a:lnTo>
                  <a:lnTo>
                    <a:pt x="277675" y="49531"/>
                  </a:lnTo>
                  <a:lnTo>
                    <a:pt x="277762" y="61128"/>
                  </a:lnTo>
                </a:path>
                <a:path w="332104" h="358139">
                  <a:moveTo>
                    <a:pt x="153205" y="335467"/>
                  </a:moveTo>
                  <a:lnTo>
                    <a:pt x="45801" y="335613"/>
                  </a:lnTo>
                </a:path>
                <a:path w="332104" h="358139">
                  <a:moveTo>
                    <a:pt x="62583" y="108784"/>
                  </a:moveTo>
                  <a:lnTo>
                    <a:pt x="214520" y="108787"/>
                  </a:lnTo>
                </a:path>
                <a:path w="332104" h="358139">
                  <a:moveTo>
                    <a:pt x="61924" y="176713"/>
                  </a:moveTo>
                  <a:lnTo>
                    <a:pt x="162780" y="176646"/>
                  </a:lnTo>
                </a:path>
                <a:path w="332104" h="358139">
                  <a:moveTo>
                    <a:pt x="319754" y="283023"/>
                  </a:moveTo>
                  <a:lnTo>
                    <a:pt x="313861" y="312211"/>
                  </a:lnTo>
                  <a:lnTo>
                    <a:pt x="297790" y="336046"/>
                  </a:lnTo>
                  <a:lnTo>
                    <a:pt x="273953" y="352116"/>
                  </a:lnTo>
                  <a:lnTo>
                    <a:pt x="244761" y="358009"/>
                  </a:lnTo>
                  <a:lnTo>
                    <a:pt x="215572" y="352116"/>
                  </a:lnTo>
                  <a:lnTo>
                    <a:pt x="191736" y="336046"/>
                  </a:lnTo>
                  <a:lnTo>
                    <a:pt x="175665" y="312211"/>
                  </a:lnTo>
                  <a:lnTo>
                    <a:pt x="169771" y="283023"/>
                  </a:lnTo>
                  <a:lnTo>
                    <a:pt x="175665" y="253833"/>
                  </a:lnTo>
                  <a:lnTo>
                    <a:pt x="191736" y="229997"/>
                  </a:lnTo>
                  <a:lnTo>
                    <a:pt x="215572" y="213926"/>
                  </a:lnTo>
                  <a:lnTo>
                    <a:pt x="244761" y="208033"/>
                  </a:lnTo>
                  <a:lnTo>
                    <a:pt x="273952" y="213926"/>
                  </a:lnTo>
                  <a:lnTo>
                    <a:pt x="297790" y="229997"/>
                  </a:lnTo>
                  <a:lnTo>
                    <a:pt x="313861" y="253833"/>
                  </a:lnTo>
                  <a:lnTo>
                    <a:pt x="319754" y="283023"/>
                  </a:lnTo>
                  <a:close/>
                </a:path>
                <a:path w="332104" h="358139">
                  <a:moveTo>
                    <a:pt x="243553" y="308704"/>
                  </a:moveTo>
                  <a:lnTo>
                    <a:pt x="331934" y="215021"/>
                  </a:lnTo>
                </a:path>
                <a:path w="332104" h="358139">
                  <a:moveTo>
                    <a:pt x="210736" y="276073"/>
                  </a:moveTo>
                  <a:lnTo>
                    <a:pt x="243553" y="308704"/>
                  </a:lnTo>
                </a:path>
                <a:path w="332104" h="358139">
                  <a:moveTo>
                    <a:pt x="300945" y="233341"/>
                  </a:moveTo>
                  <a:lnTo>
                    <a:pt x="307765" y="240534"/>
                  </a:lnTo>
                </a:path>
                <a:path w="332104" h="358139">
                  <a:moveTo>
                    <a:pt x="0" y="279267"/>
                  </a:moveTo>
                  <a:lnTo>
                    <a:pt x="7" y="50557"/>
                  </a:lnTo>
                </a:path>
                <a:path w="332104" h="358139">
                  <a:moveTo>
                    <a:pt x="76625" y="0"/>
                  </a:moveTo>
                  <a:lnTo>
                    <a:pt x="231886" y="63"/>
                  </a:lnTo>
                </a:path>
                <a:path w="332104" h="358139">
                  <a:moveTo>
                    <a:pt x="277762" y="61128"/>
                  </a:moveTo>
                  <a:lnTo>
                    <a:pt x="277724" y="186545"/>
                  </a:lnTo>
                </a:path>
              </a:pathLst>
            </a:custGeom>
            <a:ln w="15866">
              <a:solidFill>
                <a:srgbClr val="16161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" name="object 1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532233" y="3505214"/>
              <a:ext cx="375326" cy="350627"/>
            </a:xfrm>
            <a:prstGeom prst="rect">
              <a:avLst/>
            </a:prstGeom>
          </p:spPr>
        </p:pic>
      </p:grpSp>
      <p:sp>
        <p:nvSpPr>
          <p:cNvPr id="16" name="object 16"/>
          <p:cNvSpPr txBox="1"/>
          <p:nvPr/>
        </p:nvSpPr>
        <p:spPr>
          <a:xfrm>
            <a:off x="5655690" y="4776673"/>
            <a:ext cx="755650" cy="44958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83820">
              <a:lnSpc>
                <a:spcPct val="100000"/>
              </a:lnSpc>
              <a:spcBef>
                <a:spcPts val="105"/>
              </a:spcBef>
            </a:pPr>
            <a:r>
              <a:rPr sz="1350" spc="50" dirty="0">
                <a:solidFill>
                  <a:srgbClr val="161612"/>
                </a:solidFill>
                <a:latin typeface="Tahoma"/>
                <a:cs typeface="Tahoma"/>
              </a:rPr>
              <a:t>Vendor</a:t>
            </a:r>
            <a:endParaRPr sz="13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350" spc="45" dirty="0">
                <a:solidFill>
                  <a:srgbClr val="161612"/>
                </a:solidFill>
                <a:latin typeface="Tahoma"/>
                <a:cs typeface="Tahoma"/>
              </a:rPr>
              <a:t>Assigned</a:t>
            </a:r>
            <a:endParaRPr sz="1350">
              <a:latin typeface="Tahoma"/>
              <a:cs typeface="Tahoma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222496" y="4776673"/>
            <a:ext cx="764540" cy="44958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5"/>
              </a:spcBef>
            </a:pPr>
            <a:r>
              <a:rPr sz="1350" spc="-10" dirty="0">
                <a:solidFill>
                  <a:srgbClr val="161612"/>
                </a:solidFill>
                <a:latin typeface="Tahoma"/>
                <a:cs typeface="Tahoma"/>
              </a:rPr>
              <a:t>Purchase</a:t>
            </a:r>
            <a:endParaRPr sz="1350">
              <a:latin typeface="Tahoma"/>
              <a:cs typeface="Tahoma"/>
            </a:endParaRPr>
          </a:p>
          <a:p>
            <a:pPr algn="ctr">
              <a:lnSpc>
                <a:spcPct val="100000"/>
              </a:lnSpc>
              <a:spcBef>
                <a:spcPts val="90"/>
              </a:spcBef>
            </a:pPr>
            <a:r>
              <a:rPr sz="1350" spc="40" dirty="0">
                <a:solidFill>
                  <a:srgbClr val="161612"/>
                </a:solidFill>
                <a:latin typeface="Tahoma"/>
                <a:cs typeface="Tahoma"/>
              </a:rPr>
              <a:t>Order</a:t>
            </a:r>
            <a:endParaRPr sz="1350">
              <a:latin typeface="Tahoma"/>
              <a:cs typeface="Tahoma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2803017" y="4776673"/>
            <a:ext cx="744855" cy="44958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9209">
              <a:lnSpc>
                <a:spcPct val="100000"/>
              </a:lnSpc>
              <a:spcBef>
                <a:spcPts val="105"/>
              </a:spcBef>
            </a:pPr>
            <a:r>
              <a:rPr sz="1350" spc="-10" dirty="0">
                <a:solidFill>
                  <a:srgbClr val="161612"/>
                </a:solidFill>
                <a:latin typeface="Tahoma"/>
                <a:cs typeface="Tahoma"/>
              </a:rPr>
              <a:t>Manager</a:t>
            </a:r>
            <a:endParaRPr sz="13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350" spc="35" dirty="0">
                <a:solidFill>
                  <a:srgbClr val="161612"/>
                </a:solidFill>
                <a:latin typeface="Tahoma"/>
                <a:cs typeface="Tahoma"/>
              </a:rPr>
              <a:t>Approval</a:t>
            </a:r>
            <a:endParaRPr sz="1350">
              <a:latin typeface="Tahoma"/>
              <a:cs typeface="Tahoma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260728" y="4886959"/>
            <a:ext cx="911225" cy="2324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350" spc="-10" dirty="0">
                <a:solidFill>
                  <a:srgbClr val="161612"/>
                </a:solidFill>
                <a:latin typeface="Tahoma"/>
                <a:cs typeface="Tahoma"/>
              </a:rPr>
              <a:t>Requisition</a:t>
            </a:r>
            <a:endParaRPr sz="1350">
              <a:latin typeface="Tahoma"/>
              <a:cs typeface="Tahoma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781304" y="5792775"/>
            <a:ext cx="7449184" cy="11322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38300"/>
              </a:lnSpc>
              <a:spcBef>
                <a:spcPts val="100"/>
              </a:spcBef>
            </a:pPr>
            <a:r>
              <a:rPr sz="1750" spc="75" dirty="0">
                <a:solidFill>
                  <a:srgbClr val="161612"/>
                </a:solidFill>
                <a:latin typeface="Tahoma"/>
                <a:cs typeface="Tahoma"/>
              </a:rPr>
              <a:t>The</a:t>
            </a:r>
            <a:r>
              <a:rPr sz="1750" spc="-30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1750" spc="90" dirty="0">
                <a:solidFill>
                  <a:srgbClr val="161612"/>
                </a:solidFill>
                <a:latin typeface="Tahoma"/>
                <a:cs typeface="Tahoma"/>
              </a:rPr>
              <a:t>system</a:t>
            </a:r>
            <a:r>
              <a:rPr sz="1750" spc="-20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1750" spc="50" dirty="0">
                <a:solidFill>
                  <a:srgbClr val="161612"/>
                </a:solidFill>
                <a:latin typeface="Tahoma"/>
                <a:cs typeface="Tahoma"/>
              </a:rPr>
              <a:t>journals</a:t>
            </a:r>
            <a:r>
              <a:rPr sz="1750" spc="-20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1750" spc="95" dirty="0">
                <a:solidFill>
                  <a:srgbClr val="161612"/>
                </a:solidFill>
                <a:latin typeface="Tahoma"/>
                <a:cs typeface="Tahoma"/>
              </a:rPr>
              <a:t>each</a:t>
            </a:r>
            <a:r>
              <a:rPr sz="1750" spc="-20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1750" spc="60" dirty="0">
                <a:solidFill>
                  <a:srgbClr val="161612"/>
                </a:solidFill>
                <a:latin typeface="Tahoma"/>
                <a:cs typeface="Tahoma"/>
              </a:rPr>
              <a:t>event</a:t>
            </a:r>
            <a:r>
              <a:rPr sz="1750" spc="-5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1750" spc="65" dirty="0">
                <a:solidFill>
                  <a:srgbClr val="161612"/>
                </a:solidFill>
                <a:latin typeface="Tahoma"/>
                <a:cs typeface="Tahoma"/>
              </a:rPr>
              <a:t>for</a:t>
            </a:r>
            <a:r>
              <a:rPr sz="1750" spc="-40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1750" spc="60" dirty="0">
                <a:solidFill>
                  <a:srgbClr val="161612"/>
                </a:solidFill>
                <a:latin typeface="Tahoma"/>
                <a:cs typeface="Tahoma"/>
              </a:rPr>
              <a:t>a</a:t>
            </a:r>
            <a:r>
              <a:rPr sz="1750" spc="-25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1750" spc="75" dirty="0">
                <a:solidFill>
                  <a:srgbClr val="161612"/>
                </a:solidFill>
                <a:latin typeface="Tahoma"/>
                <a:cs typeface="Tahoma"/>
              </a:rPr>
              <a:t>complete</a:t>
            </a:r>
            <a:r>
              <a:rPr sz="1750" spc="-15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1750" dirty="0">
                <a:solidFill>
                  <a:srgbClr val="161612"/>
                </a:solidFill>
                <a:latin typeface="Tahoma"/>
                <a:cs typeface="Tahoma"/>
              </a:rPr>
              <a:t>audit</a:t>
            </a:r>
            <a:r>
              <a:rPr sz="1750" spc="-5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1750" dirty="0">
                <a:solidFill>
                  <a:srgbClr val="161612"/>
                </a:solidFill>
                <a:latin typeface="Tahoma"/>
                <a:cs typeface="Tahoma"/>
              </a:rPr>
              <a:t>trail;</a:t>
            </a:r>
            <a:r>
              <a:rPr sz="1750" spc="-35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1750" spc="60" dirty="0">
                <a:solidFill>
                  <a:srgbClr val="161612"/>
                </a:solidFill>
                <a:latin typeface="Tahoma"/>
                <a:cs typeface="Tahoma"/>
              </a:rPr>
              <a:t>configurable </a:t>
            </a:r>
            <a:r>
              <a:rPr sz="1750" spc="70" dirty="0">
                <a:solidFill>
                  <a:srgbClr val="161612"/>
                </a:solidFill>
                <a:latin typeface="Tahoma"/>
                <a:cs typeface="Tahoma"/>
              </a:rPr>
              <a:t>approval</a:t>
            </a:r>
            <a:r>
              <a:rPr sz="1750" spc="-25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1750" spc="80" dirty="0">
                <a:solidFill>
                  <a:srgbClr val="161612"/>
                </a:solidFill>
                <a:latin typeface="Tahoma"/>
                <a:cs typeface="Tahoma"/>
              </a:rPr>
              <a:t>chains</a:t>
            </a:r>
            <a:r>
              <a:rPr sz="1750" spc="-30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1750" spc="70" dirty="0">
                <a:solidFill>
                  <a:srgbClr val="161612"/>
                </a:solidFill>
                <a:latin typeface="Tahoma"/>
                <a:cs typeface="Tahoma"/>
              </a:rPr>
              <a:t>and</a:t>
            </a:r>
            <a:r>
              <a:rPr sz="1750" spc="-35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1750" spc="65" dirty="0">
                <a:solidFill>
                  <a:srgbClr val="161612"/>
                </a:solidFill>
                <a:latin typeface="Tahoma"/>
                <a:cs typeface="Tahoma"/>
              </a:rPr>
              <a:t>budget</a:t>
            </a:r>
            <a:r>
              <a:rPr sz="1750" spc="-10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1750" spc="114" dirty="0">
                <a:solidFill>
                  <a:srgbClr val="161612"/>
                </a:solidFill>
                <a:latin typeface="Tahoma"/>
                <a:cs typeface="Tahoma"/>
              </a:rPr>
              <a:t>checks</a:t>
            </a:r>
            <a:r>
              <a:rPr sz="1750" spc="-30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1750" spc="60" dirty="0">
                <a:solidFill>
                  <a:srgbClr val="161612"/>
                </a:solidFill>
                <a:latin typeface="Tahoma"/>
                <a:cs typeface="Tahoma"/>
              </a:rPr>
              <a:t>prevent</a:t>
            </a:r>
            <a:r>
              <a:rPr sz="1750" spc="-15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1750" spc="85" dirty="0">
                <a:solidFill>
                  <a:srgbClr val="161612"/>
                </a:solidFill>
                <a:latin typeface="Tahoma"/>
                <a:cs typeface="Tahoma"/>
              </a:rPr>
              <a:t>overspend</a:t>
            </a:r>
            <a:r>
              <a:rPr sz="1750" spc="-20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1750" spc="75" dirty="0">
                <a:solidFill>
                  <a:srgbClr val="161612"/>
                </a:solidFill>
                <a:latin typeface="Tahoma"/>
                <a:cs typeface="Tahoma"/>
              </a:rPr>
              <a:t>before</a:t>
            </a:r>
            <a:r>
              <a:rPr sz="1750" spc="-30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1750" spc="95" dirty="0">
                <a:solidFill>
                  <a:srgbClr val="161612"/>
                </a:solidFill>
                <a:latin typeface="Tahoma"/>
                <a:cs typeface="Tahoma"/>
              </a:rPr>
              <a:t>PO </a:t>
            </a:r>
            <a:r>
              <a:rPr sz="1750" spc="65" dirty="0">
                <a:solidFill>
                  <a:srgbClr val="161612"/>
                </a:solidFill>
                <a:latin typeface="Tahoma"/>
                <a:cs typeface="Tahoma"/>
              </a:rPr>
              <a:t>issuance.</a:t>
            </a:r>
            <a:endParaRPr sz="175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886944" y="7615426"/>
            <a:ext cx="1743455" cy="57150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851103" y="584708"/>
            <a:ext cx="6326505" cy="4679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900" spc="75" dirty="0"/>
              <a:t>Requisition</a:t>
            </a:r>
            <a:r>
              <a:rPr sz="2900" spc="-145" dirty="0"/>
              <a:t> </a:t>
            </a:r>
            <a:r>
              <a:rPr sz="2900" spc="130" dirty="0"/>
              <a:t>Lifecycle</a:t>
            </a:r>
            <a:r>
              <a:rPr sz="2900" spc="-110" dirty="0"/>
              <a:t> —</a:t>
            </a:r>
            <a:r>
              <a:rPr sz="2900" spc="-120" dirty="0"/>
              <a:t> </a:t>
            </a:r>
            <a:r>
              <a:rPr sz="2900" spc="105" dirty="0"/>
              <a:t>Status</a:t>
            </a:r>
            <a:r>
              <a:rPr sz="2900" spc="-130" dirty="0"/>
              <a:t> </a:t>
            </a:r>
            <a:r>
              <a:rPr sz="2900" spc="120" dirty="0"/>
              <a:t>Model</a:t>
            </a:r>
            <a:endParaRPr sz="2900"/>
          </a:p>
        </p:txBody>
      </p:sp>
      <p:grpSp>
        <p:nvGrpSpPr>
          <p:cNvPr id="4" name="object 4"/>
          <p:cNvGrpSpPr/>
          <p:nvPr/>
        </p:nvGrpSpPr>
        <p:grpSpPr>
          <a:xfrm>
            <a:off x="864108" y="1546860"/>
            <a:ext cx="561340" cy="965200"/>
            <a:chOff x="864108" y="1546860"/>
            <a:chExt cx="561340" cy="965200"/>
          </a:xfrm>
        </p:grpSpPr>
        <p:sp>
          <p:nvSpPr>
            <p:cNvPr id="5" name="object 5"/>
            <p:cNvSpPr/>
            <p:nvPr/>
          </p:nvSpPr>
          <p:spPr>
            <a:xfrm>
              <a:off x="864108" y="1546859"/>
              <a:ext cx="561340" cy="965200"/>
            </a:xfrm>
            <a:custGeom>
              <a:avLst/>
              <a:gdLst/>
              <a:ahLst/>
              <a:cxnLst/>
              <a:rect l="l" t="t" r="r" b="b"/>
              <a:pathLst>
                <a:path w="561340" h="965200">
                  <a:moveTo>
                    <a:pt x="560832" y="280416"/>
                  </a:moveTo>
                  <a:lnTo>
                    <a:pt x="557149" y="234950"/>
                  </a:lnTo>
                  <a:lnTo>
                    <a:pt x="546519" y="191808"/>
                  </a:lnTo>
                  <a:lnTo>
                    <a:pt x="529513" y="151574"/>
                  </a:lnTo>
                  <a:lnTo>
                    <a:pt x="506704" y="114833"/>
                  </a:lnTo>
                  <a:lnTo>
                    <a:pt x="478675" y="82156"/>
                  </a:lnTo>
                  <a:lnTo>
                    <a:pt x="445998" y="54127"/>
                  </a:lnTo>
                  <a:lnTo>
                    <a:pt x="409257" y="31318"/>
                  </a:lnTo>
                  <a:lnTo>
                    <a:pt x="369023" y="14312"/>
                  </a:lnTo>
                  <a:lnTo>
                    <a:pt x="325882" y="3683"/>
                  </a:lnTo>
                  <a:lnTo>
                    <a:pt x="280416" y="0"/>
                  </a:lnTo>
                  <a:lnTo>
                    <a:pt x="234924" y="3683"/>
                  </a:lnTo>
                  <a:lnTo>
                    <a:pt x="191782" y="14312"/>
                  </a:lnTo>
                  <a:lnTo>
                    <a:pt x="151549" y="31318"/>
                  </a:lnTo>
                  <a:lnTo>
                    <a:pt x="114808" y="54127"/>
                  </a:lnTo>
                  <a:lnTo>
                    <a:pt x="82130" y="82156"/>
                  </a:lnTo>
                  <a:lnTo>
                    <a:pt x="54102" y="114833"/>
                  </a:lnTo>
                  <a:lnTo>
                    <a:pt x="31292" y="151574"/>
                  </a:lnTo>
                  <a:lnTo>
                    <a:pt x="14287" y="191808"/>
                  </a:lnTo>
                  <a:lnTo>
                    <a:pt x="3670" y="234950"/>
                  </a:lnTo>
                  <a:lnTo>
                    <a:pt x="0" y="280416"/>
                  </a:lnTo>
                  <a:lnTo>
                    <a:pt x="3670" y="325894"/>
                  </a:lnTo>
                  <a:lnTo>
                    <a:pt x="14287" y="369036"/>
                  </a:lnTo>
                  <a:lnTo>
                    <a:pt x="31292" y="409270"/>
                  </a:lnTo>
                  <a:lnTo>
                    <a:pt x="54102" y="446011"/>
                  </a:lnTo>
                  <a:lnTo>
                    <a:pt x="82130" y="478688"/>
                  </a:lnTo>
                  <a:lnTo>
                    <a:pt x="114808" y="506717"/>
                  </a:lnTo>
                  <a:lnTo>
                    <a:pt x="151549" y="529526"/>
                  </a:lnTo>
                  <a:lnTo>
                    <a:pt x="185928" y="544068"/>
                  </a:lnTo>
                  <a:lnTo>
                    <a:pt x="185928" y="936625"/>
                  </a:lnTo>
                  <a:lnTo>
                    <a:pt x="188137" y="947547"/>
                  </a:lnTo>
                  <a:lnTo>
                    <a:pt x="194157" y="956475"/>
                  </a:lnTo>
                  <a:lnTo>
                    <a:pt x="203098" y="962494"/>
                  </a:lnTo>
                  <a:lnTo>
                    <a:pt x="214058" y="964692"/>
                  </a:lnTo>
                  <a:lnTo>
                    <a:pt x="345249" y="964692"/>
                  </a:lnTo>
                  <a:lnTo>
                    <a:pt x="356196" y="962494"/>
                  </a:lnTo>
                  <a:lnTo>
                    <a:pt x="365137" y="956475"/>
                  </a:lnTo>
                  <a:lnTo>
                    <a:pt x="371157" y="947547"/>
                  </a:lnTo>
                  <a:lnTo>
                    <a:pt x="373380" y="936625"/>
                  </a:lnTo>
                  <a:lnTo>
                    <a:pt x="373380" y="544703"/>
                  </a:lnTo>
                  <a:lnTo>
                    <a:pt x="409257" y="529526"/>
                  </a:lnTo>
                  <a:lnTo>
                    <a:pt x="445998" y="506717"/>
                  </a:lnTo>
                  <a:lnTo>
                    <a:pt x="478675" y="478688"/>
                  </a:lnTo>
                  <a:lnTo>
                    <a:pt x="506704" y="446011"/>
                  </a:lnTo>
                  <a:lnTo>
                    <a:pt x="529513" y="409270"/>
                  </a:lnTo>
                  <a:lnTo>
                    <a:pt x="546519" y="369036"/>
                  </a:lnTo>
                  <a:lnTo>
                    <a:pt x="557149" y="325894"/>
                  </a:lnTo>
                  <a:lnTo>
                    <a:pt x="560832" y="280416"/>
                  </a:lnTo>
                  <a:close/>
                </a:path>
              </a:pathLst>
            </a:custGeom>
            <a:solidFill>
              <a:srgbClr val="ECEB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01635" y="1692963"/>
              <a:ext cx="85826" cy="268724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1565910" y="1555241"/>
            <a:ext cx="4849495" cy="655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solidFill>
                  <a:srgbClr val="161612"/>
                </a:solidFill>
                <a:latin typeface="Tahoma"/>
                <a:cs typeface="Tahoma"/>
              </a:rPr>
              <a:t>CREATED</a:t>
            </a:r>
            <a:endParaRPr sz="18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060"/>
              </a:spcBef>
            </a:pPr>
            <a:r>
              <a:rPr sz="1450" dirty="0">
                <a:solidFill>
                  <a:srgbClr val="161612"/>
                </a:solidFill>
                <a:latin typeface="Tahoma"/>
                <a:cs typeface="Tahoma"/>
              </a:rPr>
              <a:t>Draft</a:t>
            </a:r>
            <a:r>
              <a:rPr sz="1450" spc="50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1450" spc="60" dirty="0">
                <a:solidFill>
                  <a:srgbClr val="161612"/>
                </a:solidFill>
                <a:latin typeface="Tahoma"/>
                <a:cs typeface="Tahoma"/>
              </a:rPr>
              <a:t>created</a:t>
            </a:r>
            <a:r>
              <a:rPr sz="1450" spc="35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1450" spc="80" dirty="0">
                <a:solidFill>
                  <a:srgbClr val="161612"/>
                </a:solidFill>
                <a:latin typeface="Tahoma"/>
                <a:cs typeface="Tahoma"/>
              </a:rPr>
              <a:t>by</a:t>
            </a:r>
            <a:r>
              <a:rPr sz="1450" spc="50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1450" spc="70" dirty="0">
                <a:solidFill>
                  <a:srgbClr val="161612"/>
                </a:solidFill>
                <a:latin typeface="Tahoma"/>
                <a:cs typeface="Tahoma"/>
              </a:rPr>
              <a:t>employee</a:t>
            </a:r>
            <a:r>
              <a:rPr sz="1450" spc="80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1450" spc="130" dirty="0">
                <a:solidFill>
                  <a:srgbClr val="161612"/>
                </a:solidFill>
                <a:latin typeface="Tahoma"/>
                <a:cs typeface="Tahoma"/>
              </a:rPr>
              <a:t>—</a:t>
            </a:r>
            <a:r>
              <a:rPr sz="1450" spc="45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1450" dirty="0">
                <a:solidFill>
                  <a:srgbClr val="161612"/>
                </a:solidFill>
                <a:latin typeface="Tahoma"/>
                <a:cs typeface="Tahoma"/>
              </a:rPr>
              <a:t>editable</a:t>
            </a:r>
            <a:r>
              <a:rPr sz="1450" spc="40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1450" dirty="0">
                <a:solidFill>
                  <a:srgbClr val="161612"/>
                </a:solidFill>
                <a:latin typeface="Tahoma"/>
                <a:cs typeface="Tahoma"/>
              </a:rPr>
              <a:t>until</a:t>
            </a:r>
            <a:r>
              <a:rPr sz="1450" spc="55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1450" spc="45" dirty="0">
                <a:solidFill>
                  <a:srgbClr val="161612"/>
                </a:solidFill>
                <a:latin typeface="Tahoma"/>
                <a:cs typeface="Tahoma"/>
              </a:rPr>
              <a:t>submission.</a:t>
            </a:r>
            <a:endParaRPr sz="1450">
              <a:latin typeface="Tahoma"/>
              <a:cs typeface="Tahoma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1144524" y="2823972"/>
            <a:ext cx="561340" cy="963294"/>
            <a:chOff x="1144524" y="2823972"/>
            <a:chExt cx="561340" cy="963294"/>
          </a:xfrm>
        </p:grpSpPr>
        <p:sp>
          <p:nvSpPr>
            <p:cNvPr id="9" name="object 9"/>
            <p:cNvSpPr/>
            <p:nvPr/>
          </p:nvSpPr>
          <p:spPr>
            <a:xfrm>
              <a:off x="1144524" y="2823971"/>
              <a:ext cx="561340" cy="963294"/>
            </a:xfrm>
            <a:custGeom>
              <a:avLst/>
              <a:gdLst/>
              <a:ahLst/>
              <a:cxnLst/>
              <a:rect l="l" t="t" r="r" b="b"/>
              <a:pathLst>
                <a:path w="561339" h="963295">
                  <a:moveTo>
                    <a:pt x="560832" y="280416"/>
                  </a:moveTo>
                  <a:lnTo>
                    <a:pt x="557149" y="234950"/>
                  </a:lnTo>
                  <a:lnTo>
                    <a:pt x="546519" y="191808"/>
                  </a:lnTo>
                  <a:lnTo>
                    <a:pt x="529513" y="151574"/>
                  </a:lnTo>
                  <a:lnTo>
                    <a:pt x="506704" y="114833"/>
                  </a:lnTo>
                  <a:lnTo>
                    <a:pt x="478675" y="82156"/>
                  </a:lnTo>
                  <a:lnTo>
                    <a:pt x="445998" y="54127"/>
                  </a:lnTo>
                  <a:lnTo>
                    <a:pt x="409257" y="31318"/>
                  </a:lnTo>
                  <a:lnTo>
                    <a:pt x="369023" y="14312"/>
                  </a:lnTo>
                  <a:lnTo>
                    <a:pt x="325882" y="3683"/>
                  </a:lnTo>
                  <a:lnTo>
                    <a:pt x="280416" y="0"/>
                  </a:lnTo>
                  <a:lnTo>
                    <a:pt x="234937" y="3683"/>
                  </a:lnTo>
                  <a:lnTo>
                    <a:pt x="191795" y="14312"/>
                  </a:lnTo>
                  <a:lnTo>
                    <a:pt x="151561" y="31318"/>
                  </a:lnTo>
                  <a:lnTo>
                    <a:pt x="114820" y="54127"/>
                  </a:lnTo>
                  <a:lnTo>
                    <a:pt x="82143" y="82156"/>
                  </a:lnTo>
                  <a:lnTo>
                    <a:pt x="54114" y="114833"/>
                  </a:lnTo>
                  <a:lnTo>
                    <a:pt x="31305" y="151574"/>
                  </a:lnTo>
                  <a:lnTo>
                    <a:pt x="14300" y="191808"/>
                  </a:lnTo>
                  <a:lnTo>
                    <a:pt x="3670" y="234950"/>
                  </a:lnTo>
                  <a:lnTo>
                    <a:pt x="0" y="280416"/>
                  </a:lnTo>
                  <a:lnTo>
                    <a:pt x="3670" y="325894"/>
                  </a:lnTo>
                  <a:lnTo>
                    <a:pt x="14300" y="369036"/>
                  </a:lnTo>
                  <a:lnTo>
                    <a:pt x="31305" y="409270"/>
                  </a:lnTo>
                  <a:lnTo>
                    <a:pt x="54114" y="446011"/>
                  </a:lnTo>
                  <a:lnTo>
                    <a:pt x="82143" y="478688"/>
                  </a:lnTo>
                  <a:lnTo>
                    <a:pt x="114820" y="506717"/>
                  </a:lnTo>
                  <a:lnTo>
                    <a:pt x="151561" y="529526"/>
                  </a:lnTo>
                  <a:lnTo>
                    <a:pt x="185928" y="544055"/>
                  </a:lnTo>
                  <a:lnTo>
                    <a:pt x="185928" y="935101"/>
                  </a:lnTo>
                  <a:lnTo>
                    <a:pt x="188125" y="946023"/>
                  </a:lnTo>
                  <a:lnTo>
                    <a:pt x="194144" y="954951"/>
                  </a:lnTo>
                  <a:lnTo>
                    <a:pt x="203073" y="960970"/>
                  </a:lnTo>
                  <a:lnTo>
                    <a:pt x="213995" y="963168"/>
                  </a:lnTo>
                  <a:lnTo>
                    <a:pt x="345313" y="963168"/>
                  </a:lnTo>
                  <a:lnTo>
                    <a:pt x="356235" y="960970"/>
                  </a:lnTo>
                  <a:lnTo>
                    <a:pt x="365150" y="954951"/>
                  </a:lnTo>
                  <a:lnTo>
                    <a:pt x="371170" y="946023"/>
                  </a:lnTo>
                  <a:lnTo>
                    <a:pt x="373380" y="935101"/>
                  </a:lnTo>
                  <a:lnTo>
                    <a:pt x="373380" y="544703"/>
                  </a:lnTo>
                  <a:lnTo>
                    <a:pt x="409257" y="529526"/>
                  </a:lnTo>
                  <a:lnTo>
                    <a:pt x="445998" y="506717"/>
                  </a:lnTo>
                  <a:lnTo>
                    <a:pt x="478675" y="478688"/>
                  </a:lnTo>
                  <a:lnTo>
                    <a:pt x="506704" y="446011"/>
                  </a:lnTo>
                  <a:lnTo>
                    <a:pt x="529513" y="409270"/>
                  </a:lnTo>
                  <a:lnTo>
                    <a:pt x="546519" y="369036"/>
                  </a:lnTo>
                  <a:lnTo>
                    <a:pt x="557149" y="325894"/>
                  </a:lnTo>
                  <a:lnTo>
                    <a:pt x="560832" y="280416"/>
                  </a:lnTo>
                  <a:close/>
                </a:path>
              </a:pathLst>
            </a:custGeom>
            <a:solidFill>
              <a:srgbClr val="ECEB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290626" y="2972034"/>
              <a:ext cx="268732" cy="264723"/>
            </a:xfrm>
            <a:prstGeom prst="rect">
              <a:avLst/>
            </a:prstGeom>
          </p:spPr>
        </p:pic>
      </p:grpSp>
      <p:sp>
        <p:nvSpPr>
          <p:cNvPr id="11" name="object 11"/>
          <p:cNvSpPr txBox="1"/>
          <p:nvPr/>
        </p:nvSpPr>
        <p:spPr>
          <a:xfrm>
            <a:off x="1846326" y="2831338"/>
            <a:ext cx="6545580" cy="655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solidFill>
                  <a:srgbClr val="161612"/>
                </a:solidFill>
                <a:latin typeface="Tahoma"/>
                <a:cs typeface="Tahoma"/>
              </a:rPr>
              <a:t>SUBMITTED</a:t>
            </a:r>
            <a:endParaRPr sz="18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060"/>
              </a:spcBef>
            </a:pPr>
            <a:r>
              <a:rPr sz="1450" spc="55" dirty="0">
                <a:solidFill>
                  <a:srgbClr val="161612"/>
                </a:solidFill>
                <a:latin typeface="Tahoma"/>
                <a:cs typeface="Tahoma"/>
              </a:rPr>
              <a:t>Sent</a:t>
            </a:r>
            <a:r>
              <a:rPr sz="1450" spc="-30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1450" dirty="0">
                <a:solidFill>
                  <a:srgbClr val="161612"/>
                </a:solidFill>
                <a:latin typeface="Tahoma"/>
                <a:cs typeface="Tahoma"/>
              </a:rPr>
              <a:t>to</a:t>
            </a:r>
            <a:r>
              <a:rPr sz="1450" spc="-25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1450" spc="50" dirty="0">
                <a:solidFill>
                  <a:srgbClr val="161612"/>
                </a:solidFill>
                <a:latin typeface="Tahoma"/>
                <a:cs typeface="Tahoma"/>
              </a:rPr>
              <a:t>approvers;</a:t>
            </a:r>
            <a:r>
              <a:rPr sz="1450" spc="-55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1450" spc="75" dirty="0">
                <a:solidFill>
                  <a:srgbClr val="161612"/>
                </a:solidFill>
                <a:latin typeface="Tahoma"/>
                <a:cs typeface="Tahoma"/>
              </a:rPr>
              <a:t>system</a:t>
            </a:r>
            <a:r>
              <a:rPr sz="1450" spc="-40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1450" spc="80" dirty="0">
                <a:solidFill>
                  <a:srgbClr val="161612"/>
                </a:solidFill>
                <a:latin typeface="Tahoma"/>
                <a:cs typeface="Tahoma"/>
              </a:rPr>
              <a:t>enforces</a:t>
            </a:r>
            <a:r>
              <a:rPr sz="1450" spc="-45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1450" spc="50" dirty="0">
                <a:solidFill>
                  <a:srgbClr val="161612"/>
                </a:solidFill>
                <a:latin typeface="Tahoma"/>
                <a:cs typeface="Tahoma"/>
              </a:rPr>
              <a:t>required</a:t>
            </a:r>
            <a:r>
              <a:rPr sz="1450" spc="-30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1450" spc="60" dirty="0">
                <a:solidFill>
                  <a:srgbClr val="161612"/>
                </a:solidFill>
                <a:latin typeface="Tahoma"/>
                <a:cs typeface="Tahoma"/>
              </a:rPr>
              <a:t>fields</a:t>
            </a:r>
            <a:r>
              <a:rPr sz="1450" spc="-25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1450" spc="55" dirty="0">
                <a:solidFill>
                  <a:srgbClr val="161612"/>
                </a:solidFill>
                <a:latin typeface="Tahoma"/>
                <a:cs typeface="Tahoma"/>
              </a:rPr>
              <a:t>and</a:t>
            </a:r>
            <a:r>
              <a:rPr sz="1450" spc="-25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1450" spc="55" dirty="0">
                <a:solidFill>
                  <a:srgbClr val="161612"/>
                </a:solidFill>
                <a:latin typeface="Tahoma"/>
                <a:cs typeface="Tahoma"/>
              </a:rPr>
              <a:t>budget</a:t>
            </a:r>
            <a:r>
              <a:rPr sz="1450" spc="-40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1450" spc="-10" dirty="0">
                <a:solidFill>
                  <a:srgbClr val="161612"/>
                </a:solidFill>
                <a:latin typeface="Tahoma"/>
                <a:cs typeface="Tahoma"/>
              </a:rPr>
              <a:t>validations.</a:t>
            </a:r>
            <a:endParaRPr sz="1450">
              <a:latin typeface="Tahoma"/>
              <a:cs typeface="Tahoma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1424939" y="4099559"/>
            <a:ext cx="561340" cy="965200"/>
            <a:chOff x="1424939" y="4099559"/>
            <a:chExt cx="561340" cy="965200"/>
          </a:xfrm>
        </p:grpSpPr>
        <p:sp>
          <p:nvSpPr>
            <p:cNvPr id="13" name="object 13"/>
            <p:cNvSpPr/>
            <p:nvPr/>
          </p:nvSpPr>
          <p:spPr>
            <a:xfrm>
              <a:off x="1424940" y="4099559"/>
              <a:ext cx="561340" cy="965200"/>
            </a:xfrm>
            <a:custGeom>
              <a:avLst/>
              <a:gdLst/>
              <a:ahLst/>
              <a:cxnLst/>
              <a:rect l="l" t="t" r="r" b="b"/>
              <a:pathLst>
                <a:path w="561339" h="965200">
                  <a:moveTo>
                    <a:pt x="560832" y="280416"/>
                  </a:moveTo>
                  <a:lnTo>
                    <a:pt x="557149" y="234950"/>
                  </a:lnTo>
                  <a:lnTo>
                    <a:pt x="546519" y="191808"/>
                  </a:lnTo>
                  <a:lnTo>
                    <a:pt x="529513" y="151574"/>
                  </a:lnTo>
                  <a:lnTo>
                    <a:pt x="506704" y="114833"/>
                  </a:lnTo>
                  <a:lnTo>
                    <a:pt x="478675" y="82156"/>
                  </a:lnTo>
                  <a:lnTo>
                    <a:pt x="445998" y="54127"/>
                  </a:lnTo>
                  <a:lnTo>
                    <a:pt x="409257" y="31318"/>
                  </a:lnTo>
                  <a:lnTo>
                    <a:pt x="369023" y="14312"/>
                  </a:lnTo>
                  <a:lnTo>
                    <a:pt x="325882" y="3683"/>
                  </a:lnTo>
                  <a:lnTo>
                    <a:pt x="280416" y="0"/>
                  </a:lnTo>
                  <a:lnTo>
                    <a:pt x="234937" y="3683"/>
                  </a:lnTo>
                  <a:lnTo>
                    <a:pt x="191795" y="14312"/>
                  </a:lnTo>
                  <a:lnTo>
                    <a:pt x="151561" y="31318"/>
                  </a:lnTo>
                  <a:lnTo>
                    <a:pt x="114820" y="54127"/>
                  </a:lnTo>
                  <a:lnTo>
                    <a:pt x="82143" y="82156"/>
                  </a:lnTo>
                  <a:lnTo>
                    <a:pt x="54114" y="114833"/>
                  </a:lnTo>
                  <a:lnTo>
                    <a:pt x="31305" y="151574"/>
                  </a:lnTo>
                  <a:lnTo>
                    <a:pt x="14300" y="191808"/>
                  </a:lnTo>
                  <a:lnTo>
                    <a:pt x="3670" y="234950"/>
                  </a:lnTo>
                  <a:lnTo>
                    <a:pt x="0" y="280416"/>
                  </a:lnTo>
                  <a:lnTo>
                    <a:pt x="3670" y="325894"/>
                  </a:lnTo>
                  <a:lnTo>
                    <a:pt x="14300" y="369036"/>
                  </a:lnTo>
                  <a:lnTo>
                    <a:pt x="31305" y="409270"/>
                  </a:lnTo>
                  <a:lnTo>
                    <a:pt x="54114" y="446011"/>
                  </a:lnTo>
                  <a:lnTo>
                    <a:pt x="82143" y="478688"/>
                  </a:lnTo>
                  <a:lnTo>
                    <a:pt x="114820" y="506717"/>
                  </a:lnTo>
                  <a:lnTo>
                    <a:pt x="151561" y="529526"/>
                  </a:lnTo>
                  <a:lnTo>
                    <a:pt x="185928" y="544055"/>
                  </a:lnTo>
                  <a:lnTo>
                    <a:pt x="185928" y="936625"/>
                  </a:lnTo>
                  <a:lnTo>
                    <a:pt x="188125" y="947559"/>
                  </a:lnTo>
                  <a:lnTo>
                    <a:pt x="194144" y="956475"/>
                  </a:lnTo>
                  <a:lnTo>
                    <a:pt x="203073" y="962494"/>
                  </a:lnTo>
                  <a:lnTo>
                    <a:pt x="213995" y="964692"/>
                  </a:lnTo>
                  <a:lnTo>
                    <a:pt x="345313" y="964692"/>
                  </a:lnTo>
                  <a:lnTo>
                    <a:pt x="356235" y="962494"/>
                  </a:lnTo>
                  <a:lnTo>
                    <a:pt x="365150" y="956475"/>
                  </a:lnTo>
                  <a:lnTo>
                    <a:pt x="371170" y="947547"/>
                  </a:lnTo>
                  <a:lnTo>
                    <a:pt x="373380" y="936625"/>
                  </a:lnTo>
                  <a:lnTo>
                    <a:pt x="373380" y="544703"/>
                  </a:lnTo>
                  <a:lnTo>
                    <a:pt x="409257" y="529526"/>
                  </a:lnTo>
                  <a:lnTo>
                    <a:pt x="445998" y="506717"/>
                  </a:lnTo>
                  <a:lnTo>
                    <a:pt x="478675" y="478688"/>
                  </a:lnTo>
                  <a:lnTo>
                    <a:pt x="506704" y="446011"/>
                  </a:lnTo>
                  <a:lnTo>
                    <a:pt x="529513" y="409270"/>
                  </a:lnTo>
                  <a:lnTo>
                    <a:pt x="546519" y="369036"/>
                  </a:lnTo>
                  <a:lnTo>
                    <a:pt x="557149" y="325894"/>
                  </a:lnTo>
                  <a:lnTo>
                    <a:pt x="560832" y="280416"/>
                  </a:lnTo>
                  <a:close/>
                </a:path>
              </a:pathLst>
            </a:custGeom>
            <a:solidFill>
              <a:srgbClr val="ECEB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1576739" y="4291189"/>
              <a:ext cx="257810" cy="177800"/>
            </a:xfrm>
            <a:custGeom>
              <a:avLst/>
              <a:gdLst/>
              <a:ahLst/>
              <a:cxnLst/>
              <a:rect l="l" t="t" r="r" b="b"/>
              <a:pathLst>
                <a:path w="257810" h="177800">
                  <a:moveTo>
                    <a:pt x="257356" y="0"/>
                  </a:moveTo>
                  <a:lnTo>
                    <a:pt x="79598" y="177662"/>
                  </a:lnTo>
                </a:path>
                <a:path w="257810" h="177800">
                  <a:moveTo>
                    <a:pt x="0" y="97720"/>
                  </a:moveTo>
                  <a:lnTo>
                    <a:pt x="79598" y="177662"/>
                  </a:lnTo>
                </a:path>
              </a:pathLst>
            </a:custGeom>
            <a:ln w="11397">
              <a:solidFill>
                <a:srgbClr val="16161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2126995" y="4107560"/>
            <a:ext cx="6332220" cy="655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40" dirty="0">
                <a:solidFill>
                  <a:srgbClr val="161612"/>
                </a:solidFill>
                <a:latin typeface="Tahoma"/>
                <a:cs typeface="Tahoma"/>
              </a:rPr>
              <a:t>APPROVED</a:t>
            </a:r>
            <a:endParaRPr sz="18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060"/>
              </a:spcBef>
            </a:pPr>
            <a:r>
              <a:rPr sz="1450" spc="65" dirty="0">
                <a:solidFill>
                  <a:srgbClr val="161612"/>
                </a:solidFill>
                <a:latin typeface="Tahoma"/>
                <a:cs typeface="Tahoma"/>
              </a:rPr>
              <a:t>Manager/s</a:t>
            </a:r>
            <a:r>
              <a:rPr sz="1450" spc="5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1450" spc="10" dirty="0">
                <a:solidFill>
                  <a:srgbClr val="161612"/>
                </a:solidFill>
                <a:latin typeface="Tahoma"/>
                <a:cs typeface="Tahoma"/>
              </a:rPr>
              <a:t>authorized;</a:t>
            </a:r>
            <a:r>
              <a:rPr sz="1450" spc="-20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1450" spc="65" dirty="0">
                <a:solidFill>
                  <a:srgbClr val="161612"/>
                </a:solidFill>
                <a:latin typeface="Tahoma"/>
                <a:cs typeface="Tahoma"/>
              </a:rPr>
              <a:t>ready</a:t>
            </a:r>
            <a:r>
              <a:rPr sz="1450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1450" spc="55" dirty="0">
                <a:solidFill>
                  <a:srgbClr val="161612"/>
                </a:solidFill>
                <a:latin typeface="Tahoma"/>
                <a:cs typeface="Tahoma"/>
              </a:rPr>
              <a:t>for</a:t>
            </a:r>
            <a:r>
              <a:rPr sz="1450" spc="10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1450" spc="100" dirty="0">
                <a:solidFill>
                  <a:srgbClr val="161612"/>
                </a:solidFill>
                <a:latin typeface="Tahoma"/>
                <a:cs typeface="Tahoma"/>
              </a:rPr>
              <a:t>PO</a:t>
            </a:r>
            <a:r>
              <a:rPr sz="1450" spc="10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1450" spc="70" dirty="0">
                <a:solidFill>
                  <a:srgbClr val="161612"/>
                </a:solidFill>
                <a:latin typeface="Tahoma"/>
                <a:cs typeface="Tahoma"/>
              </a:rPr>
              <a:t>conversion</a:t>
            </a:r>
            <a:r>
              <a:rPr sz="1450" spc="10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1450" spc="55" dirty="0">
                <a:solidFill>
                  <a:srgbClr val="161612"/>
                </a:solidFill>
                <a:latin typeface="Tahoma"/>
                <a:cs typeface="Tahoma"/>
              </a:rPr>
              <a:t>and</a:t>
            </a:r>
            <a:r>
              <a:rPr sz="1450" spc="5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1450" spc="60" dirty="0">
                <a:solidFill>
                  <a:srgbClr val="161612"/>
                </a:solidFill>
                <a:latin typeface="Tahoma"/>
                <a:cs typeface="Tahoma"/>
              </a:rPr>
              <a:t>vendor</a:t>
            </a:r>
            <a:r>
              <a:rPr sz="1450" spc="25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1450" spc="-10" dirty="0">
                <a:solidFill>
                  <a:srgbClr val="161612"/>
                </a:solidFill>
                <a:latin typeface="Tahoma"/>
                <a:cs typeface="Tahoma"/>
              </a:rPr>
              <a:t>assignment.</a:t>
            </a:r>
            <a:endParaRPr sz="1450">
              <a:latin typeface="Tahoma"/>
              <a:cs typeface="Tahoma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1705355" y="5375147"/>
            <a:ext cx="561340" cy="965200"/>
            <a:chOff x="1705355" y="5375147"/>
            <a:chExt cx="561340" cy="965200"/>
          </a:xfrm>
        </p:grpSpPr>
        <p:sp>
          <p:nvSpPr>
            <p:cNvPr id="17" name="object 17"/>
            <p:cNvSpPr/>
            <p:nvPr/>
          </p:nvSpPr>
          <p:spPr>
            <a:xfrm>
              <a:off x="1705356" y="5375147"/>
              <a:ext cx="561340" cy="965200"/>
            </a:xfrm>
            <a:custGeom>
              <a:avLst/>
              <a:gdLst/>
              <a:ahLst/>
              <a:cxnLst/>
              <a:rect l="l" t="t" r="r" b="b"/>
              <a:pathLst>
                <a:path w="561339" h="965200">
                  <a:moveTo>
                    <a:pt x="560832" y="280416"/>
                  </a:moveTo>
                  <a:lnTo>
                    <a:pt x="557149" y="234950"/>
                  </a:lnTo>
                  <a:lnTo>
                    <a:pt x="546519" y="191808"/>
                  </a:lnTo>
                  <a:lnTo>
                    <a:pt x="529513" y="151574"/>
                  </a:lnTo>
                  <a:lnTo>
                    <a:pt x="506704" y="114833"/>
                  </a:lnTo>
                  <a:lnTo>
                    <a:pt x="478675" y="82156"/>
                  </a:lnTo>
                  <a:lnTo>
                    <a:pt x="445998" y="54127"/>
                  </a:lnTo>
                  <a:lnTo>
                    <a:pt x="409257" y="31318"/>
                  </a:lnTo>
                  <a:lnTo>
                    <a:pt x="369023" y="14312"/>
                  </a:lnTo>
                  <a:lnTo>
                    <a:pt x="325882" y="3683"/>
                  </a:lnTo>
                  <a:lnTo>
                    <a:pt x="280416" y="0"/>
                  </a:lnTo>
                  <a:lnTo>
                    <a:pt x="234937" y="3683"/>
                  </a:lnTo>
                  <a:lnTo>
                    <a:pt x="191795" y="14312"/>
                  </a:lnTo>
                  <a:lnTo>
                    <a:pt x="151561" y="31318"/>
                  </a:lnTo>
                  <a:lnTo>
                    <a:pt x="114820" y="54127"/>
                  </a:lnTo>
                  <a:lnTo>
                    <a:pt x="82143" y="82156"/>
                  </a:lnTo>
                  <a:lnTo>
                    <a:pt x="54114" y="114833"/>
                  </a:lnTo>
                  <a:lnTo>
                    <a:pt x="31305" y="151574"/>
                  </a:lnTo>
                  <a:lnTo>
                    <a:pt x="14300" y="191808"/>
                  </a:lnTo>
                  <a:lnTo>
                    <a:pt x="3670" y="234950"/>
                  </a:lnTo>
                  <a:lnTo>
                    <a:pt x="0" y="280416"/>
                  </a:lnTo>
                  <a:lnTo>
                    <a:pt x="3670" y="325894"/>
                  </a:lnTo>
                  <a:lnTo>
                    <a:pt x="14300" y="369036"/>
                  </a:lnTo>
                  <a:lnTo>
                    <a:pt x="31305" y="409270"/>
                  </a:lnTo>
                  <a:lnTo>
                    <a:pt x="54114" y="446011"/>
                  </a:lnTo>
                  <a:lnTo>
                    <a:pt x="82143" y="478688"/>
                  </a:lnTo>
                  <a:lnTo>
                    <a:pt x="114820" y="506717"/>
                  </a:lnTo>
                  <a:lnTo>
                    <a:pt x="151561" y="529526"/>
                  </a:lnTo>
                  <a:lnTo>
                    <a:pt x="185928" y="544055"/>
                  </a:lnTo>
                  <a:lnTo>
                    <a:pt x="185928" y="936625"/>
                  </a:lnTo>
                  <a:lnTo>
                    <a:pt x="188125" y="947559"/>
                  </a:lnTo>
                  <a:lnTo>
                    <a:pt x="194144" y="956475"/>
                  </a:lnTo>
                  <a:lnTo>
                    <a:pt x="203060" y="962494"/>
                  </a:lnTo>
                  <a:lnTo>
                    <a:pt x="213995" y="964692"/>
                  </a:lnTo>
                  <a:lnTo>
                    <a:pt x="345313" y="964692"/>
                  </a:lnTo>
                  <a:lnTo>
                    <a:pt x="356222" y="962494"/>
                  </a:lnTo>
                  <a:lnTo>
                    <a:pt x="365150" y="956475"/>
                  </a:lnTo>
                  <a:lnTo>
                    <a:pt x="371170" y="947547"/>
                  </a:lnTo>
                  <a:lnTo>
                    <a:pt x="373380" y="936625"/>
                  </a:lnTo>
                  <a:lnTo>
                    <a:pt x="373380" y="544703"/>
                  </a:lnTo>
                  <a:lnTo>
                    <a:pt x="409257" y="529526"/>
                  </a:lnTo>
                  <a:lnTo>
                    <a:pt x="445998" y="506717"/>
                  </a:lnTo>
                  <a:lnTo>
                    <a:pt x="478675" y="478688"/>
                  </a:lnTo>
                  <a:lnTo>
                    <a:pt x="506704" y="446011"/>
                  </a:lnTo>
                  <a:lnTo>
                    <a:pt x="529513" y="409270"/>
                  </a:lnTo>
                  <a:lnTo>
                    <a:pt x="546519" y="369036"/>
                  </a:lnTo>
                  <a:lnTo>
                    <a:pt x="557149" y="325894"/>
                  </a:lnTo>
                  <a:lnTo>
                    <a:pt x="560832" y="280416"/>
                  </a:lnTo>
                  <a:close/>
                </a:path>
              </a:pathLst>
            </a:custGeom>
            <a:solidFill>
              <a:srgbClr val="ECEB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1857899" y="5526950"/>
              <a:ext cx="255904" cy="257810"/>
            </a:xfrm>
            <a:custGeom>
              <a:avLst/>
              <a:gdLst/>
              <a:ahLst/>
              <a:cxnLst/>
              <a:rect l="l" t="t" r="r" b="b"/>
              <a:pathLst>
                <a:path w="255905" h="257810">
                  <a:moveTo>
                    <a:pt x="0" y="0"/>
                  </a:moveTo>
                  <a:lnTo>
                    <a:pt x="255861" y="257326"/>
                  </a:lnTo>
                </a:path>
                <a:path w="255905" h="257810">
                  <a:moveTo>
                    <a:pt x="1617" y="256513"/>
                  </a:moveTo>
                  <a:lnTo>
                    <a:pt x="255154" y="1664"/>
                  </a:lnTo>
                </a:path>
              </a:pathLst>
            </a:custGeom>
            <a:ln w="11397">
              <a:solidFill>
                <a:srgbClr val="16161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2407411" y="5383783"/>
            <a:ext cx="6177280" cy="655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solidFill>
                  <a:srgbClr val="161612"/>
                </a:solidFill>
                <a:latin typeface="Tahoma"/>
                <a:cs typeface="Tahoma"/>
              </a:rPr>
              <a:t>REJECTED</a:t>
            </a:r>
            <a:endParaRPr sz="18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060"/>
              </a:spcBef>
            </a:pPr>
            <a:r>
              <a:rPr sz="1450" spc="45" dirty="0">
                <a:solidFill>
                  <a:srgbClr val="161612"/>
                </a:solidFill>
                <a:latin typeface="Tahoma"/>
                <a:cs typeface="Tahoma"/>
              </a:rPr>
              <a:t>Returned</a:t>
            </a:r>
            <a:r>
              <a:rPr sz="1450" spc="10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1450" spc="20" dirty="0">
                <a:solidFill>
                  <a:srgbClr val="161612"/>
                </a:solidFill>
                <a:latin typeface="Tahoma"/>
                <a:cs typeface="Tahoma"/>
              </a:rPr>
              <a:t>with </a:t>
            </a:r>
            <a:r>
              <a:rPr sz="1450" spc="65" dirty="0">
                <a:solidFill>
                  <a:srgbClr val="161612"/>
                </a:solidFill>
                <a:latin typeface="Tahoma"/>
                <a:cs typeface="Tahoma"/>
              </a:rPr>
              <a:t>comments</a:t>
            </a:r>
            <a:r>
              <a:rPr sz="1450" spc="25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1450" spc="55" dirty="0">
                <a:solidFill>
                  <a:srgbClr val="161612"/>
                </a:solidFill>
                <a:latin typeface="Tahoma"/>
                <a:cs typeface="Tahoma"/>
              </a:rPr>
              <a:t>for</a:t>
            </a:r>
            <a:r>
              <a:rPr sz="1450" spc="15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1450" spc="20" dirty="0">
                <a:solidFill>
                  <a:srgbClr val="161612"/>
                </a:solidFill>
                <a:latin typeface="Tahoma"/>
                <a:cs typeface="Tahoma"/>
              </a:rPr>
              <a:t>correction;</a:t>
            </a:r>
            <a:r>
              <a:rPr sz="1450" spc="5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1450" spc="60" dirty="0">
                <a:solidFill>
                  <a:srgbClr val="161612"/>
                </a:solidFill>
                <a:latin typeface="Tahoma"/>
                <a:cs typeface="Tahoma"/>
              </a:rPr>
              <a:t>versioned</a:t>
            </a:r>
            <a:r>
              <a:rPr sz="1450" spc="10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1450" spc="20" dirty="0">
                <a:solidFill>
                  <a:srgbClr val="161612"/>
                </a:solidFill>
                <a:latin typeface="Tahoma"/>
                <a:cs typeface="Tahoma"/>
              </a:rPr>
              <a:t>to</a:t>
            </a:r>
            <a:r>
              <a:rPr sz="1450" spc="15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1450" spc="70" dirty="0">
                <a:solidFill>
                  <a:srgbClr val="161612"/>
                </a:solidFill>
                <a:latin typeface="Tahoma"/>
                <a:cs typeface="Tahoma"/>
              </a:rPr>
              <a:t>preserve</a:t>
            </a:r>
            <a:r>
              <a:rPr sz="1450" spc="5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1450" spc="-10" dirty="0">
                <a:solidFill>
                  <a:srgbClr val="161612"/>
                </a:solidFill>
                <a:latin typeface="Tahoma"/>
                <a:cs typeface="Tahoma"/>
              </a:rPr>
              <a:t>history.</a:t>
            </a:r>
            <a:endParaRPr sz="1450">
              <a:latin typeface="Tahoma"/>
              <a:cs typeface="Tahoma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1424939" y="6650735"/>
            <a:ext cx="561340" cy="965200"/>
            <a:chOff x="1424939" y="6650735"/>
            <a:chExt cx="561340" cy="965200"/>
          </a:xfrm>
        </p:grpSpPr>
        <p:sp>
          <p:nvSpPr>
            <p:cNvPr id="21" name="object 21"/>
            <p:cNvSpPr/>
            <p:nvPr/>
          </p:nvSpPr>
          <p:spPr>
            <a:xfrm>
              <a:off x="1424940" y="6650735"/>
              <a:ext cx="561340" cy="965200"/>
            </a:xfrm>
            <a:custGeom>
              <a:avLst/>
              <a:gdLst/>
              <a:ahLst/>
              <a:cxnLst/>
              <a:rect l="l" t="t" r="r" b="b"/>
              <a:pathLst>
                <a:path w="561339" h="965200">
                  <a:moveTo>
                    <a:pt x="560832" y="280416"/>
                  </a:moveTo>
                  <a:lnTo>
                    <a:pt x="557149" y="234950"/>
                  </a:lnTo>
                  <a:lnTo>
                    <a:pt x="546519" y="191808"/>
                  </a:lnTo>
                  <a:lnTo>
                    <a:pt x="529513" y="151574"/>
                  </a:lnTo>
                  <a:lnTo>
                    <a:pt x="506704" y="114833"/>
                  </a:lnTo>
                  <a:lnTo>
                    <a:pt x="478675" y="82156"/>
                  </a:lnTo>
                  <a:lnTo>
                    <a:pt x="445998" y="54127"/>
                  </a:lnTo>
                  <a:lnTo>
                    <a:pt x="409257" y="31318"/>
                  </a:lnTo>
                  <a:lnTo>
                    <a:pt x="369023" y="14312"/>
                  </a:lnTo>
                  <a:lnTo>
                    <a:pt x="325882" y="3683"/>
                  </a:lnTo>
                  <a:lnTo>
                    <a:pt x="280416" y="0"/>
                  </a:lnTo>
                  <a:lnTo>
                    <a:pt x="234937" y="3683"/>
                  </a:lnTo>
                  <a:lnTo>
                    <a:pt x="191795" y="14312"/>
                  </a:lnTo>
                  <a:lnTo>
                    <a:pt x="151561" y="31318"/>
                  </a:lnTo>
                  <a:lnTo>
                    <a:pt x="114820" y="54127"/>
                  </a:lnTo>
                  <a:lnTo>
                    <a:pt x="82143" y="82156"/>
                  </a:lnTo>
                  <a:lnTo>
                    <a:pt x="54114" y="114833"/>
                  </a:lnTo>
                  <a:lnTo>
                    <a:pt x="31305" y="151574"/>
                  </a:lnTo>
                  <a:lnTo>
                    <a:pt x="14300" y="191808"/>
                  </a:lnTo>
                  <a:lnTo>
                    <a:pt x="3670" y="234950"/>
                  </a:lnTo>
                  <a:lnTo>
                    <a:pt x="0" y="280416"/>
                  </a:lnTo>
                  <a:lnTo>
                    <a:pt x="0" y="281940"/>
                  </a:lnTo>
                  <a:lnTo>
                    <a:pt x="3670" y="327431"/>
                  </a:lnTo>
                  <a:lnTo>
                    <a:pt x="14300" y="370573"/>
                  </a:lnTo>
                  <a:lnTo>
                    <a:pt x="31305" y="410806"/>
                  </a:lnTo>
                  <a:lnTo>
                    <a:pt x="54114" y="447548"/>
                  </a:lnTo>
                  <a:lnTo>
                    <a:pt x="82143" y="480225"/>
                  </a:lnTo>
                  <a:lnTo>
                    <a:pt x="114820" y="508254"/>
                  </a:lnTo>
                  <a:lnTo>
                    <a:pt x="151561" y="531063"/>
                  </a:lnTo>
                  <a:lnTo>
                    <a:pt x="185928" y="545592"/>
                  </a:lnTo>
                  <a:lnTo>
                    <a:pt x="185928" y="936561"/>
                  </a:lnTo>
                  <a:lnTo>
                    <a:pt x="188125" y="947521"/>
                  </a:lnTo>
                  <a:lnTo>
                    <a:pt x="194144" y="956462"/>
                  </a:lnTo>
                  <a:lnTo>
                    <a:pt x="203073" y="962482"/>
                  </a:lnTo>
                  <a:lnTo>
                    <a:pt x="213995" y="964692"/>
                  </a:lnTo>
                  <a:lnTo>
                    <a:pt x="345313" y="964692"/>
                  </a:lnTo>
                  <a:lnTo>
                    <a:pt x="356235" y="962482"/>
                  </a:lnTo>
                  <a:lnTo>
                    <a:pt x="365150" y="956462"/>
                  </a:lnTo>
                  <a:lnTo>
                    <a:pt x="371170" y="947521"/>
                  </a:lnTo>
                  <a:lnTo>
                    <a:pt x="373380" y="936561"/>
                  </a:lnTo>
                  <a:lnTo>
                    <a:pt x="373380" y="546239"/>
                  </a:lnTo>
                  <a:lnTo>
                    <a:pt x="409257" y="531063"/>
                  </a:lnTo>
                  <a:lnTo>
                    <a:pt x="445998" y="508254"/>
                  </a:lnTo>
                  <a:lnTo>
                    <a:pt x="478675" y="480225"/>
                  </a:lnTo>
                  <a:lnTo>
                    <a:pt x="506704" y="447548"/>
                  </a:lnTo>
                  <a:lnTo>
                    <a:pt x="529513" y="410806"/>
                  </a:lnTo>
                  <a:lnTo>
                    <a:pt x="546519" y="370573"/>
                  </a:lnTo>
                  <a:lnTo>
                    <a:pt x="557149" y="327431"/>
                  </a:lnTo>
                  <a:lnTo>
                    <a:pt x="560832" y="281940"/>
                  </a:lnTo>
                  <a:lnTo>
                    <a:pt x="560832" y="280416"/>
                  </a:lnTo>
                  <a:close/>
                </a:path>
              </a:pathLst>
            </a:custGeom>
            <a:solidFill>
              <a:srgbClr val="ECEB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2" name="object 2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571037" y="6806828"/>
              <a:ext cx="268754" cy="248729"/>
            </a:xfrm>
            <a:prstGeom prst="rect">
              <a:avLst/>
            </a:prstGeom>
          </p:spPr>
        </p:pic>
      </p:grpSp>
      <p:sp>
        <p:nvSpPr>
          <p:cNvPr id="23" name="object 23"/>
          <p:cNvSpPr txBox="1"/>
          <p:nvPr/>
        </p:nvSpPr>
        <p:spPr>
          <a:xfrm>
            <a:off x="2126995" y="6660007"/>
            <a:ext cx="5983605" cy="6673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60" dirty="0">
                <a:solidFill>
                  <a:srgbClr val="161612"/>
                </a:solidFill>
                <a:latin typeface="Tahoma"/>
                <a:cs typeface="Tahoma"/>
              </a:rPr>
              <a:t>CLOSED</a:t>
            </a:r>
            <a:endParaRPr sz="18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150"/>
              </a:spcBef>
            </a:pPr>
            <a:r>
              <a:rPr sz="1450" spc="60" dirty="0">
                <a:solidFill>
                  <a:srgbClr val="161612"/>
                </a:solidFill>
                <a:latin typeface="Tahoma"/>
                <a:cs typeface="Tahoma"/>
              </a:rPr>
              <a:t>Linked</a:t>
            </a:r>
            <a:r>
              <a:rPr sz="1450" spc="75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1450" dirty="0">
                <a:solidFill>
                  <a:srgbClr val="161612"/>
                </a:solidFill>
                <a:latin typeface="Tahoma"/>
                <a:cs typeface="Tahoma"/>
              </a:rPr>
              <a:t>to</a:t>
            </a:r>
            <a:r>
              <a:rPr sz="1450" spc="30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1450" spc="50" dirty="0">
                <a:solidFill>
                  <a:srgbClr val="161612"/>
                </a:solidFill>
                <a:latin typeface="Tahoma"/>
                <a:cs typeface="Tahoma"/>
              </a:rPr>
              <a:t>finalized</a:t>
            </a:r>
            <a:r>
              <a:rPr sz="1450" spc="45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1450" spc="100" dirty="0">
                <a:solidFill>
                  <a:srgbClr val="161612"/>
                </a:solidFill>
                <a:latin typeface="Tahoma"/>
                <a:cs typeface="Tahoma"/>
              </a:rPr>
              <a:t>PO</a:t>
            </a:r>
            <a:r>
              <a:rPr sz="1450" spc="45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1450" spc="55" dirty="0">
                <a:solidFill>
                  <a:srgbClr val="161612"/>
                </a:solidFill>
                <a:latin typeface="Tahoma"/>
                <a:cs typeface="Tahoma"/>
              </a:rPr>
              <a:t>and</a:t>
            </a:r>
            <a:r>
              <a:rPr sz="1450" spc="45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1450" dirty="0">
                <a:solidFill>
                  <a:srgbClr val="161612"/>
                </a:solidFill>
                <a:latin typeface="Tahoma"/>
                <a:cs typeface="Tahoma"/>
              </a:rPr>
              <a:t>fulfillment</a:t>
            </a:r>
            <a:r>
              <a:rPr sz="1450" spc="55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1450" spc="80" dirty="0">
                <a:solidFill>
                  <a:srgbClr val="161612"/>
                </a:solidFill>
                <a:latin typeface="Tahoma"/>
                <a:cs typeface="Tahoma"/>
              </a:rPr>
              <a:t>records</a:t>
            </a:r>
            <a:r>
              <a:rPr sz="1450" spc="55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1450" spc="130" dirty="0">
                <a:solidFill>
                  <a:srgbClr val="161612"/>
                </a:solidFill>
                <a:latin typeface="Tahoma"/>
                <a:cs typeface="Tahoma"/>
              </a:rPr>
              <a:t>—</a:t>
            </a:r>
            <a:r>
              <a:rPr sz="1450" spc="50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1450" dirty="0">
                <a:solidFill>
                  <a:srgbClr val="161612"/>
                </a:solidFill>
                <a:latin typeface="Tahoma"/>
                <a:cs typeface="Tahoma"/>
              </a:rPr>
              <a:t>immutable</a:t>
            </a:r>
            <a:r>
              <a:rPr sz="1450" spc="35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1450" spc="55" dirty="0">
                <a:solidFill>
                  <a:srgbClr val="161612"/>
                </a:solidFill>
                <a:latin typeface="Tahoma"/>
                <a:cs typeface="Tahoma"/>
              </a:rPr>
              <a:t>for</a:t>
            </a:r>
            <a:r>
              <a:rPr sz="1450" spc="45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1450" spc="-10" dirty="0">
                <a:solidFill>
                  <a:srgbClr val="161612"/>
                </a:solidFill>
                <a:latin typeface="Tahoma"/>
                <a:cs typeface="Tahoma"/>
              </a:rPr>
              <a:t>audit.</a:t>
            </a:r>
            <a:endParaRPr sz="145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886944" y="7658098"/>
            <a:ext cx="1743455" cy="571499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81304" y="729818"/>
            <a:ext cx="5861050" cy="5676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550" spc="110" dirty="0"/>
              <a:t>Key</a:t>
            </a:r>
            <a:r>
              <a:rPr sz="3550" spc="-150" dirty="0"/>
              <a:t> </a:t>
            </a:r>
            <a:r>
              <a:rPr sz="3550" spc="100" dirty="0"/>
              <a:t>Features</a:t>
            </a:r>
            <a:r>
              <a:rPr sz="3550" spc="-170" dirty="0"/>
              <a:t> </a:t>
            </a:r>
            <a:r>
              <a:rPr sz="3550" spc="210" dirty="0"/>
              <a:t>&amp;</a:t>
            </a:r>
            <a:r>
              <a:rPr sz="3550" spc="-145" dirty="0"/>
              <a:t> </a:t>
            </a:r>
            <a:r>
              <a:rPr sz="3550" spc="80" dirty="0"/>
              <a:t>Deliverables</a:t>
            </a:r>
            <a:endParaRPr sz="3550"/>
          </a:p>
        </p:txBody>
      </p:sp>
      <p:sp>
        <p:nvSpPr>
          <p:cNvPr id="4" name="object 4"/>
          <p:cNvSpPr/>
          <p:nvPr/>
        </p:nvSpPr>
        <p:spPr>
          <a:xfrm>
            <a:off x="794004" y="1786127"/>
            <a:ext cx="4196080" cy="2033270"/>
          </a:xfrm>
          <a:custGeom>
            <a:avLst/>
            <a:gdLst/>
            <a:ahLst/>
            <a:cxnLst/>
            <a:rect l="l" t="t" r="r" b="b"/>
            <a:pathLst>
              <a:path w="4196080" h="2033270">
                <a:moveTo>
                  <a:pt x="4161536" y="0"/>
                </a:moveTo>
                <a:lnTo>
                  <a:pt x="34036" y="0"/>
                </a:lnTo>
                <a:lnTo>
                  <a:pt x="20788" y="2674"/>
                </a:lnTo>
                <a:lnTo>
                  <a:pt x="9969" y="9969"/>
                </a:lnTo>
                <a:lnTo>
                  <a:pt x="2674" y="20788"/>
                </a:lnTo>
                <a:lnTo>
                  <a:pt x="0" y="34036"/>
                </a:lnTo>
                <a:lnTo>
                  <a:pt x="0" y="1998980"/>
                </a:lnTo>
                <a:lnTo>
                  <a:pt x="2674" y="2012227"/>
                </a:lnTo>
                <a:lnTo>
                  <a:pt x="9969" y="2023046"/>
                </a:lnTo>
                <a:lnTo>
                  <a:pt x="20788" y="2030341"/>
                </a:lnTo>
                <a:lnTo>
                  <a:pt x="34036" y="2033016"/>
                </a:lnTo>
                <a:lnTo>
                  <a:pt x="4161536" y="2033016"/>
                </a:lnTo>
                <a:lnTo>
                  <a:pt x="4174783" y="2030341"/>
                </a:lnTo>
                <a:lnTo>
                  <a:pt x="4185602" y="2023046"/>
                </a:lnTo>
                <a:lnTo>
                  <a:pt x="4192897" y="2012227"/>
                </a:lnTo>
                <a:lnTo>
                  <a:pt x="4195572" y="1998980"/>
                </a:lnTo>
                <a:lnTo>
                  <a:pt x="4195572" y="34036"/>
                </a:lnTo>
                <a:lnTo>
                  <a:pt x="4192897" y="20788"/>
                </a:lnTo>
                <a:lnTo>
                  <a:pt x="4185602" y="9969"/>
                </a:lnTo>
                <a:lnTo>
                  <a:pt x="4174783" y="2674"/>
                </a:lnTo>
                <a:lnTo>
                  <a:pt x="4161536" y="0"/>
                </a:lnTo>
                <a:close/>
              </a:path>
            </a:pathLst>
          </a:custGeom>
          <a:solidFill>
            <a:srgbClr val="ECEBE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008075" y="1988566"/>
            <a:ext cx="3434715" cy="158623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spc="95" dirty="0">
                <a:solidFill>
                  <a:srgbClr val="161612"/>
                </a:solidFill>
                <a:latin typeface="Tahoma"/>
                <a:cs typeface="Tahoma"/>
              </a:rPr>
              <a:t>Automated</a:t>
            </a:r>
            <a:r>
              <a:rPr sz="2200" spc="-85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2200" spc="-10" dirty="0">
                <a:solidFill>
                  <a:srgbClr val="161612"/>
                </a:solidFill>
                <a:latin typeface="Tahoma"/>
                <a:cs typeface="Tahoma"/>
              </a:rPr>
              <a:t>Workflow</a:t>
            </a:r>
            <a:endParaRPr sz="2200">
              <a:latin typeface="Tahoma"/>
              <a:cs typeface="Tahoma"/>
            </a:endParaRPr>
          </a:p>
          <a:p>
            <a:pPr marL="12700" marR="5080">
              <a:lnSpc>
                <a:spcPct val="138300"/>
              </a:lnSpc>
              <a:spcBef>
                <a:spcPts val="940"/>
              </a:spcBef>
            </a:pPr>
            <a:r>
              <a:rPr sz="1750" spc="75" dirty="0">
                <a:solidFill>
                  <a:srgbClr val="161612"/>
                </a:solidFill>
                <a:latin typeface="Tahoma"/>
                <a:cs typeface="Tahoma"/>
              </a:rPr>
              <a:t>Configurable</a:t>
            </a:r>
            <a:r>
              <a:rPr sz="1750" spc="-50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1750" spc="55" dirty="0">
                <a:solidFill>
                  <a:srgbClr val="161612"/>
                </a:solidFill>
                <a:latin typeface="Tahoma"/>
                <a:cs typeface="Tahoma"/>
              </a:rPr>
              <a:t>approvals, </a:t>
            </a:r>
            <a:r>
              <a:rPr sz="1750" spc="50" dirty="0">
                <a:solidFill>
                  <a:srgbClr val="161612"/>
                </a:solidFill>
                <a:latin typeface="Tahoma"/>
                <a:cs typeface="Tahoma"/>
              </a:rPr>
              <a:t>notifications,</a:t>
            </a:r>
            <a:r>
              <a:rPr sz="1750" spc="-30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1750" spc="70" dirty="0">
                <a:solidFill>
                  <a:srgbClr val="161612"/>
                </a:solidFill>
                <a:latin typeface="Tahoma"/>
                <a:cs typeface="Tahoma"/>
              </a:rPr>
              <a:t>and</a:t>
            </a:r>
            <a:r>
              <a:rPr sz="1750" spc="-30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1750" spc="120" dirty="0">
                <a:solidFill>
                  <a:srgbClr val="161612"/>
                </a:solidFill>
                <a:latin typeface="Tahoma"/>
                <a:cs typeface="Tahoma"/>
              </a:rPr>
              <a:t>PO</a:t>
            </a:r>
            <a:r>
              <a:rPr sz="1750" spc="-50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1750" spc="75" dirty="0">
                <a:solidFill>
                  <a:srgbClr val="161612"/>
                </a:solidFill>
                <a:latin typeface="Tahoma"/>
                <a:cs typeface="Tahoma"/>
              </a:rPr>
              <a:t>conversion </a:t>
            </a:r>
            <a:r>
              <a:rPr sz="1750" spc="60" dirty="0">
                <a:solidFill>
                  <a:srgbClr val="161612"/>
                </a:solidFill>
                <a:latin typeface="Tahoma"/>
                <a:cs typeface="Tahoma"/>
              </a:rPr>
              <a:t>from</a:t>
            </a:r>
            <a:r>
              <a:rPr sz="1750" spc="-40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1750" spc="80" dirty="0">
                <a:solidFill>
                  <a:srgbClr val="161612"/>
                </a:solidFill>
                <a:latin typeface="Tahoma"/>
                <a:cs typeface="Tahoma"/>
              </a:rPr>
              <a:t>approved</a:t>
            </a:r>
            <a:r>
              <a:rPr sz="1750" spc="-25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1750" spc="40" dirty="0">
                <a:solidFill>
                  <a:srgbClr val="161612"/>
                </a:solidFill>
                <a:latin typeface="Tahoma"/>
                <a:cs typeface="Tahoma"/>
              </a:rPr>
              <a:t>requisitions.</a:t>
            </a:r>
            <a:endParaRPr sz="1750">
              <a:latin typeface="Tahoma"/>
              <a:cs typeface="Tahoma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5216652" y="1786127"/>
            <a:ext cx="4197350" cy="2033270"/>
          </a:xfrm>
          <a:custGeom>
            <a:avLst/>
            <a:gdLst/>
            <a:ahLst/>
            <a:cxnLst/>
            <a:rect l="l" t="t" r="r" b="b"/>
            <a:pathLst>
              <a:path w="4197350" h="2033270">
                <a:moveTo>
                  <a:pt x="4163059" y="0"/>
                </a:moveTo>
                <a:lnTo>
                  <a:pt x="34036" y="0"/>
                </a:lnTo>
                <a:lnTo>
                  <a:pt x="20788" y="2674"/>
                </a:lnTo>
                <a:lnTo>
                  <a:pt x="9969" y="9969"/>
                </a:lnTo>
                <a:lnTo>
                  <a:pt x="2674" y="20788"/>
                </a:lnTo>
                <a:lnTo>
                  <a:pt x="0" y="34036"/>
                </a:lnTo>
                <a:lnTo>
                  <a:pt x="0" y="1998980"/>
                </a:lnTo>
                <a:lnTo>
                  <a:pt x="2674" y="2012227"/>
                </a:lnTo>
                <a:lnTo>
                  <a:pt x="9969" y="2023046"/>
                </a:lnTo>
                <a:lnTo>
                  <a:pt x="20788" y="2030341"/>
                </a:lnTo>
                <a:lnTo>
                  <a:pt x="34036" y="2033016"/>
                </a:lnTo>
                <a:lnTo>
                  <a:pt x="4163059" y="2033016"/>
                </a:lnTo>
                <a:lnTo>
                  <a:pt x="4176307" y="2030341"/>
                </a:lnTo>
                <a:lnTo>
                  <a:pt x="4187126" y="2023046"/>
                </a:lnTo>
                <a:lnTo>
                  <a:pt x="4194421" y="2012227"/>
                </a:lnTo>
                <a:lnTo>
                  <a:pt x="4197096" y="1998980"/>
                </a:lnTo>
                <a:lnTo>
                  <a:pt x="4197096" y="34036"/>
                </a:lnTo>
                <a:lnTo>
                  <a:pt x="4194421" y="20788"/>
                </a:lnTo>
                <a:lnTo>
                  <a:pt x="4187126" y="9969"/>
                </a:lnTo>
                <a:lnTo>
                  <a:pt x="4176307" y="2674"/>
                </a:lnTo>
                <a:lnTo>
                  <a:pt x="4163059" y="0"/>
                </a:lnTo>
                <a:close/>
              </a:path>
            </a:pathLst>
          </a:custGeom>
          <a:solidFill>
            <a:srgbClr val="ECEBE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5431663" y="1988566"/>
            <a:ext cx="3680460" cy="158623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95"/>
              </a:spcBef>
            </a:pPr>
            <a:r>
              <a:rPr sz="2200" spc="55" dirty="0">
                <a:solidFill>
                  <a:srgbClr val="161612"/>
                </a:solidFill>
                <a:latin typeface="Tahoma"/>
                <a:cs typeface="Tahoma"/>
              </a:rPr>
              <a:t>Reporting</a:t>
            </a:r>
            <a:r>
              <a:rPr sz="2200" spc="-105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2200" spc="114" dirty="0">
                <a:solidFill>
                  <a:srgbClr val="161612"/>
                </a:solidFill>
                <a:latin typeface="Tahoma"/>
                <a:cs typeface="Tahoma"/>
              </a:rPr>
              <a:t>&amp;</a:t>
            </a:r>
            <a:r>
              <a:rPr sz="2200" spc="-114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2200" spc="50" dirty="0">
                <a:solidFill>
                  <a:srgbClr val="161612"/>
                </a:solidFill>
                <a:latin typeface="Tahoma"/>
                <a:cs typeface="Tahoma"/>
              </a:rPr>
              <a:t>Export</a:t>
            </a:r>
            <a:endParaRPr sz="2200">
              <a:latin typeface="Tahoma"/>
              <a:cs typeface="Tahoma"/>
            </a:endParaRPr>
          </a:p>
          <a:p>
            <a:pPr marL="12700" marR="5080" algn="just">
              <a:lnSpc>
                <a:spcPct val="138300"/>
              </a:lnSpc>
              <a:spcBef>
                <a:spcPts val="940"/>
              </a:spcBef>
            </a:pPr>
            <a:r>
              <a:rPr sz="1750" spc="75" dirty="0">
                <a:solidFill>
                  <a:srgbClr val="161612"/>
                </a:solidFill>
                <a:latin typeface="Tahoma"/>
                <a:cs typeface="Tahoma"/>
              </a:rPr>
              <a:t>Dynamic</a:t>
            </a:r>
            <a:r>
              <a:rPr sz="1750" spc="-25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1750" spc="110" dirty="0">
                <a:solidFill>
                  <a:srgbClr val="161612"/>
                </a:solidFill>
                <a:latin typeface="Tahoma"/>
                <a:cs typeface="Tahoma"/>
              </a:rPr>
              <a:t>PDF/XLSX</a:t>
            </a:r>
            <a:r>
              <a:rPr sz="1750" spc="-85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1750" spc="55" dirty="0">
                <a:solidFill>
                  <a:srgbClr val="161612"/>
                </a:solidFill>
                <a:latin typeface="Tahoma"/>
                <a:cs typeface="Tahoma"/>
              </a:rPr>
              <a:t>generation</a:t>
            </a:r>
            <a:r>
              <a:rPr sz="1750" spc="-30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1750" spc="40" dirty="0">
                <a:solidFill>
                  <a:srgbClr val="161612"/>
                </a:solidFill>
                <a:latin typeface="Tahoma"/>
                <a:cs typeface="Tahoma"/>
              </a:rPr>
              <a:t>via </a:t>
            </a:r>
            <a:r>
              <a:rPr sz="1750" spc="90" dirty="0">
                <a:solidFill>
                  <a:srgbClr val="161612"/>
                </a:solidFill>
                <a:latin typeface="Tahoma"/>
                <a:cs typeface="Tahoma"/>
              </a:rPr>
              <a:t>JasperReports</a:t>
            </a:r>
            <a:r>
              <a:rPr sz="1750" spc="-10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1750" spc="70" dirty="0">
                <a:solidFill>
                  <a:srgbClr val="161612"/>
                </a:solidFill>
                <a:latin typeface="Tahoma"/>
                <a:cs typeface="Tahoma"/>
              </a:rPr>
              <a:t>and</a:t>
            </a:r>
            <a:r>
              <a:rPr sz="1750" spc="-30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1750" spc="105" dirty="0">
                <a:solidFill>
                  <a:srgbClr val="161612"/>
                </a:solidFill>
                <a:latin typeface="Tahoma"/>
                <a:cs typeface="Tahoma"/>
              </a:rPr>
              <a:t>Apache</a:t>
            </a:r>
            <a:r>
              <a:rPr sz="1750" spc="-15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1750" dirty="0">
                <a:solidFill>
                  <a:srgbClr val="161612"/>
                </a:solidFill>
                <a:latin typeface="Tahoma"/>
                <a:cs typeface="Tahoma"/>
              </a:rPr>
              <a:t>POI</a:t>
            </a:r>
            <a:r>
              <a:rPr sz="1750" spc="-50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1750" spc="40" dirty="0">
                <a:solidFill>
                  <a:srgbClr val="161612"/>
                </a:solidFill>
                <a:latin typeface="Tahoma"/>
                <a:cs typeface="Tahoma"/>
              </a:rPr>
              <a:t>for </a:t>
            </a:r>
            <a:r>
              <a:rPr sz="1750" spc="60" dirty="0">
                <a:solidFill>
                  <a:srgbClr val="161612"/>
                </a:solidFill>
                <a:latin typeface="Tahoma"/>
                <a:cs typeface="Tahoma"/>
              </a:rPr>
              <a:t>financial</a:t>
            </a:r>
            <a:r>
              <a:rPr sz="1750" spc="45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1750" spc="75" dirty="0">
                <a:solidFill>
                  <a:srgbClr val="161612"/>
                </a:solidFill>
                <a:latin typeface="Tahoma"/>
                <a:cs typeface="Tahoma"/>
              </a:rPr>
              <a:t>and</a:t>
            </a:r>
            <a:r>
              <a:rPr sz="1750" spc="20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1750" dirty="0">
                <a:solidFill>
                  <a:srgbClr val="161612"/>
                </a:solidFill>
                <a:latin typeface="Tahoma"/>
                <a:cs typeface="Tahoma"/>
              </a:rPr>
              <a:t>audit</a:t>
            </a:r>
            <a:r>
              <a:rPr sz="1750" spc="30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1750" spc="40" dirty="0">
                <a:solidFill>
                  <a:srgbClr val="161612"/>
                </a:solidFill>
                <a:latin typeface="Tahoma"/>
                <a:cs typeface="Tahoma"/>
              </a:rPr>
              <a:t>reports.</a:t>
            </a:r>
            <a:endParaRPr sz="1750">
              <a:latin typeface="Tahoma"/>
              <a:cs typeface="Tahoma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9640823" y="1786127"/>
            <a:ext cx="4196080" cy="2033270"/>
          </a:xfrm>
          <a:custGeom>
            <a:avLst/>
            <a:gdLst/>
            <a:ahLst/>
            <a:cxnLst/>
            <a:rect l="l" t="t" r="r" b="b"/>
            <a:pathLst>
              <a:path w="4196080" h="2033270">
                <a:moveTo>
                  <a:pt x="4161535" y="0"/>
                </a:moveTo>
                <a:lnTo>
                  <a:pt x="34035" y="0"/>
                </a:lnTo>
                <a:lnTo>
                  <a:pt x="20788" y="2674"/>
                </a:lnTo>
                <a:lnTo>
                  <a:pt x="9969" y="9969"/>
                </a:lnTo>
                <a:lnTo>
                  <a:pt x="2674" y="20788"/>
                </a:lnTo>
                <a:lnTo>
                  <a:pt x="0" y="34036"/>
                </a:lnTo>
                <a:lnTo>
                  <a:pt x="0" y="1998980"/>
                </a:lnTo>
                <a:lnTo>
                  <a:pt x="2674" y="2012227"/>
                </a:lnTo>
                <a:lnTo>
                  <a:pt x="9969" y="2023046"/>
                </a:lnTo>
                <a:lnTo>
                  <a:pt x="20788" y="2030341"/>
                </a:lnTo>
                <a:lnTo>
                  <a:pt x="34035" y="2033016"/>
                </a:lnTo>
                <a:lnTo>
                  <a:pt x="4161535" y="2033016"/>
                </a:lnTo>
                <a:lnTo>
                  <a:pt x="4174783" y="2030341"/>
                </a:lnTo>
                <a:lnTo>
                  <a:pt x="4185602" y="2023046"/>
                </a:lnTo>
                <a:lnTo>
                  <a:pt x="4192897" y="2012227"/>
                </a:lnTo>
                <a:lnTo>
                  <a:pt x="4195572" y="1998980"/>
                </a:lnTo>
                <a:lnTo>
                  <a:pt x="4195572" y="34036"/>
                </a:lnTo>
                <a:lnTo>
                  <a:pt x="4192897" y="20788"/>
                </a:lnTo>
                <a:lnTo>
                  <a:pt x="4185602" y="9969"/>
                </a:lnTo>
                <a:lnTo>
                  <a:pt x="4174783" y="2674"/>
                </a:lnTo>
                <a:lnTo>
                  <a:pt x="4161535" y="0"/>
                </a:lnTo>
                <a:close/>
              </a:path>
            </a:pathLst>
          </a:custGeom>
          <a:solidFill>
            <a:srgbClr val="ECEBE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9855200" y="1988566"/>
            <a:ext cx="3533140" cy="158623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spc="85" dirty="0">
                <a:solidFill>
                  <a:srgbClr val="161612"/>
                </a:solidFill>
                <a:latin typeface="Tahoma"/>
                <a:cs typeface="Tahoma"/>
              </a:rPr>
              <a:t>Audit</a:t>
            </a:r>
            <a:r>
              <a:rPr sz="2200" spc="-90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2200" spc="-10" dirty="0">
                <a:solidFill>
                  <a:srgbClr val="161612"/>
                </a:solidFill>
                <a:latin typeface="Tahoma"/>
                <a:cs typeface="Tahoma"/>
              </a:rPr>
              <a:t>Trail</a:t>
            </a:r>
            <a:endParaRPr sz="2200">
              <a:latin typeface="Tahoma"/>
              <a:cs typeface="Tahoma"/>
            </a:endParaRPr>
          </a:p>
          <a:p>
            <a:pPr marL="12700" marR="5080">
              <a:lnSpc>
                <a:spcPct val="138300"/>
              </a:lnSpc>
              <a:spcBef>
                <a:spcPts val="940"/>
              </a:spcBef>
            </a:pPr>
            <a:r>
              <a:rPr sz="1750" dirty="0">
                <a:solidFill>
                  <a:srgbClr val="161612"/>
                </a:solidFill>
                <a:latin typeface="Tahoma"/>
                <a:cs typeface="Tahoma"/>
              </a:rPr>
              <a:t>Immutable</a:t>
            </a:r>
            <a:r>
              <a:rPr sz="1750" spc="50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1750" spc="60" dirty="0">
                <a:solidFill>
                  <a:srgbClr val="161612"/>
                </a:solidFill>
                <a:latin typeface="Tahoma"/>
                <a:cs typeface="Tahoma"/>
              </a:rPr>
              <a:t>event</a:t>
            </a:r>
            <a:r>
              <a:rPr sz="1750" spc="35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1750" spc="70" dirty="0">
                <a:solidFill>
                  <a:srgbClr val="161612"/>
                </a:solidFill>
                <a:latin typeface="Tahoma"/>
                <a:cs typeface="Tahoma"/>
              </a:rPr>
              <a:t>logging</a:t>
            </a:r>
            <a:r>
              <a:rPr sz="1750" spc="15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1750" spc="40" dirty="0">
                <a:solidFill>
                  <a:srgbClr val="161612"/>
                </a:solidFill>
                <a:latin typeface="Tahoma"/>
                <a:cs typeface="Tahoma"/>
              </a:rPr>
              <a:t>for </a:t>
            </a:r>
            <a:r>
              <a:rPr sz="1750" spc="65" dirty="0">
                <a:solidFill>
                  <a:srgbClr val="161612"/>
                </a:solidFill>
                <a:latin typeface="Tahoma"/>
                <a:cs typeface="Tahoma"/>
              </a:rPr>
              <a:t>approvals,</a:t>
            </a:r>
            <a:r>
              <a:rPr sz="1750" spc="50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1750" dirty="0">
                <a:solidFill>
                  <a:srgbClr val="161612"/>
                </a:solidFill>
                <a:latin typeface="Tahoma"/>
                <a:cs typeface="Tahoma"/>
              </a:rPr>
              <a:t>edits,</a:t>
            </a:r>
            <a:r>
              <a:rPr sz="1750" spc="35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1750" spc="65" dirty="0">
                <a:solidFill>
                  <a:srgbClr val="161612"/>
                </a:solidFill>
                <a:latin typeface="Tahoma"/>
                <a:cs typeface="Tahoma"/>
              </a:rPr>
              <a:t>and</a:t>
            </a:r>
            <a:r>
              <a:rPr sz="1750" spc="35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1750" spc="120" dirty="0">
                <a:solidFill>
                  <a:srgbClr val="161612"/>
                </a:solidFill>
                <a:latin typeface="Tahoma"/>
                <a:cs typeface="Tahoma"/>
              </a:rPr>
              <a:t>PO</a:t>
            </a:r>
            <a:r>
              <a:rPr sz="1750" spc="15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1750" spc="75" dirty="0">
                <a:solidFill>
                  <a:srgbClr val="161612"/>
                </a:solidFill>
                <a:latin typeface="Tahoma"/>
                <a:cs typeface="Tahoma"/>
              </a:rPr>
              <a:t>lifecycle </a:t>
            </a:r>
            <a:r>
              <a:rPr sz="1750" dirty="0">
                <a:solidFill>
                  <a:srgbClr val="161612"/>
                </a:solidFill>
                <a:latin typeface="Tahoma"/>
                <a:cs typeface="Tahoma"/>
              </a:rPr>
              <a:t>to</a:t>
            </a:r>
            <a:r>
              <a:rPr sz="1750" spc="-15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1750" spc="65" dirty="0">
                <a:solidFill>
                  <a:srgbClr val="161612"/>
                </a:solidFill>
                <a:latin typeface="Tahoma"/>
                <a:cs typeface="Tahoma"/>
              </a:rPr>
              <a:t>support</a:t>
            </a:r>
            <a:r>
              <a:rPr sz="1750" spc="10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1750" spc="60" dirty="0">
                <a:solidFill>
                  <a:srgbClr val="161612"/>
                </a:solidFill>
                <a:latin typeface="Tahoma"/>
                <a:cs typeface="Tahoma"/>
              </a:rPr>
              <a:t>compliance.</a:t>
            </a:r>
            <a:endParaRPr sz="1750">
              <a:latin typeface="Tahoma"/>
              <a:cs typeface="Tahoma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794004" y="4046220"/>
            <a:ext cx="4196080" cy="2033270"/>
          </a:xfrm>
          <a:custGeom>
            <a:avLst/>
            <a:gdLst/>
            <a:ahLst/>
            <a:cxnLst/>
            <a:rect l="l" t="t" r="r" b="b"/>
            <a:pathLst>
              <a:path w="4196080" h="2033270">
                <a:moveTo>
                  <a:pt x="4161536" y="0"/>
                </a:moveTo>
                <a:lnTo>
                  <a:pt x="34036" y="0"/>
                </a:lnTo>
                <a:lnTo>
                  <a:pt x="20788" y="2674"/>
                </a:lnTo>
                <a:lnTo>
                  <a:pt x="9969" y="9969"/>
                </a:lnTo>
                <a:lnTo>
                  <a:pt x="2674" y="20788"/>
                </a:lnTo>
                <a:lnTo>
                  <a:pt x="0" y="34035"/>
                </a:lnTo>
                <a:lnTo>
                  <a:pt x="0" y="1998979"/>
                </a:lnTo>
                <a:lnTo>
                  <a:pt x="2674" y="2012227"/>
                </a:lnTo>
                <a:lnTo>
                  <a:pt x="9969" y="2023046"/>
                </a:lnTo>
                <a:lnTo>
                  <a:pt x="20788" y="2030341"/>
                </a:lnTo>
                <a:lnTo>
                  <a:pt x="34036" y="2033015"/>
                </a:lnTo>
                <a:lnTo>
                  <a:pt x="4161536" y="2033015"/>
                </a:lnTo>
                <a:lnTo>
                  <a:pt x="4174783" y="2030341"/>
                </a:lnTo>
                <a:lnTo>
                  <a:pt x="4185602" y="2023046"/>
                </a:lnTo>
                <a:lnTo>
                  <a:pt x="4192897" y="2012227"/>
                </a:lnTo>
                <a:lnTo>
                  <a:pt x="4195572" y="1998979"/>
                </a:lnTo>
                <a:lnTo>
                  <a:pt x="4195572" y="34035"/>
                </a:lnTo>
                <a:lnTo>
                  <a:pt x="4192897" y="20788"/>
                </a:lnTo>
                <a:lnTo>
                  <a:pt x="4185602" y="9969"/>
                </a:lnTo>
                <a:lnTo>
                  <a:pt x="4174783" y="2674"/>
                </a:lnTo>
                <a:lnTo>
                  <a:pt x="4161536" y="0"/>
                </a:lnTo>
                <a:close/>
              </a:path>
            </a:pathLst>
          </a:custGeom>
          <a:solidFill>
            <a:srgbClr val="ECEBE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1008075" y="4248099"/>
            <a:ext cx="3740785" cy="15868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spc="50" dirty="0">
                <a:solidFill>
                  <a:srgbClr val="161612"/>
                </a:solidFill>
                <a:latin typeface="Tahoma"/>
                <a:cs typeface="Tahoma"/>
              </a:rPr>
              <a:t>Financial</a:t>
            </a:r>
            <a:r>
              <a:rPr sz="2200" spc="-95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2200" spc="80" dirty="0">
                <a:solidFill>
                  <a:srgbClr val="161612"/>
                </a:solidFill>
                <a:latin typeface="Tahoma"/>
                <a:cs typeface="Tahoma"/>
              </a:rPr>
              <a:t>Controls</a:t>
            </a:r>
            <a:endParaRPr sz="2200">
              <a:latin typeface="Tahoma"/>
              <a:cs typeface="Tahoma"/>
            </a:endParaRPr>
          </a:p>
          <a:p>
            <a:pPr marL="12700" marR="5080">
              <a:lnSpc>
                <a:spcPct val="138300"/>
              </a:lnSpc>
              <a:spcBef>
                <a:spcPts val="944"/>
              </a:spcBef>
            </a:pPr>
            <a:r>
              <a:rPr sz="1750" spc="60" dirty="0">
                <a:solidFill>
                  <a:srgbClr val="161612"/>
                </a:solidFill>
                <a:latin typeface="Tahoma"/>
                <a:cs typeface="Tahoma"/>
              </a:rPr>
              <a:t>Automated</a:t>
            </a:r>
            <a:r>
              <a:rPr sz="1750" spc="5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1750" dirty="0">
                <a:solidFill>
                  <a:srgbClr val="161612"/>
                </a:solidFill>
                <a:latin typeface="Tahoma"/>
                <a:cs typeface="Tahoma"/>
              </a:rPr>
              <a:t>tax</a:t>
            </a:r>
            <a:r>
              <a:rPr sz="1750" spc="-15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1750" spc="60" dirty="0">
                <a:solidFill>
                  <a:srgbClr val="161612"/>
                </a:solidFill>
                <a:latin typeface="Tahoma"/>
                <a:cs typeface="Tahoma"/>
              </a:rPr>
              <a:t>calculations,</a:t>
            </a:r>
            <a:r>
              <a:rPr sz="1750" spc="25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1750" spc="55" dirty="0">
                <a:solidFill>
                  <a:srgbClr val="161612"/>
                </a:solidFill>
                <a:latin typeface="Tahoma"/>
                <a:cs typeface="Tahoma"/>
              </a:rPr>
              <a:t>budget </a:t>
            </a:r>
            <a:r>
              <a:rPr sz="1750" spc="95" dirty="0">
                <a:solidFill>
                  <a:srgbClr val="161612"/>
                </a:solidFill>
                <a:latin typeface="Tahoma"/>
                <a:cs typeface="Tahoma"/>
              </a:rPr>
              <a:t>checks,</a:t>
            </a:r>
            <a:r>
              <a:rPr sz="1750" spc="-60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1750" spc="70" dirty="0">
                <a:solidFill>
                  <a:srgbClr val="161612"/>
                </a:solidFill>
                <a:latin typeface="Tahoma"/>
                <a:cs typeface="Tahoma"/>
              </a:rPr>
              <a:t>and</a:t>
            </a:r>
            <a:r>
              <a:rPr sz="1750" spc="-50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1750" spc="95" dirty="0">
                <a:solidFill>
                  <a:srgbClr val="161612"/>
                </a:solidFill>
                <a:latin typeface="Tahoma"/>
                <a:cs typeface="Tahoma"/>
              </a:rPr>
              <a:t>spend</a:t>
            </a:r>
            <a:r>
              <a:rPr sz="1750" spc="-40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1750" spc="45" dirty="0">
                <a:solidFill>
                  <a:srgbClr val="161612"/>
                </a:solidFill>
                <a:latin typeface="Tahoma"/>
                <a:cs typeface="Tahoma"/>
              </a:rPr>
              <a:t>validations </a:t>
            </a:r>
            <a:r>
              <a:rPr sz="1750" spc="75" dirty="0">
                <a:solidFill>
                  <a:srgbClr val="161612"/>
                </a:solidFill>
                <a:latin typeface="Tahoma"/>
                <a:cs typeface="Tahoma"/>
              </a:rPr>
              <a:t>before</a:t>
            </a:r>
            <a:r>
              <a:rPr sz="1750" spc="-25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1750" spc="55" dirty="0">
                <a:solidFill>
                  <a:srgbClr val="161612"/>
                </a:solidFill>
                <a:latin typeface="Tahoma"/>
                <a:cs typeface="Tahoma"/>
              </a:rPr>
              <a:t>approvals.</a:t>
            </a:r>
            <a:endParaRPr sz="1750">
              <a:latin typeface="Tahoma"/>
              <a:cs typeface="Tahoma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5216652" y="4046220"/>
            <a:ext cx="4197350" cy="2033270"/>
          </a:xfrm>
          <a:custGeom>
            <a:avLst/>
            <a:gdLst/>
            <a:ahLst/>
            <a:cxnLst/>
            <a:rect l="l" t="t" r="r" b="b"/>
            <a:pathLst>
              <a:path w="4197350" h="2033270">
                <a:moveTo>
                  <a:pt x="4163059" y="0"/>
                </a:moveTo>
                <a:lnTo>
                  <a:pt x="34036" y="0"/>
                </a:lnTo>
                <a:lnTo>
                  <a:pt x="20788" y="2674"/>
                </a:lnTo>
                <a:lnTo>
                  <a:pt x="9969" y="9969"/>
                </a:lnTo>
                <a:lnTo>
                  <a:pt x="2674" y="20788"/>
                </a:lnTo>
                <a:lnTo>
                  <a:pt x="0" y="34035"/>
                </a:lnTo>
                <a:lnTo>
                  <a:pt x="0" y="1998979"/>
                </a:lnTo>
                <a:lnTo>
                  <a:pt x="2674" y="2012227"/>
                </a:lnTo>
                <a:lnTo>
                  <a:pt x="9969" y="2023046"/>
                </a:lnTo>
                <a:lnTo>
                  <a:pt x="20788" y="2030341"/>
                </a:lnTo>
                <a:lnTo>
                  <a:pt x="34036" y="2033015"/>
                </a:lnTo>
                <a:lnTo>
                  <a:pt x="4163059" y="2033015"/>
                </a:lnTo>
                <a:lnTo>
                  <a:pt x="4176307" y="2030341"/>
                </a:lnTo>
                <a:lnTo>
                  <a:pt x="4187126" y="2023046"/>
                </a:lnTo>
                <a:lnTo>
                  <a:pt x="4194421" y="2012227"/>
                </a:lnTo>
                <a:lnTo>
                  <a:pt x="4197096" y="1998979"/>
                </a:lnTo>
                <a:lnTo>
                  <a:pt x="4197096" y="34035"/>
                </a:lnTo>
                <a:lnTo>
                  <a:pt x="4194421" y="20788"/>
                </a:lnTo>
                <a:lnTo>
                  <a:pt x="4187126" y="9969"/>
                </a:lnTo>
                <a:lnTo>
                  <a:pt x="4176307" y="2674"/>
                </a:lnTo>
                <a:lnTo>
                  <a:pt x="4163059" y="0"/>
                </a:lnTo>
                <a:close/>
              </a:path>
            </a:pathLst>
          </a:custGeom>
          <a:solidFill>
            <a:srgbClr val="ECEBE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5431663" y="4248099"/>
            <a:ext cx="3680460" cy="15868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spc="95" dirty="0">
                <a:solidFill>
                  <a:srgbClr val="161612"/>
                </a:solidFill>
                <a:latin typeface="Tahoma"/>
                <a:cs typeface="Tahoma"/>
              </a:rPr>
              <a:t>Role-</a:t>
            </a:r>
            <a:r>
              <a:rPr sz="2200" spc="80" dirty="0">
                <a:solidFill>
                  <a:srgbClr val="161612"/>
                </a:solidFill>
                <a:latin typeface="Tahoma"/>
                <a:cs typeface="Tahoma"/>
              </a:rPr>
              <a:t>Based</a:t>
            </a:r>
            <a:r>
              <a:rPr sz="2200" spc="-90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2200" spc="70" dirty="0">
                <a:solidFill>
                  <a:srgbClr val="161612"/>
                </a:solidFill>
                <a:latin typeface="Tahoma"/>
                <a:cs typeface="Tahoma"/>
              </a:rPr>
              <a:t>Dashboards</a:t>
            </a:r>
            <a:endParaRPr sz="2200">
              <a:latin typeface="Tahoma"/>
              <a:cs typeface="Tahoma"/>
            </a:endParaRPr>
          </a:p>
          <a:p>
            <a:pPr marL="12700" marR="5080">
              <a:lnSpc>
                <a:spcPct val="138300"/>
              </a:lnSpc>
              <a:spcBef>
                <a:spcPts val="944"/>
              </a:spcBef>
            </a:pPr>
            <a:r>
              <a:rPr sz="1750" spc="55" dirty="0">
                <a:solidFill>
                  <a:srgbClr val="161612"/>
                </a:solidFill>
                <a:latin typeface="Tahoma"/>
                <a:cs typeface="Tahoma"/>
              </a:rPr>
              <a:t>Admin,</a:t>
            </a:r>
            <a:r>
              <a:rPr sz="1750" spc="-35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1750" spc="75" dirty="0">
                <a:solidFill>
                  <a:srgbClr val="161612"/>
                </a:solidFill>
                <a:latin typeface="Tahoma"/>
                <a:cs typeface="Tahoma"/>
              </a:rPr>
              <a:t>Manager,</a:t>
            </a:r>
            <a:r>
              <a:rPr sz="1750" spc="-40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1750" spc="70" dirty="0">
                <a:solidFill>
                  <a:srgbClr val="161612"/>
                </a:solidFill>
                <a:latin typeface="Tahoma"/>
                <a:cs typeface="Tahoma"/>
              </a:rPr>
              <a:t>and</a:t>
            </a:r>
            <a:r>
              <a:rPr sz="1750" spc="-35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1750" spc="65" dirty="0">
                <a:solidFill>
                  <a:srgbClr val="161612"/>
                </a:solidFill>
                <a:latin typeface="Tahoma"/>
                <a:cs typeface="Tahoma"/>
              </a:rPr>
              <a:t>Employee </a:t>
            </a:r>
            <a:r>
              <a:rPr sz="1750" spc="95" dirty="0">
                <a:solidFill>
                  <a:srgbClr val="161612"/>
                </a:solidFill>
                <a:latin typeface="Tahoma"/>
                <a:cs typeface="Tahoma"/>
              </a:rPr>
              <a:t>views</a:t>
            </a:r>
            <a:r>
              <a:rPr sz="1750" spc="-5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1750" dirty="0">
                <a:solidFill>
                  <a:srgbClr val="161612"/>
                </a:solidFill>
                <a:latin typeface="Tahoma"/>
                <a:cs typeface="Tahoma"/>
              </a:rPr>
              <a:t>with</a:t>
            </a:r>
            <a:r>
              <a:rPr sz="1750" spc="-10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1750" spc="45" dirty="0">
                <a:solidFill>
                  <a:srgbClr val="161612"/>
                </a:solidFill>
                <a:latin typeface="Tahoma"/>
                <a:cs typeface="Tahoma"/>
              </a:rPr>
              <a:t>tailored</a:t>
            </a:r>
            <a:r>
              <a:rPr sz="1750" spc="-15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1750" spc="60" dirty="0">
                <a:solidFill>
                  <a:srgbClr val="161612"/>
                </a:solidFill>
                <a:latin typeface="Tahoma"/>
                <a:cs typeface="Tahoma"/>
              </a:rPr>
              <a:t>KPIs</a:t>
            </a:r>
            <a:r>
              <a:rPr sz="1750" spc="-15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1750" spc="70" dirty="0">
                <a:solidFill>
                  <a:srgbClr val="161612"/>
                </a:solidFill>
                <a:latin typeface="Tahoma"/>
                <a:cs typeface="Tahoma"/>
              </a:rPr>
              <a:t>and</a:t>
            </a:r>
            <a:r>
              <a:rPr sz="1750" spc="-15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1750" spc="50" dirty="0">
                <a:solidFill>
                  <a:srgbClr val="161612"/>
                </a:solidFill>
                <a:latin typeface="Tahoma"/>
                <a:cs typeface="Tahoma"/>
              </a:rPr>
              <a:t>action </a:t>
            </a:r>
            <a:r>
              <a:rPr sz="1750" spc="-10" dirty="0">
                <a:solidFill>
                  <a:srgbClr val="161612"/>
                </a:solidFill>
                <a:latin typeface="Tahoma"/>
                <a:cs typeface="Tahoma"/>
              </a:rPr>
              <a:t>lists.</a:t>
            </a:r>
            <a:endParaRPr sz="1750">
              <a:latin typeface="Tahoma"/>
              <a:cs typeface="Tahoma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9640823" y="4046220"/>
            <a:ext cx="4196080" cy="2033270"/>
          </a:xfrm>
          <a:custGeom>
            <a:avLst/>
            <a:gdLst/>
            <a:ahLst/>
            <a:cxnLst/>
            <a:rect l="l" t="t" r="r" b="b"/>
            <a:pathLst>
              <a:path w="4196080" h="2033270">
                <a:moveTo>
                  <a:pt x="4161535" y="0"/>
                </a:moveTo>
                <a:lnTo>
                  <a:pt x="34035" y="0"/>
                </a:lnTo>
                <a:lnTo>
                  <a:pt x="20788" y="2674"/>
                </a:lnTo>
                <a:lnTo>
                  <a:pt x="9969" y="9969"/>
                </a:lnTo>
                <a:lnTo>
                  <a:pt x="2674" y="20788"/>
                </a:lnTo>
                <a:lnTo>
                  <a:pt x="0" y="34035"/>
                </a:lnTo>
                <a:lnTo>
                  <a:pt x="0" y="1998979"/>
                </a:lnTo>
                <a:lnTo>
                  <a:pt x="2674" y="2012227"/>
                </a:lnTo>
                <a:lnTo>
                  <a:pt x="9969" y="2023046"/>
                </a:lnTo>
                <a:lnTo>
                  <a:pt x="20788" y="2030341"/>
                </a:lnTo>
                <a:lnTo>
                  <a:pt x="34035" y="2033015"/>
                </a:lnTo>
                <a:lnTo>
                  <a:pt x="4161535" y="2033015"/>
                </a:lnTo>
                <a:lnTo>
                  <a:pt x="4174783" y="2030341"/>
                </a:lnTo>
                <a:lnTo>
                  <a:pt x="4185602" y="2023046"/>
                </a:lnTo>
                <a:lnTo>
                  <a:pt x="4192897" y="2012227"/>
                </a:lnTo>
                <a:lnTo>
                  <a:pt x="4195572" y="1998979"/>
                </a:lnTo>
                <a:lnTo>
                  <a:pt x="4195572" y="34035"/>
                </a:lnTo>
                <a:lnTo>
                  <a:pt x="4192897" y="20788"/>
                </a:lnTo>
                <a:lnTo>
                  <a:pt x="4185602" y="9969"/>
                </a:lnTo>
                <a:lnTo>
                  <a:pt x="4174783" y="2674"/>
                </a:lnTo>
                <a:lnTo>
                  <a:pt x="4161535" y="0"/>
                </a:lnTo>
                <a:close/>
              </a:path>
            </a:pathLst>
          </a:custGeom>
          <a:solidFill>
            <a:srgbClr val="ECEBE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9855200" y="4248099"/>
            <a:ext cx="3596004" cy="15868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spc="90" dirty="0">
                <a:solidFill>
                  <a:srgbClr val="161612"/>
                </a:solidFill>
                <a:latin typeface="Tahoma"/>
                <a:cs typeface="Tahoma"/>
              </a:rPr>
              <a:t>High-</a:t>
            </a:r>
            <a:r>
              <a:rPr sz="2200" spc="75" dirty="0">
                <a:solidFill>
                  <a:srgbClr val="161612"/>
                </a:solidFill>
                <a:latin typeface="Tahoma"/>
                <a:cs typeface="Tahoma"/>
              </a:rPr>
              <a:t>Performance</a:t>
            </a:r>
            <a:r>
              <a:rPr sz="2200" spc="-55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2200" spc="-20" dirty="0">
                <a:solidFill>
                  <a:srgbClr val="161612"/>
                </a:solidFill>
                <a:latin typeface="Tahoma"/>
                <a:cs typeface="Tahoma"/>
              </a:rPr>
              <a:t>APIs</a:t>
            </a:r>
            <a:endParaRPr sz="2200">
              <a:latin typeface="Tahoma"/>
              <a:cs typeface="Tahoma"/>
            </a:endParaRPr>
          </a:p>
          <a:p>
            <a:pPr marL="12700" marR="5080">
              <a:lnSpc>
                <a:spcPct val="138300"/>
              </a:lnSpc>
              <a:spcBef>
                <a:spcPts val="944"/>
              </a:spcBef>
            </a:pPr>
            <a:r>
              <a:rPr sz="1750" spc="70" dirty="0">
                <a:solidFill>
                  <a:srgbClr val="161612"/>
                </a:solidFill>
                <a:latin typeface="Tahoma"/>
                <a:cs typeface="Tahoma"/>
              </a:rPr>
              <a:t>Optimized</a:t>
            </a:r>
            <a:r>
              <a:rPr sz="1750" spc="-25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1750" spc="65" dirty="0">
                <a:solidFill>
                  <a:srgbClr val="161612"/>
                </a:solidFill>
                <a:latin typeface="Tahoma"/>
                <a:cs typeface="Tahoma"/>
              </a:rPr>
              <a:t>endpoints</a:t>
            </a:r>
            <a:r>
              <a:rPr sz="1750" spc="-5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1750" spc="-20" dirty="0">
                <a:solidFill>
                  <a:srgbClr val="161612"/>
                </a:solidFill>
                <a:latin typeface="Tahoma"/>
                <a:cs typeface="Tahoma"/>
              </a:rPr>
              <a:t>with </a:t>
            </a:r>
            <a:r>
              <a:rPr sz="1750" spc="10" dirty="0">
                <a:solidFill>
                  <a:srgbClr val="161612"/>
                </a:solidFill>
                <a:latin typeface="Tahoma"/>
                <a:cs typeface="Tahoma"/>
              </a:rPr>
              <a:t>pagination,</a:t>
            </a:r>
            <a:r>
              <a:rPr sz="1750" spc="100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1750" spc="50" dirty="0">
                <a:solidFill>
                  <a:srgbClr val="161612"/>
                </a:solidFill>
                <a:latin typeface="Tahoma"/>
                <a:cs typeface="Tahoma"/>
              </a:rPr>
              <a:t>indexing,</a:t>
            </a:r>
            <a:r>
              <a:rPr sz="1750" spc="110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1750" spc="70" dirty="0">
                <a:solidFill>
                  <a:srgbClr val="161612"/>
                </a:solidFill>
                <a:latin typeface="Tahoma"/>
                <a:cs typeface="Tahoma"/>
              </a:rPr>
              <a:t>and</a:t>
            </a:r>
            <a:r>
              <a:rPr sz="1750" spc="95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1750" spc="70" dirty="0">
                <a:solidFill>
                  <a:srgbClr val="161612"/>
                </a:solidFill>
                <a:latin typeface="Tahoma"/>
                <a:cs typeface="Tahoma"/>
              </a:rPr>
              <a:t>sensible </a:t>
            </a:r>
            <a:r>
              <a:rPr sz="1750" spc="85" dirty="0">
                <a:solidFill>
                  <a:srgbClr val="161612"/>
                </a:solidFill>
                <a:latin typeface="Tahoma"/>
                <a:cs typeface="Tahoma"/>
              </a:rPr>
              <a:t>caching</a:t>
            </a:r>
            <a:r>
              <a:rPr sz="1750" spc="-30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1750" spc="65" dirty="0">
                <a:solidFill>
                  <a:srgbClr val="161612"/>
                </a:solidFill>
                <a:latin typeface="Tahoma"/>
                <a:cs typeface="Tahoma"/>
              </a:rPr>
              <a:t>for</a:t>
            </a:r>
            <a:r>
              <a:rPr sz="1750" spc="-40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1750" spc="60" dirty="0">
                <a:solidFill>
                  <a:srgbClr val="161612"/>
                </a:solidFill>
                <a:latin typeface="Tahoma"/>
                <a:cs typeface="Tahoma"/>
              </a:rPr>
              <a:t>large</a:t>
            </a:r>
            <a:r>
              <a:rPr sz="1750" spc="-30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1750" spc="45" dirty="0">
                <a:solidFill>
                  <a:srgbClr val="161612"/>
                </a:solidFill>
                <a:latin typeface="Tahoma"/>
                <a:cs typeface="Tahoma"/>
              </a:rPr>
              <a:t>datasets.</a:t>
            </a:r>
            <a:endParaRPr sz="1750">
              <a:latin typeface="Tahoma"/>
              <a:cs typeface="Tahoma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794004" y="6446520"/>
            <a:ext cx="13042900" cy="36830"/>
          </a:xfrm>
          <a:custGeom>
            <a:avLst/>
            <a:gdLst/>
            <a:ahLst/>
            <a:cxnLst/>
            <a:rect l="l" t="t" r="r" b="b"/>
            <a:pathLst>
              <a:path w="13042900" h="36829">
                <a:moveTo>
                  <a:pt x="13042392" y="0"/>
                </a:moveTo>
                <a:lnTo>
                  <a:pt x="0" y="0"/>
                </a:lnTo>
                <a:lnTo>
                  <a:pt x="0" y="36575"/>
                </a:lnTo>
                <a:lnTo>
                  <a:pt x="13042392" y="36575"/>
                </a:lnTo>
                <a:lnTo>
                  <a:pt x="13042392" y="0"/>
                </a:lnTo>
                <a:close/>
              </a:path>
            </a:pathLst>
          </a:custGeom>
          <a:solidFill>
            <a:srgbClr val="161612">
              <a:alpha val="5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781304" y="6689547"/>
            <a:ext cx="12449810" cy="7632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38300"/>
              </a:lnSpc>
              <a:spcBef>
                <a:spcPts val="100"/>
              </a:spcBef>
            </a:pPr>
            <a:r>
              <a:rPr sz="1750" spc="75" dirty="0">
                <a:solidFill>
                  <a:srgbClr val="161612"/>
                </a:solidFill>
                <a:latin typeface="Tahoma"/>
                <a:cs typeface="Tahoma"/>
              </a:rPr>
              <a:t>Next</a:t>
            </a:r>
            <a:r>
              <a:rPr sz="1750" spc="10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1750" spc="55" dirty="0">
                <a:solidFill>
                  <a:srgbClr val="161612"/>
                </a:solidFill>
                <a:latin typeface="Tahoma"/>
                <a:cs typeface="Tahoma"/>
              </a:rPr>
              <a:t>steps:</a:t>
            </a:r>
            <a:r>
              <a:rPr sz="1750" spc="45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1750" spc="80" dirty="0">
                <a:solidFill>
                  <a:srgbClr val="161612"/>
                </a:solidFill>
                <a:latin typeface="Tahoma"/>
                <a:cs typeface="Tahoma"/>
              </a:rPr>
              <a:t>demo</a:t>
            </a:r>
            <a:r>
              <a:rPr sz="1750" spc="40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1750" spc="10" dirty="0">
                <a:solidFill>
                  <a:srgbClr val="161612"/>
                </a:solidFill>
                <a:latin typeface="Tahoma"/>
                <a:cs typeface="Tahoma"/>
              </a:rPr>
              <a:t>environment,</a:t>
            </a:r>
            <a:r>
              <a:rPr sz="1750" spc="55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1750" spc="10" dirty="0">
                <a:solidFill>
                  <a:srgbClr val="161612"/>
                </a:solidFill>
                <a:latin typeface="Tahoma"/>
                <a:cs typeface="Tahoma"/>
              </a:rPr>
              <a:t>integration</a:t>
            </a:r>
            <a:r>
              <a:rPr sz="1750" spc="55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1750" spc="10" dirty="0">
                <a:solidFill>
                  <a:srgbClr val="161612"/>
                </a:solidFill>
                <a:latin typeface="Tahoma"/>
                <a:cs typeface="Tahoma"/>
              </a:rPr>
              <a:t>with</a:t>
            </a:r>
            <a:r>
              <a:rPr sz="1750" spc="65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1750" spc="60" dirty="0">
                <a:solidFill>
                  <a:srgbClr val="161612"/>
                </a:solidFill>
                <a:latin typeface="Tahoma"/>
                <a:cs typeface="Tahoma"/>
              </a:rPr>
              <a:t>ERP/payables,</a:t>
            </a:r>
            <a:r>
              <a:rPr sz="1750" spc="40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1750" spc="70" dirty="0">
                <a:solidFill>
                  <a:srgbClr val="161612"/>
                </a:solidFill>
                <a:latin typeface="Tahoma"/>
                <a:cs typeface="Tahoma"/>
              </a:rPr>
              <a:t>and</a:t>
            </a:r>
            <a:r>
              <a:rPr sz="1750" spc="45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1750" spc="50" dirty="0">
                <a:solidFill>
                  <a:srgbClr val="161612"/>
                </a:solidFill>
                <a:latin typeface="Tahoma"/>
                <a:cs typeface="Tahoma"/>
              </a:rPr>
              <a:t>automated</a:t>
            </a:r>
            <a:r>
              <a:rPr sz="1750" spc="45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1750" spc="10" dirty="0">
                <a:solidFill>
                  <a:srgbClr val="161612"/>
                </a:solidFill>
                <a:latin typeface="Tahoma"/>
                <a:cs typeface="Tahoma"/>
              </a:rPr>
              <a:t>test</a:t>
            </a:r>
            <a:r>
              <a:rPr sz="1750" spc="40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1750" spc="90" dirty="0">
                <a:solidFill>
                  <a:srgbClr val="161612"/>
                </a:solidFill>
                <a:latin typeface="Tahoma"/>
                <a:cs typeface="Tahoma"/>
              </a:rPr>
              <a:t>coverage</a:t>
            </a:r>
            <a:r>
              <a:rPr sz="1750" spc="45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1750" spc="10" dirty="0">
                <a:solidFill>
                  <a:srgbClr val="161612"/>
                </a:solidFill>
                <a:latin typeface="Tahoma"/>
                <a:cs typeface="Tahoma"/>
              </a:rPr>
              <a:t>to</a:t>
            </a:r>
            <a:r>
              <a:rPr sz="1750" spc="35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1750" spc="70" dirty="0">
                <a:solidFill>
                  <a:srgbClr val="161612"/>
                </a:solidFill>
                <a:latin typeface="Tahoma"/>
                <a:cs typeface="Tahoma"/>
              </a:rPr>
              <a:t>prepare</a:t>
            </a:r>
            <a:r>
              <a:rPr sz="1750" spc="65" dirty="0">
                <a:solidFill>
                  <a:srgbClr val="161612"/>
                </a:solidFill>
                <a:latin typeface="Tahoma"/>
                <a:cs typeface="Tahoma"/>
              </a:rPr>
              <a:t> for</a:t>
            </a:r>
            <a:r>
              <a:rPr sz="1750" spc="25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1750" spc="60" dirty="0">
                <a:solidFill>
                  <a:srgbClr val="161612"/>
                </a:solidFill>
                <a:latin typeface="Tahoma"/>
                <a:cs typeface="Tahoma"/>
              </a:rPr>
              <a:t>production </a:t>
            </a:r>
            <a:r>
              <a:rPr sz="1750" spc="50" dirty="0">
                <a:solidFill>
                  <a:srgbClr val="161612"/>
                </a:solidFill>
                <a:latin typeface="Tahoma"/>
                <a:cs typeface="Tahoma"/>
              </a:rPr>
              <a:t>handoff.</a:t>
            </a:r>
            <a:endParaRPr sz="175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816840" y="7565134"/>
            <a:ext cx="1743455" cy="571498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2549" rIns="0" bIns="0" rtlCol="0">
            <a:spAutoFit/>
          </a:bodyPr>
          <a:lstStyle/>
          <a:p>
            <a:pPr marL="85090">
              <a:lnSpc>
                <a:spcPct val="100000"/>
              </a:lnSpc>
              <a:spcBef>
                <a:spcPts val="95"/>
              </a:spcBef>
            </a:pPr>
            <a:r>
              <a:rPr sz="3700" spc="-20" dirty="0"/>
              <a:t>API</a:t>
            </a:r>
            <a:r>
              <a:rPr sz="3700" spc="-265" dirty="0"/>
              <a:t> </a:t>
            </a:r>
            <a:r>
              <a:rPr sz="3700" spc="120" dirty="0"/>
              <a:t>Structure</a:t>
            </a:r>
            <a:endParaRPr sz="3700"/>
          </a:p>
        </p:txBody>
      </p:sp>
      <p:sp>
        <p:nvSpPr>
          <p:cNvPr id="4" name="object 4"/>
          <p:cNvSpPr txBox="1"/>
          <p:nvPr/>
        </p:nvSpPr>
        <p:spPr>
          <a:xfrm>
            <a:off x="796239" y="1945944"/>
            <a:ext cx="12389485" cy="5835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26200"/>
              </a:lnSpc>
              <a:spcBef>
                <a:spcPts val="100"/>
              </a:spcBef>
            </a:pPr>
            <a:r>
              <a:rPr sz="1450" spc="50" dirty="0">
                <a:solidFill>
                  <a:srgbClr val="161612"/>
                </a:solidFill>
                <a:latin typeface="Tahoma"/>
                <a:cs typeface="Tahoma"/>
              </a:rPr>
              <a:t>Modular,</a:t>
            </a:r>
            <a:r>
              <a:rPr sz="1450" spc="5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1450" spc="55" dirty="0">
                <a:solidFill>
                  <a:srgbClr val="161612"/>
                </a:solidFill>
                <a:latin typeface="Tahoma"/>
                <a:cs typeface="Tahoma"/>
              </a:rPr>
              <a:t>RESTful</a:t>
            </a:r>
            <a:r>
              <a:rPr sz="1450" spc="-10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1450" spc="20" dirty="0">
                <a:solidFill>
                  <a:srgbClr val="161612"/>
                </a:solidFill>
                <a:latin typeface="Tahoma"/>
                <a:cs typeface="Tahoma"/>
              </a:rPr>
              <a:t>APIs </a:t>
            </a:r>
            <a:r>
              <a:rPr sz="1450" spc="65" dirty="0">
                <a:solidFill>
                  <a:srgbClr val="161612"/>
                </a:solidFill>
                <a:latin typeface="Tahoma"/>
                <a:cs typeface="Tahoma"/>
              </a:rPr>
              <a:t>organized</a:t>
            </a:r>
            <a:r>
              <a:rPr sz="1450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1450" spc="80" dirty="0">
                <a:solidFill>
                  <a:srgbClr val="161612"/>
                </a:solidFill>
                <a:latin typeface="Tahoma"/>
                <a:cs typeface="Tahoma"/>
              </a:rPr>
              <a:t>by</a:t>
            </a:r>
            <a:r>
              <a:rPr sz="1450" spc="5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1450" spc="45" dirty="0">
                <a:solidFill>
                  <a:srgbClr val="161612"/>
                </a:solidFill>
                <a:latin typeface="Tahoma"/>
                <a:cs typeface="Tahoma"/>
              </a:rPr>
              <a:t>functional</a:t>
            </a:r>
            <a:r>
              <a:rPr sz="1450" spc="15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1450" spc="55" dirty="0">
                <a:solidFill>
                  <a:srgbClr val="161612"/>
                </a:solidFill>
                <a:latin typeface="Tahoma"/>
                <a:cs typeface="Tahoma"/>
              </a:rPr>
              <a:t>areas</a:t>
            </a:r>
            <a:r>
              <a:rPr sz="1450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1450" spc="55" dirty="0">
                <a:solidFill>
                  <a:srgbClr val="161612"/>
                </a:solidFill>
                <a:latin typeface="Tahoma"/>
                <a:cs typeface="Tahoma"/>
              </a:rPr>
              <a:t>for</a:t>
            </a:r>
            <a:r>
              <a:rPr sz="1450" spc="5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1450" spc="55" dirty="0">
                <a:solidFill>
                  <a:srgbClr val="161612"/>
                </a:solidFill>
                <a:latin typeface="Tahoma"/>
                <a:cs typeface="Tahoma"/>
              </a:rPr>
              <a:t>predictable</a:t>
            </a:r>
            <a:r>
              <a:rPr sz="1450" spc="-5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1450" spc="20" dirty="0">
                <a:solidFill>
                  <a:srgbClr val="161612"/>
                </a:solidFill>
                <a:latin typeface="Tahoma"/>
                <a:cs typeface="Tahoma"/>
              </a:rPr>
              <a:t>integration</a:t>
            </a:r>
            <a:r>
              <a:rPr sz="1450" spc="15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1450" spc="55" dirty="0">
                <a:solidFill>
                  <a:srgbClr val="161612"/>
                </a:solidFill>
                <a:latin typeface="Tahoma"/>
                <a:cs typeface="Tahoma"/>
              </a:rPr>
              <a:t>and</a:t>
            </a:r>
            <a:r>
              <a:rPr sz="1450" spc="15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1450" spc="85" dirty="0">
                <a:solidFill>
                  <a:srgbClr val="161612"/>
                </a:solidFill>
                <a:latin typeface="Tahoma"/>
                <a:cs typeface="Tahoma"/>
              </a:rPr>
              <a:t>easy</a:t>
            </a:r>
            <a:r>
              <a:rPr sz="1450" spc="-10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1450" spc="20" dirty="0">
                <a:solidFill>
                  <a:srgbClr val="161612"/>
                </a:solidFill>
                <a:latin typeface="Tahoma"/>
                <a:cs typeface="Tahoma"/>
              </a:rPr>
              <a:t>maintenance. </a:t>
            </a:r>
            <a:r>
              <a:rPr sz="1450" spc="60" dirty="0">
                <a:solidFill>
                  <a:srgbClr val="161612"/>
                </a:solidFill>
                <a:latin typeface="Tahoma"/>
                <a:cs typeface="Tahoma"/>
              </a:rPr>
              <a:t>Clear</a:t>
            </a:r>
            <a:r>
              <a:rPr sz="1450" spc="20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1450" spc="10" dirty="0">
                <a:solidFill>
                  <a:srgbClr val="161612"/>
                </a:solidFill>
                <a:latin typeface="Tahoma"/>
                <a:cs typeface="Tahoma"/>
              </a:rPr>
              <a:t>URI</a:t>
            </a:r>
            <a:r>
              <a:rPr sz="1450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1450" spc="20" dirty="0">
                <a:solidFill>
                  <a:srgbClr val="161612"/>
                </a:solidFill>
                <a:latin typeface="Tahoma"/>
                <a:cs typeface="Tahoma"/>
              </a:rPr>
              <a:t>patterns</a:t>
            </a:r>
            <a:r>
              <a:rPr sz="1450" spc="-5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1450" spc="65" dirty="0">
                <a:solidFill>
                  <a:srgbClr val="161612"/>
                </a:solidFill>
                <a:latin typeface="Tahoma"/>
                <a:cs typeface="Tahoma"/>
              </a:rPr>
              <a:t>support</a:t>
            </a:r>
            <a:r>
              <a:rPr sz="1450" spc="5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1450" spc="65" dirty="0">
                <a:solidFill>
                  <a:srgbClr val="161612"/>
                </a:solidFill>
                <a:latin typeface="Tahoma"/>
                <a:cs typeface="Tahoma"/>
              </a:rPr>
              <a:t>role-</a:t>
            </a:r>
            <a:r>
              <a:rPr sz="1450" spc="70" dirty="0">
                <a:solidFill>
                  <a:srgbClr val="161612"/>
                </a:solidFill>
                <a:latin typeface="Tahoma"/>
                <a:cs typeface="Tahoma"/>
              </a:rPr>
              <a:t>based </a:t>
            </a:r>
            <a:r>
              <a:rPr sz="1450" spc="105" dirty="0">
                <a:solidFill>
                  <a:srgbClr val="161612"/>
                </a:solidFill>
                <a:latin typeface="Tahoma"/>
                <a:cs typeface="Tahoma"/>
              </a:rPr>
              <a:t>access</a:t>
            </a:r>
            <a:r>
              <a:rPr sz="1450" spc="-55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1450" spc="55" dirty="0">
                <a:solidFill>
                  <a:srgbClr val="161612"/>
                </a:solidFill>
                <a:latin typeface="Tahoma"/>
                <a:cs typeface="Tahoma"/>
              </a:rPr>
              <a:t>and</a:t>
            </a:r>
            <a:r>
              <a:rPr sz="1450" spc="-25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1450" spc="50" dirty="0">
                <a:solidFill>
                  <a:srgbClr val="161612"/>
                </a:solidFill>
                <a:latin typeface="Tahoma"/>
                <a:cs typeface="Tahoma"/>
              </a:rPr>
              <a:t>versioning</a:t>
            </a:r>
            <a:r>
              <a:rPr sz="1450" spc="-10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1450" spc="45" dirty="0">
                <a:solidFill>
                  <a:srgbClr val="161612"/>
                </a:solidFill>
                <a:latin typeface="Tahoma"/>
                <a:cs typeface="Tahoma"/>
              </a:rPr>
              <a:t>readiness.</a:t>
            </a:r>
            <a:endParaRPr sz="1450">
              <a:latin typeface="Tahoma"/>
              <a:cs typeface="Tahoma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09244" y="2718816"/>
            <a:ext cx="900683" cy="556260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1893189" y="2691130"/>
            <a:ext cx="1977389" cy="1810385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 marR="340995">
              <a:lnSpc>
                <a:spcPct val="103200"/>
              </a:lnSpc>
              <a:spcBef>
                <a:spcPts val="25"/>
              </a:spcBef>
            </a:pPr>
            <a:r>
              <a:rPr sz="1850" spc="50" dirty="0">
                <a:solidFill>
                  <a:srgbClr val="161612"/>
                </a:solidFill>
                <a:latin typeface="Tahoma"/>
                <a:cs typeface="Tahoma"/>
              </a:rPr>
              <a:t>Authentication </a:t>
            </a:r>
            <a:r>
              <a:rPr sz="1850" spc="-20" dirty="0">
                <a:solidFill>
                  <a:srgbClr val="161612"/>
                </a:solidFill>
                <a:latin typeface="Tahoma"/>
                <a:cs typeface="Tahoma"/>
              </a:rPr>
              <a:t>APIs</a:t>
            </a:r>
            <a:endParaRPr sz="1850">
              <a:latin typeface="Tahoma"/>
              <a:cs typeface="Tahoma"/>
            </a:endParaRPr>
          </a:p>
          <a:p>
            <a:pPr marL="12700" marR="65405">
              <a:lnSpc>
                <a:spcPct val="126200"/>
              </a:lnSpc>
              <a:spcBef>
                <a:spcPts val="745"/>
              </a:spcBef>
            </a:pPr>
            <a:r>
              <a:rPr sz="1450" dirty="0">
                <a:solidFill>
                  <a:srgbClr val="161612"/>
                </a:solidFill>
                <a:latin typeface="Tahoma"/>
                <a:cs typeface="Tahoma"/>
              </a:rPr>
              <a:t>/auth/login</a:t>
            </a:r>
            <a:r>
              <a:rPr sz="1450" spc="100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1450" spc="130" dirty="0">
                <a:solidFill>
                  <a:srgbClr val="161612"/>
                </a:solidFill>
                <a:latin typeface="Tahoma"/>
                <a:cs typeface="Tahoma"/>
              </a:rPr>
              <a:t>—</a:t>
            </a:r>
            <a:r>
              <a:rPr sz="1450" spc="105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1450" spc="65" dirty="0">
                <a:solidFill>
                  <a:srgbClr val="161612"/>
                </a:solidFill>
                <a:latin typeface="Tahoma"/>
                <a:cs typeface="Tahoma"/>
              </a:rPr>
              <a:t>session </a:t>
            </a:r>
            <a:r>
              <a:rPr sz="1450" dirty="0">
                <a:solidFill>
                  <a:srgbClr val="161612"/>
                </a:solidFill>
                <a:latin typeface="Tahoma"/>
                <a:cs typeface="Tahoma"/>
              </a:rPr>
              <a:t>token</a:t>
            </a:r>
            <a:r>
              <a:rPr sz="1450" spc="195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1450" spc="60" dirty="0">
                <a:solidFill>
                  <a:srgbClr val="161612"/>
                </a:solidFill>
                <a:latin typeface="Tahoma"/>
                <a:cs typeface="Tahoma"/>
              </a:rPr>
              <a:t>issuance</a:t>
            </a:r>
            <a:endParaRPr sz="14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455"/>
              </a:spcBef>
            </a:pPr>
            <a:r>
              <a:rPr sz="1450" spc="10" dirty="0">
                <a:solidFill>
                  <a:srgbClr val="161612"/>
                </a:solidFill>
                <a:latin typeface="Tahoma"/>
                <a:cs typeface="Tahoma"/>
              </a:rPr>
              <a:t>/auth/register</a:t>
            </a:r>
            <a:r>
              <a:rPr sz="1450" spc="254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1450" spc="80" dirty="0">
                <a:solidFill>
                  <a:srgbClr val="161612"/>
                </a:solidFill>
                <a:latin typeface="Tahoma"/>
                <a:cs typeface="Tahoma"/>
              </a:rPr>
              <a:t>—</a:t>
            </a:r>
            <a:endParaRPr sz="14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470"/>
              </a:spcBef>
            </a:pPr>
            <a:r>
              <a:rPr sz="1450" spc="50" dirty="0">
                <a:solidFill>
                  <a:srgbClr val="161612"/>
                </a:solidFill>
                <a:latin typeface="Tahoma"/>
                <a:cs typeface="Tahoma"/>
              </a:rPr>
              <a:t>onboarding</a:t>
            </a:r>
            <a:r>
              <a:rPr sz="1450" spc="-5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1450" spc="70" dirty="0">
                <a:solidFill>
                  <a:srgbClr val="161612"/>
                </a:solidFill>
                <a:latin typeface="Tahoma"/>
                <a:cs typeface="Tahoma"/>
              </a:rPr>
              <a:t>new</a:t>
            </a:r>
            <a:r>
              <a:rPr sz="1450" spc="-10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1450" spc="55" dirty="0">
                <a:solidFill>
                  <a:srgbClr val="161612"/>
                </a:solidFill>
                <a:latin typeface="Tahoma"/>
                <a:cs typeface="Tahoma"/>
              </a:rPr>
              <a:t>users</a:t>
            </a:r>
            <a:endParaRPr sz="1450">
              <a:latin typeface="Tahoma"/>
              <a:cs typeface="Tahoma"/>
            </a:endParaRPr>
          </a:p>
        </p:txBody>
      </p:sp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111752" y="2718816"/>
            <a:ext cx="900684" cy="556260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5195442" y="2691130"/>
            <a:ext cx="1987550" cy="207327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850" spc="75" dirty="0">
                <a:solidFill>
                  <a:srgbClr val="161612"/>
                </a:solidFill>
                <a:latin typeface="Tahoma"/>
                <a:cs typeface="Tahoma"/>
              </a:rPr>
              <a:t>Vendor</a:t>
            </a:r>
            <a:r>
              <a:rPr sz="1850" spc="-65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1850" spc="-20" dirty="0">
                <a:solidFill>
                  <a:srgbClr val="161612"/>
                </a:solidFill>
                <a:latin typeface="Tahoma"/>
                <a:cs typeface="Tahoma"/>
              </a:rPr>
              <a:t>APIs</a:t>
            </a:r>
            <a:endParaRPr sz="18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175"/>
              </a:spcBef>
            </a:pPr>
            <a:r>
              <a:rPr sz="1450" spc="45" dirty="0">
                <a:solidFill>
                  <a:srgbClr val="161612"/>
                </a:solidFill>
                <a:latin typeface="Tahoma"/>
                <a:cs typeface="Tahoma"/>
              </a:rPr>
              <a:t>/vendor/create</a:t>
            </a:r>
            <a:r>
              <a:rPr sz="1450" spc="15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1450" spc="80" dirty="0">
                <a:solidFill>
                  <a:srgbClr val="161612"/>
                </a:solidFill>
                <a:latin typeface="Tahoma"/>
                <a:cs typeface="Tahoma"/>
              </a:rPr>
              <a:t>—</a:t>
            </a:r>
            <a:endParaRPr sz="14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455"/>
              </a:spcBef>
            </a:pPr>
            <a:r>
              <a:rPr sz="1450" spc="45" dirty="0">
                <a:solidFill>
                  <a:srgbClr val="161612"/>
                </a:solidFill>
                <a:latin typeface="Tahoma"/>
                <a:cs typeface="Tahoma"/>
              </a:rPr>
              <a:t>register</a:t>
            </a:r>
            <a:r>
              <a:rPr sz="1450" spc="-20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1450" spc="50" dirty="0">
                <a:solidFill>
                  <a:srgbClr val="161612"/>
                </a:solidFill>
                <a:latin typeface="Tahoma"/>
                <a:cs typeface="Tahoma"/>
              </a:rPr>
              <a:t>vendor</a:t>
            </a:r>
            <a:endParaRPr sz="1450">
              <a:latin typeface="Tahoma"/>
              <a:cs typeface="Tahoma"/>
            </a:endParaRPr>
          </a:p>
          <a:p>
            <a:pPr marL="12700" marR="492125">
              <a:lnSpc>
                <a:spcPts val="2210"/>
              </a:lnSpc>
              <a:spcBef>
                <a:spcPts val="135"/>
              </a:spcBef>
            </a:pPr>
            <a:r>
              <a:rPr sz="1450" dirty="0">
                <a:solidFill>
                  <a:srgbClr val="161612"/>
                </a:solidFill>
                <a:latin typeface="Tahoma"/>
                <a:cs typeface="Tahoma"/>
              </a:rPr>
              <a:t>/vendor/all</a:t>
            </a:r>
            <a:r>
              <a:rPr sz="1450" spc="140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1450" spc="130" dirty="0">
                <a:solidFill>
                  <a:srgbClr val="161612"/>
                </a:solidFill>
                <a:latin typeface="Tahoma"/>
                <a:cs typeface="Tahoma"/>
              </a:rPr>
              <a:t>—</a:t>
            </a:r>
            <a:r>
              <a:rPr sz="1450" spc="150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1450" spc="-20" dirty="0">
                <a:solidFill>
                  <a:srgbClr val="161612"/>
                </a:solidFill>
                <a:latin typeface="Tahoma"/>
                <a:cs typeface="Tahoma"/>
              </a:rPr>
              <a:t>list </a:t>
            </a:r>
            <a:r>
              <a:rPr sz="1450" spc="60" dirty="0">
                <a:solidFill>
                  <a:srgbClr val="161612"/>
                </a:solidFill>
                <a:latin typeface="Tahoma"/>
                <a:cs typeface="Tahoma"/>
              </a:rPr>
              <a:t>vendors</a:t>
            </a:r>
            <a:endParaRPr sz="14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305"/>
              </a:spcBef>
            </a:pPr>
            <a:r>
              <a:rPr sz="1450" dirty="0">
                <a:solidFill>
                  <a:srgbClr val="161612"/>
                </a:solidFill>
                <a:latin typeface="Tahoma"/>
                <a:cs typeface="Tahoma"/>
              </a:rPr>
              <a:t>/vendor/{id3</a:t>
            </a:r>
            <a:r>
              <a:rPr sz="1450" spc="15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1450" spc="130" dirty="0">
                <a:solidFill>
                  <a:srgbClr val="161612"/>
                </a:solidFill>
                <a:latin typeface="Tahoma"/>
                <a:cs typeface="Tahoma"/>
              </a:rPr>
              <a:t>—</a:t>
            </a:r>
            <a:r>
              <a:rPr sz="1450" spc="25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1450" spc="50" dirty="0">
                <a:solidFill>
                  <a:srgbClr val="161612"/>
                </a:solidFill>
                <a:latin typeface="Tahoma"/>
                <a:cs typeface="Tahoma"/>
              </a:rPr>
              <a:t>vendor</a:t>
            </a:r>
            <a:endParaRPr sz="14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455"/>
              </a:spcBef>
            </a:pPr>
            <a:r>
              <a:rPr sz="1450" spc="-10" dirty="0">
                <a:solidFill>
                  <a:srgbClr val="161612"/>
                </a:solidFill>
                <a:latin typeface="Tahoma"/>
                <a:cs typeface="Tahoma"/>
              </a:rPr>
              <a:t>details</a:t>
            </a:r>
            <a:endParaRPr sz="1450">
              <a:latin typeface="Tahoma"/>
              <a:cs typeface="Tahoma"/>
            </a:endParaRPr>
          </a:p>
        </p:txBody>
      </p:sp>
      <p:pic>
        <p:nvPicPr>
          <p:cNvPr id="9" name="object 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412735" y="2718816"/>
            <a:ext cx="900683" cy="556260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8497951" y="2691130"/>
            <a:ext cx="1976120" cy="207327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850" dirty="0">
                <a:solidFill>
                  <a:srgbClr val="161612"/>
                </a:solidFill>
                <a:latin typeface="Tahoma"/>
                <a:cs typeface="Tahoma"/>
              </a:rPr>
              <a:t>Requisition</a:t>
            </a:r>
            <a:r>
              <a:rPr sz="1850" spc="415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1850" spc="-20" dirty="0">
                <a:solidFill>
                  <a:srgbClr val="161612"/>
                </a:solidFill>
                <a:latin typeface="Tahoma"/>
                <a:cs typeface="Tahoma"/>
              </a:rPr>
              <a:t>APIs</a:t>
            </a:r>
            <a:endParaRPr sz="1850">
              <a:latin typeface="Tahoma"/>
              <a:cs typeface="Tahoma"/>
            </a:endParaRPr>
          </a:p>
          <a:p>
            <a:pPr marL="12700" marR="5080">
              <a:lnSpc>
                <a:spcPct val="126200"/>
              </a:lnSpc>
              <a:spcBef>
                <a:spcPts val="715"/>
              </a:spcBef>
            </a:pPr>
            <a:r>
              <a:rPr sz="1450" spc="-10" dirty="0">
                <a:solidFill>
                  <a:srgbClr val="161612"/>
                </a:solidFill>
                <a:latin typeface="Tahoma"/>
                <a:cs typeface="Tahoma"/>
              </a:rPr>
              <a:t>/procurement/requisiti </a:t>
            </a:r>
            <a:r>
              <a:rPr sz="1450" spc="45" dirty="0">
                <a:solidFill>
                  <a:srgbClr val="161612"/>
                </a:solidFill>
                <a:latin typeface="Tahoma"/>
                <a:cs typeface="Tahoma"/>
              </a:rPr>
              <a:t>on/create</a:t>
            </a:r>
            <a:r>
              <a:rPr sz="1450" spc="-25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1450" spc="130" dirty="0">
                <a:solidFill>
                  <a:srgbClr val="161612"/>
                </a:solidFill>
                <a:latin typeface="Tahoma"/>
                <a:cs typeface="Tahoma"/>
              </a:rPr>
              <a:t>—</a:t>
            </a:r>
            <a:r>
              <a:rPr sz="1450" spc="-15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1450" spc="-10" dirty="0">
                <a:solidFill>
                  <a:srgbClr val="161612"/>
                </a:solidFill>
                <a:latin typeface="Tahoma"/>
                <a:cs typeface="Tahoma"/>
              </a:rPr>
              <a:t>submit </a:t>
            </a:r>
            <a:r>
              <a:rPr sz="1450" spc="45" dirty="0">
                <a:solidFill>
                  <a:srgbClr val="161612"/>
                </a:solidFill>
                <a:latin typeface="Tahoma"/>
                <a:cs typeface="Tahoma"/>
              </a:rPr>
              <a:t>request</a:t>
            </a:r>
            <a:endParaRPr sz="1450">
              <a:latin typeface="Tahoma"/>
              <a:cs typeface="Tahoma"/>
            </a:endParaRPr>
          </a:p>
          <a:p>
            <a:pPr marL="12700" marR="5080">
              <a:lnSpc>
                <a:spcPct val="126200"/>
              </a:lnSpc>
              <a:spcBef>
                <a:spcPts val="15"/>
              </a:spcBef>
            </a:pPr>
            <a:r>
              <a:rPr sz="1450" spc="-10" dirty="0">
                <a:solidFill>
                  <a:srgbClr val="161612"/>
                </a:solidFill>
                <a:latin typeface="Tahoma"/>
                <a:cs typeface="Tahoma"/>
              </a:rPr>
              <a:t>/procurement/requisiti </a:t>
            </a:r>
            <a:r>
              <a:rPr sz="1450" dirty="0">
                <a:solidFill>
                  <a:srgbClr val="161612"/>
                </a:solidFill>
                <a:latin typeface="Tahoma"/>
                <a:cs typeface="Tahoma"/>
              </a:rPr>
              <a:t>on/all</a:t>
            </a:r>
            <a:r>
              <a:rPr sz="1450" spc="30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1450" spc="130" dirty="0">
                <a:solidFill>
                  <a:srgbClr val="161612"/>
                </a:solidFill>
                <a:latin typeface="Tahoma"/>
                <a:cs typeface="Tahoma"/>
              </a:rPr>
              <a:t>—</a:t>
            </a:r>
            <a:r>
              <a:rPr sz="1450" spc="25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1450" spc="40" dirty="0">
                <a:solidFill>
                  <a:srgbClr val="161612"/>
                </a:solidFill>
                <a:latin typeface="Tahoma"/>
                <a:cs typeface="Tahoma"/>
              </a:rPr>
              <a:t>query </a:t>
            </a:r>
            <a:r>
              <a:rPr sz="1450" spc="55" dirty="0">
                <a:solidFill>
                  <a:srgbClr val="161612"/>
                </a:solidFill>
                <a:latin typeface="Tahoma"/>
                <a:cs typeface="Tahoma"/>
              </a:rPr>
              <a:t>requests</a:t>
            </a:r>
            <a:endParaRPr sz="1450">
              <a:latin typeface="Tahoma"/>
              <a:cs typeface="Tahoma"/>
            </a:endParaRPr>
          </a:p>
        </p:txBody>
      </p:sp>
      <p:pic>
        <p:nvPicPr>
          <p:cNvPr id="11" name="object 11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0715243" y="2718816"/>
            <a:ext cx="900683" cy="556260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11800078" y="2691130"/>
            <a:ext cx="1992630" cy="2089150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 marR="266065">
              <a:lnSpc>
                <a:spcPct val="103200"/>
              </a:lnSpc>
              <a:spcBef>
                <a:spcPts val="25"/>
              </a:spcBef>
            </a:pPr>
            <a:r>
              <a:rPr sz="1850" spc="60" dirty="0">
                <a:solidFill>
                  <a:srgbClr val="161612"/>
                </a:solidFill>
                <a:latin typeface="Tahoma"/>
                <a:cs typeface="Tahoma"/>
              </a:rPr>
              <a:t>Purchase</a:t>
            </a:r>
            <a:r>
              <a:rPr sz="1850" spc="-55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1850" spc="50" dirty="0">
                <a:solidFill>
                  <a:srgbClr val="161612"/>
                </a:solidFill>
                <a:latin typeface="Tahoma"/>
                <a:cs typeface="Tahoma"/>
              </a:rPr>
              <a:t>Order </a:t>
            </a:r>
            <a:r>
              <a:rPr sz="1850" spc="-20" dirty="0">
                <a:solidFill>
                  <a:srgbClr val="161612"/>
                </a:solidFill>
                <a:latin typeface="Tahoma"/>
                <a:cs typeface="Tahoma"/>
              </a:rPr>
              <a:t>APIs</a:t>
            </a:r>
            <a:endParaRPr sz="1850">
              <a:latin typeface="Tahoma"/>
              <a:cs typeface="Tahoma"/>
            </a:endParaRPr>
          </a:p>
          <a:p>
            <a:pPr marL="12700" marR="5080">
              <a:lnSpc>
                <a:spcPct val="126200"/>
              </a:lnSpc>
              <a:spcBef>
                <a:spcPts val="745"/>
              </a:spcBef>
            </a:pPr>
            <a:r>
              <a:rPr sz="1450" spc="40" dirty="0">
                <a:solidFill>
                  <a:srgbClr val="161612"/>
                </a:solidFill>
                <a:latin typeface="Tahoma"/>
                <a:cs typeface="Tahoma"/>
              </a:rPr>
              <a:t>/procurement/purchas </a:t>
            </a:r>
            <a:r>
              <a:rPr sz="1450" spc="114" dirty="0">
                <a:solidFill>
                  <a:srgbClr val="161612"/>
                </a:solidFill>
                <a:latin typeface="Tahoma"/>
                <a:cs typeface="Tahoma"/>
              </a:rPr>
              <a:t>e-</a:t>
            </a:r>
            <a:r>
              <a:rPr sz="1450" spc="50" dirty="0">
                <a:solidFill>
                  <a:srgbClr val="161612"/>
                </a:solidFill>
                <a:latin typeface="Tahoma"/>
                <a:cs typeface="Tahoma"/>
              </a:rPr>
              <a:t>order/create</a:t>
            </a:r>
            <a:r>
              <a:rPr sz="1450" spc="-25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1450" spc="80" dirty="0">
                <a:solidFill>
                  <a:srgbClr val="161612"/>
                </a:solidFill>
                <a:latin typeface="Tahoma"/>
                <a:cs typeface="Tahoma"/>
              </a:rPr>
              <a:t>— </a:t>
            </a:r>
            <a:r>
              <a:rPr sz="1450" spc="65" dirty="0">
                <a:solidFill>
                  <a:srgbClr val="161612"/>
                </a:solidFill>
                <a:latin typeface="Tahoma"/>
                <a:cs typeface="Tahoma"/>
              </a:rPr>
              <a:t>issue</a:t>
            </a:r>
            <a:r>
              <a:rPr sz="1450" spc="-45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1450" spc="75" dirty="0">
                <a:solidFill>
                  <a:srgbClr val="161612"/>
                </a:solidFill>
                <a:latin typeface="Tahoma"/>
                <a:cs typeface="Tahoma"/>
              </a:rPr>
              <a:t>PO</a:t>
            </a:r>
            <a:endParaRPr sz="1450">
              <a:latin typeface="Tahoma"/>
              <a:cs typeface="Tahoma"/>
            </a:endParaRPr>
          </a:p>
          <a:p>
            <a:pPr marL="12700" marR="5080">
              <a:lnSpc>
                <a:spcPct val="126200"/>
              </a:lnSpc>
              <a:spcBef>
                <a:spcPts val="10"/>
              </a:spcBef>
            </a:pPr>
            <a:r>
              <a:rPr sz="1450" spc="40" dirty="0">
                <a:solidFill>
                  <a:srgbClr val="161612"/>
                </a:solidFill>
                <a:latin typeface="Tahoma"/>
                <a:cs typeface="Tahoma"/>
              </a:rPr>
              <a:t>/procurement/purchas </a:t>
            </a:r>
            <a:r>
              <a:rPr sz="1450" spc="114" dirty="0">
                <a:solidFill>
                  <a:srgbClr val="161612"/>
                </a:solidFill>
                <a:latin typeface="Tahoma"/>
                <a:cs typeface="Tahoma"/>
              </a:rPr>
              <a:t>e-</a:t>
            </a:r>
            <a:r>
              <a:rPr sz="1450" dirty="0">
                <a:solidFill>
                  <a:srgbClr val="161612"/>
                </a:solidFill>
                <a:latin typeface="Tahoma"/>
                <a:cs typeface="Tahoma"/>
              </a:rPr>
              <a:t>order/all</a:t>
            </a:r>
            <a:r>
              <a:rPr sz="1450" spc="75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1450" spc="130" dirty="0">
                <a:solidFill>
                  <a:srgbClr val="161612"/>
                </a:solidFill>
                <a:latin typeface="Tahoma"/>
                <a:cs typeface="Tahoma"/>
              </a:rPr>
              <a:t>—</a:t>
            </a:r>
            <a:r>
              <a:rPr sz="1450" spc="100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1450" dirty="0">
                <a:solidFill>
                  <a:srgbClr val="161612"/>
                </a:solidFill>
                <a:latin typeface="Tahoma"/>
                <a:cs typeface="Tahoma"/>
              </a:rPr>
              <a:t>list</a:t>
            </a:r>
            <a:r>
              <a:rPr sz="1450" spc="114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1450" spc="80" dirty="0">
                <a:solidFill>
                  <a:srgbClr val="161612"/>
                </a:solidFill>
                <a:latin typeface="Tahoma"/>
                <a:cs typeface="Tahoma"/>
              </a:rPr>
              <a:t>POs</a:t>
            </a:r>
            <a:endParaRPr sz="1450">
              <a:latin typeface="Tahoma"/>
              <a:cs typeface="Tahoma"/>
            </a:endParaRPr>
          </a:p>
        </p:txBody>
      </p:sp>
      <p:pic>
        <p:nvPicPr>
          <p:cNvPr id="13" name="object 13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809244" y="5096255"/>
            <a:ext cx="900683" cy="556259"/>
          </a:xfrm>
          <a:prstGeom prst="rect">
            <a:avLst/>
          </a:prstGeom>
        </p:spPr>
      </p:pic>
      <p:sp>
        <p:nvSpPr>
          <p:cNvPr id="14" name="object 14"/>
          <p:cNvSpPr txBox="1"/>
          <p:nvPr/>
        </p:nvSpPr>
        <p:spPr>
          <a:xfrm>
            <a:off x="1893189" y="5069281"/>
            <a:ext cx="2012314" cy="17945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50" spc="50" dirty="0">
                <a:solidFill>
                  <a:srgbClr val="161612"/>
                </a:solidFill>
                <a:latin typeface="Tahoma"/>
                <a:cs typeface="Tahoma"/>
              </a:rPr>
              <a:t>Report</a:t>
            </a:r>
            <a:r>
              <a:rPr sz="1850" spc="-55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1850" spc="-20" dirty="0">
                <a:solidFill>
                  <a:srgbClr val="161612"/>
                </a:solidFill>
                <a:latin typeface="Tahoma"/>
                <a:cs typeface="Tahoma"/>
              </a:rPr>
              <a:t>APIs</a:t>
            </a:r>
            <a:endParaRPr sz="1850">
              <a:latin typeface="Tahoma"/>
              <a:cs typeface="Tahoma"/>
            </a:endParaRPr>
          </a:p>
          <a:p>
            <a:pPr marL="12700" marR="5080">
              <a:lnSpc>
                <a:spcPct val="126200"/>
              </a:lnSpc>
              <a:spcBef>
                <a:spcPts val="715"/>
              </a:spcBef>
            </a:pPr>
            <a:r>
              <a:rPr sz="1450" spc="35" dirty="0">
                <a:solidFill>
                  <a:srgbClr val="161612"/>
                </a:solidFill>
                <a:latin typeface="Tahoma"/>
                <a:cs typeface="Tahoma"/>
              </a:rPr>
              <a:t>/reports/vendor?forma </a:t>
            </a:r>
            <a:r>
              <a:rPr sz="1450" dirty="0">
                <a:solidFill>
                  <a:srgbClr val="161612"/>
                </a:solidFill>
                <a:latin typeface="Tahoma"/>
                <a:cs typeface="Tahoma"/>
              </a:rPr>
              <a:t>t=pdf</a:t>
            </a:r>
            <a:r>
              <a:rPr sz="1450" spc="-5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1450" spc="130" dirty="0">
                <a:solidFill>
                  <a:srgbClr val="161612"/>
                </a:solidFill>
                <a:latin typeface="Tahoma"/>
                <a:cs typeface="Tahoma"/>
              </a:rPr>
              <a:t>—</a:t>
            </a:r>
            <a:r>
              <a:rPr sz="1450" spc="-5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1450" spc="90" dirty="0">
                <a:solidFill>
                  <a:srgbClr val="161612"/>
                </a:solidFill>
                <a:latin typeface="Tahoma"/>
                <a:cs typeface="Tahoma"/>
              </a:rPr>
              <a:t>PDF</a:t>
            </a:r>
            <a:r>
              <a:rPr sz="1450" spc="5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1450" spc="40" dirty="0">
                <a:solidFill>
                  <a:srgbClr val="161612"/>
                </a:solidFill>
                <a:latin typeface="Tahoma"/>
                <a:cs typeface="Tahoma"/>
              </a:rPr>
              <a:t>export</a:t>
            </a:r>
            <a:endParaRPr sz="14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455"/>
              </a:spcBef>
            </a:pPr>
            <a:r>
              <a:rPr sz="1450" spc="35" dirty="0">
                <a:solidFill>
                  <a:srgbClr val="161612"/>
                </a:solidFill>
                <a:latin typeface="Tahoma"/>
                <a:cs typeface="Tahoma"/>
              </a:rPr>
              <a:t>/reports/vendor?forma</a:t>
            </a:r>
            <a:endParaRPr sz="1450">
              <a:latin typeface="Tahoma"/>
              <a:cs typeface="Tahoma"/>
            </a:endParaRPr>
          </a:p>
          <a:p>
            <a:pPr marL="12700" marR="584200">
              <a:lnSpc>
                <a:spcPct val="126200"/>
              </a:lnSpc>
              <a:spcBef>
                <a:spcPts val="15"/>
              </a:spcBef>
            </a:pPr>
            <a:r>
              <a:rPr sz="1450" dirty="0">
                <a:solidFill>
                  <a:srgbClr val="161612"/>
                </a:solidFill>
                <a:latin typeface="Tahoma"/>
                <a:cs typeface="Tahoma"/>
              </a:rPr>
              <a:t>t=excel</a:t>
            </a:r>
            <a:r>
              <a:rPr sz="1450" spc="75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1450" spc="130" dirty="0">
                <a:solidFill>
                  <a:srgbClr val="161612"/>
                </a:solidFill>
                <a:latin typeface="Tahoma"/>
                <a:cs typeface="Tahoma"/>
              </a:rPr>
              <a:t>—</a:t>
            </a:r>
            <a:r>
              <a:rPr sz="1450" spc="110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1450" spc="60" dirty="0">
                <a:solidFill>
                  <a:srgbClr val="161612"/>
                </a:solidFill>
                <a:latin typeface="Tahoma"/>
                <a:cs typeface="Tahoma"/>
              </a:rPr>
              <a:t>Excel </a:t>
            </a:r>
            <a:r>
              <a:rPr sz="1450" spc="40" dirty="0">
                <a:solidFill>
                  <a:srgbClr val="161612"/>
                </a:solidFill>
                <a:latin typeface="Tahoma"/>
                <a:cs typeface="Tahoma"/>
              </a:rPr>
              <a:t>export</a:t>
            </a:r>
            <a:endParaRPr sz="145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886944" y="7548371"/>
            <a:ext cx="1743455" cy="57150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34618" y="470357"/>
            <a:ext cx="495871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dirty="0"/>
              <a:t>Error</a:t>
            </a:r>
            <a:r>
              <a:rPr sz="3600" spc="-35" dirty="0"/>
              <a:t> </a:t>
            </a:r>
            <a:r>
              <a:rPr sz="3600" spc="50" dirty="0"/>
              <a:t>Handling</a:t>
            </a:r>
            <a:r>
              <a:rPr sz="3600" spc="-35" dirty="0"/>
              <a:t> </a:t>
            </a:r>
            <a:r>
              <a:rPr sz="3600" spc="105" dirty="0"/>
              <a:t>Strategy</a:t>
            </a:r>
            <a:endParaRPr sz="3600"/>
          </a:p>
        </p:txBody>
      </p:sp>
      <p:sp>
        <p:nvSpPr>
          <p:cNvPr id="4" name="object 4"/>
          <p:cNvSpPr txBox="1"/>
          <p:nvPr/>
        </p:nvSpPr>
        <p:spPr>
          <a:xfrm>
            <a:off x="934618" y="1392427"/>
            <a:ext cx="12509500" cy="2470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50" spc="50" dirty="0">
                <a:solidFill>
                  <a:srgbClr val="161612"/>
                </a:solidFill>
                <a:latin typeface="Tahoma"/>
                <a:cs typeface="Tahoma"/>
              </a:rPr>
              <a:t>Consistent,</a:t>
            </a:r>
            <a:r>
              <a:rPr sz="1450" spc="10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1450" spc="50" dirty="0">
                <a:solidFill>
                  <a:srgbClr val="161612"/>
                </a:solidFill>
                <a:latin typeface="Tahoma"/>
                <a:cs typeface="Tahoma"/>
              </a:rPr>
              <a:t>structured</a:t>
            </a:r>
            <a:r>
              <a:rPr sz="1450" spc="-10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1450" spc="20" dirty="0">
                <a:solidFill>
                  <a:srgbClr val="161612"/>
                </a:solidFill>
                <a:latin typeface="Tahoma"/>
                <a:cs typeface="Tahoma"/>
              </a:rPr>
              <a:t>error </a:t>
            </a:r>
            <a:r>
              <a:rPr sz="1450" spc="75" dirty="0">
                <a:solidFill>
                  <a:srgbClr val="161612"/>
                </a:solidFill>
                <a:latin typeface="Tahoma"/>
                <a:cs typeface="Tahoma"/>
              </a:rPr>
              <a:t>responses</a:t>
            </a:r>
            <a:r>
              <a:rPr sz="1450" spc="5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1450" spc="60" dirty="0">
                <a:solidFill>
                  <a:srgbClr val="161612"/>
                </a:solidFill>
                <a:latin typeface="Tahoma"/>
                <a:cs typeface="Tahoma"/>
              </a:rPr>
              <a:t>improve</a:t>
            </a:r>
            <a:r>
              <a:rPr sz="1450" spc="20" dirty="0">
                <a:solidFill>
                  <a:srgbClr val="161612"/>
                </a:solidFill>
                <a:latin typeface="Tahoma"/>
                <a:cs typeface="Tahoma"/>
              </a:rPr>
              <a:t> reliability</a:t>
            </a:r>
            <a:r>
              <a:rPr sz="1450" spc="15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1450" spc="55" dirty="0">
                <a:solidFill>
                  <a:srgbClr val="161612"/>
                </a:solidFill>
                <a:latin typeface="Tahoma"/>
                <a:cs typeface="Tahoma"/>
              </a:rPr>
              <a:t>and</a:t>
            </a:r>
            <a:r>
              <a:rPr sz="1450" spc="30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1450" spc="90" dirty="0">
                <a:solidFill>
                  <a:srgbClr val="161612"/>
                </a:solidFill>
                <a:latin typeface="Tahoma"/>
                <a:cs typeface="Tahoma"/>
              </a:rPr>
              <a:t>speed</a:t>
            </a:r>
            <a:r>
              <a:rPr sz="1450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1450" spc="60" dirty="0">
                <a:solidFill>
                  <a:srgbClr val="161612"/>
                </a:solidFill>
                <a:latin typeface="Tahoma"/>
                <a:cs typeface="Tahoma"/>
              </a:rPr>
              <a:t>up</a:t>
            </a:r>
            <a:r>
              <a:rPr sz="1450" spc="30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1450" spc="20" dirty="0">
                <a:solidFill>
                  <a:srgbClr val="161612"/>
                </a:solidFill>
                <a:latin typeface="Tahoma"/>
                <a:cs typeface="Tahoma"/>
              </a:rPr>
              <a:t>troubleshooting.</a:t>
            </a:r>
            <a:r>
              <a:rPr sz="1450" spc="-10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1450" spc="60" dirty="0">
                <a:solidFill>
                  <a:srgbClr val="161612"/>
                </a:solidFill>
                <a:latin typeface="Tahoma"/>
                <a:cs typeface="Tahoma"/>
              </a:rPr>
              <a:t>Handled</a:t>
            </a:r>
            <a:r>
              <a:rPr sz="1450" spc="30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1450" spc="20" dirty="0">
                <a:solidFill>
                  <a:srgbClr val="161612"/>
                </a:solidFill>
                <a:latin typeface="Tahoma"/>
                <a:cs typeface="Tahoma"/>
              </a:rPr>
              <a:t>centrally</a:t>
            </a:r>
            <a:r>
              <a:rPr sz="1450" spc="15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1450" spc="20" dirty="0">
                <a:solidFill>
                  <a:srgbClr val="161612"/>
                </a:solidFill>
                <a:latin typeface="Tahoma"/>
                <a:cs typeface="Tahoma"/>
              </a:rPr>
              <a:t>with</a:t>
            </a:r>
            <a:r>
              <a:rPr sz="1450" spc="25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1450" spc="20" dirty="0">
                <a:solidFill>
                  <a:srgbClr val="161612"/>
                </a:solidFill>
                <a:latin typeface="Tahoma"/>
                <a:cs typeface="Tahoma"/>
              </a:rPr>
              <a:t>a </a:t>
            </a:r>
            <a:r>
              <a:rPr sz="1450" spc="55" dirty="0">
                <a:solidFill>
                  <a:srgbClr val="161612"/>
                </a:solidFill>
                <a:latin typeface="Tahoma"/>
                <a:cs typeface="Tahoma"/>
              </a:rPr>
              <a:t>clear</a:t>
            </a:r>
            <a:r>
              <a:rPr sz="1450" spc="25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1450" spc="60" dirty="0">
                <a:solidFill>
                  <a:srgbClr val="161612"/>
                </a:solidFill>
                <a:latin typeface="Tahoma"/>
                <a:cs typeface="Tahoma"/>
              </a:rPr>
              <a:t>contract</a:t>
            </a:r>
            <a:r>
              <a:rPr sz="1450" spc="5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1450" spc="55" dirty="0">
                <a:solidFill>
                  <a:srgbClr val="161612"/>
                </a:solidFill>
                <a:latin typeface="Tahoma"/>
                <a:cs typeface="Tahoma"/>
              </a:rPr>
              <a:t>for</a:t>
            </a:r>
            <a:r>
              <a:rPr sz="1450" spc="20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1450" spc="50" dirty="0">
                <a:solidFill>
                  <a:srgbClr val="161612"/>
                </a:solidFill>
                <a:latin typeface="Tahoma"/>
                <a:cs typeface="Tahoma"/>
              </a:rPr>
              <a:t>consumers.</a:t>
            </a:r>
            <a:endParaRPr sz="1450">
              <a:latin typeface="Tahoma"/>
              <a:cs typeface="Tahoma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46403" y="1994916"/>
            <a:ext cx="4165091" cy="5553456"/>
          </a:xfrm>
          <a:prstGeom prst="rect">
            <a:avLst/>
          </a:prstGeom>
        </p:spPr>
      </p:pic>
      <p:sp>
        <p:nvSpPr>
          <p:cNvPr id="6" name="object 6"/>
          <p:cNvSpPr/>
          <p:nvPr/>
        </p:nvSpPr>
        <p:spPr>
          <a:xfrm>
            <a:off x="5570220" y="3110483"/>
            <a:ext cx="2606040" cy="3322320"/>
          </a:xfrm>
          <a:custGeom>
            <a:avLst/>
            <a:gdLst/>
            <a:ahLst/>
            <a:cxnLst/>
            <a:rect l="l" t="t" r="r" b="b"/>
            <a:pathLst>
              <a:path w="2606040" h="3322320">
                <a:moveTo>
                  <a:pt x="2578354" y="0"/>
                </a:moveTo>
                <a:lnTo>
                  <a:pt x="27685" y="0"/>
                </a:lnTo>
                <a:lnTo>
                  <a:pt x="16930" y="2182"/>
                </a:lnTo>
                <a:lnTo>
                  <a:pt x="8127" y="8127"/>
                </a:lnTo>
                <a:lnTo>
                  <a:pt x="2182" y="16930"/>
                </a:lnTo>
                <a:lnTo>
                  <a:pt x="0" y="27686"/>
                </a:lnTo>
                <a:lnTo>
                  <a:pt x="0" y="3294633"/>
                </a:lnTo>
                <a:lnTo>
                  <a:pt x="2182" y="3305389"/>
                </a:lnTo>
                <a:lnTo>
                  <a:pt x="8127" y="3314191"/>
                </a:lnTo>
                <a:lnTo>
                  <a:pt x="16930" y="3320137"/>
                </a:lnTo>
                <a:lnTo>
                  <a:pt x="27685" y="3322320"/>
                </a:lnTo>
                <a:lnTo>
                  <a:pt x="2578354" y="3322320"/>
                </a:lnTo>
                <a:lnTo>
                  <a:pt x="2589109" y="3320137"/>
                </a:lnTo>
                <a:lnTo>
                  <a:pt x="2597911" y="3314191"/>
                </a:lnTo>
                <a:lnTo>
                  <a:pt x="2603857" y="3305389"/>
                </a:lnTo>
                <a:lnTo>
                  <a:pt x="2606039" y="3294633"/>
                </a:lnTo>
                <a:lnTo>
                  <a:pt x="2606039" y="27686"/>
                </a:lnTo>
                <a:lnTo>
                  <a:pt x="2603857" y="16930"/>
                </a:lnTo>
                <a:lnTo>
                  <a:pt x="2597912" y="8127"/>
                </a:lnTo>
                <a:lnTo>
                  <a:pt x="2589109" y="2182"/>
                </a:lnTo>
                <a:lnTo>
                  <a:pt x="2578354" y="0"/>
                </a:lnTo>
                <a:close/>
              </a:path>
            </a:pathLst>
          </a:custGeom>
          <a:solidFill>
            <a:srgbClr val="ECEBE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5742178" y="3257169"/>
            <a:ext cx="2193925" cy="15487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26034">
              <a:lnSpc>
                <a:spcPct val="106100"/>
              </a:lnSpc>
              <a:spcBef>
                <a:spcPts val="100"/>
              </a:spcBef>
            </a:pPr>
            <a:r>
              <a:rPr sz="1800" spc="50" dirty="0">
                <a:solidFill>
                  <a:srgbClr val="161612"/>
                </a:solidFill>
                <a:latin typeface="Tahoma"/>
                <a:cs typeface="Tahoma"/>
              </a:rPr>
              <a:t>GlobalExceptionHan </a:t>
            </a:r>
            <a:r>
              <a:rPr sz="1800" spc="-20" dirty="0">
                <a:solidFill>
                  <a:srgbClr val="161612"/>
                </a:solidFill>
                <a:latin typeface="Tahoma"/>
                <a:cs typeface="Tahoma"/>
              </a:rPr>
              <a:t>dler</a:t>
            </a:r>
            <a:endParaRPr sz="1800">
              <a:latin typeface="Tahoma"/>
              <a:cs typeface="Tahoma"/>
            </a:endParaRPr>
          </a:p>
          <a:p>
            <a:pPr marL="12700" marR="5080">
              <a:lnSpc>
                <a:spcPct val="120700"/>
              </a:lnSpc>
              <a:spcBef>
                <a:spcPts val="1105"/>
              </a:spcBef>
            </a:pPr>
            <a:r>
              <a:rPr sz="1450" spc="60" dirty="0">
                <a:solidFill>
                  <a:srgbClr val="161612"/>
                </a:solidFill>
                <a:latin typeface="Tahoma"/>
                <a:cs typeface="Tahoma"/>
              </a:rPr>
              <a:t>Centralizes</a:t>
            </a:r>
            <a:r>
              <a:rPr sz="1450" spc="-20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1450" spc="55" dirty="0">
                <a:solidFill>
                  <a:srgbClr val="161612"/>
                </a:solidFill>
                <a:latin typeface="Tahoma"/>
                <a:cs typeface="Tahoma"/>
              </a:rPr>
              <a:t>exception </a:t>
            </a:r>
            <a:r>
              <a:rPr sz="1450" spc="50" dirty="0">
                <a:solidFill>
                  <a:srgbClr val="161612"/>
                </a:solidFill>
                <a:latin typeface="Tahoma"/>
                <a:cs typeface="Tahoma"/>
              </a:rPr>
              <a:t>mapping</a:t>
            </a:r>
            <a:r>
              <a:rPr sz="1450" dirty="0">
                <a:solidFill>
                  <a:srgbClr val="161612"/>
                </a:solidFill>
                <a:latin typeface="Tahoma"/>
                <a:cs typeface="Tahoma"/>
              </a:rPr>
              <a:t> to</a:t>
            </a:r>
            <a:r>
              <a:rPr sz="1450" spc="-5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1450" spc="45" dirty="0">
                <a:solidFill>
                  <a:srgbClr val="161612"/>
                </a:solidFill>
                <a:latin typeface="Tahoma"/>
                <a:cs typeface="Tahoma"/>
              </a:rPr>
              <a:t>standardized </a:t>
            </a:r>
            <a:r>
              <a:rPr sz="1450" spc="95" dirty="0">
                <a:solidFill>
                  <a:srgbClr val="161612"/>
                </a:solidFill>
                <a:latin typeface="Tahoma"/>
                <a:cs typeface="Tahoma"/>
              </a:rPr>
              <a:t>HTTP</a:t>
            </a:r>
            <a:r>
              <a:rPr sz="1450" spc="-55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1450" spc="55" dirty="0">
                <a:solidFill>
                  <a:srgbClr val="161612"/>
                </a:solidFill>
                <a:latin typeface="Tahoma"/>
                <a:cs typeface="Tahoma"/>
              </a:rPr>
              <a:t>responses.</a:t>
            </a:r>
            <a:endParaRPr sz="1450">
              <a:latin typeface="Tahoma"/>
              <a:cs typeface="Tahoma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8327135" y="3110483"/>
            <a:ext cx="2606040" cy="3322320"/>
          </a:xfrm>
          <a:custGeom>
            <a:avLst/>
            <a:gdLst/>
            <a:ahLst/>
            <a:cxnLst/>
            <a:rect l="l" t="t" r="r" b="b"/>
            <a:pathLst>
              <a:path w="2606040" h="3322320">
                <a:moveTo>
                  <a:pt x="2578354" y="0"/>
                </a:moveTo>
                <a:lnTo>
                  <a:pt x="27686" y="0"/>
                </a:lnTo>
                <a:lnTo>
                  <a:pt x="16930" y="2182"/>
                </a:lnTo>
                <a:lnTo>
                  <a:pt x="8127" y="8127"/>
                </a:lnTo>
                <a:lnTo>
                  <a:pt x="2182" y="16930"/>
                </a:lnTo>
                <a:lnTo>
                  <a:pt x="0" y="27686"/>
                </a:lnTo>
                <a:lnTo>
                  <a:pt x="0" y="3294633"/>
                </a:lnTo>
                <a:lnTo>
                  <a:pt x="2182" y="3305389"/>
                </a:lnTo>
                <a:lnTo>
                  <a:pt x="8127" y="3314191"/>
                </a:lnTo>
                <a:lnTo>
                  <a:pt x="16930" y="3320137"/>
                </a:lnTo>
                <a:lnTo>
                  <a:pt x="27686" y="3322320"/>
                </a:lnTo>
                <a:lnTo>
                  <a:pt x="2578354" y="3322320"/>
                </a:lnTo>
                <a:lnTo>
                  <a:pt x="2589109" y="3320137"/>
                </a:lnTo>
                <a:lnTo>
                  <a:pt x="2597912" y="3314191"/>
                </a:lnTo>
                <a:lnTo>
                  <a:pt x="2603857" y="3305389"/>
                </a:lnTo>
                <a:lnTo>
                  <a:pt x="2606040" y="3294633"/>
                </a:lnTo>
                <a:lnTo>
                  <a:pt x="2606040" y="27686"/>
                </a:lnTo>
                <a:lnTo>
                  <a:pt x="2603857" y="16930"/>
                </a:lnTo>
                <a:lnTo>
                  <a:pt x="2597912" y="8127"/>
                </a:lnTo>
                <a:lnTo>
                  <a:pt x="2589109" y="2182"/>
                </a:lnTo>
                <a:lnTo>
                  <a:pt x="2578354" y="0"/>
                </a:lnTo>
                <a:close/>
              </a:path>
            </a:pathLst>
          </a:custGeom>
          <a:solidFill>
            <a:srgbClr val="ECEBE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8499475" y="3273933"/>
            <a:ext cx="20955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100" dirty="0">
                <a:solidFill>
                  <a:srgbClr val="161612"/>
                </a:solidFill>
                <a:latin typeface="Tahoma"/>
                <a:cs typeface="Tahoma"/>
              </a:rPr>
              <a:t>Custom</a:t>
            </a:r>
            <a:r>
              <a:rPr sz="1800" spc="-100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1800" spc="65" dirty="0">
                <a:solidFill>
                  <a:srgbClr val="161612"/>
                </a:solidFill>
                <a:latin typeface="Tahoma"/>
                <a:cs typeface="Tahoma"/>
              </a:rPr>
              <a:t>Exceptions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8499475" y="3691559"/>
            <a:ext cx="2251075" cy="26930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5080" indent="-342900">
              <a:lnSpc>
                <a:spcPct val="120700"/>
              </a:lnSpc>
              <a:spcBef>
                <a:spcPts val="100"/>
              </a:spcBef>
              <a:buChar char="•"/>
              <a:tabLst>
                <a:tab pos="355600" algn="l"/>
              </a:tabLst>
            </a:pPr>
            <a:r>
              <a:rPr sz="1450" spc="65" dirty="0">
                <a:solidFill>
                  <a:srgbClr val="161612"/>
                </a:solidFill>
                <a:latin typeface="Tahoma"/>
                <a:cs typeface="Tahoma"/>
              </a:rPr>
              <a:t>BusinessException</a:t>
            </a:r>
            <a:r>
              <a:rPr sz="1450" spc="-5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1450" spc="80" dirty="0">
                <a:solidFill>
                  <a:srgbClr val="161612"/>
                </a:solidFill>
                <a:latin typeface="Tahoma"/>
                <a:cs typeface="Tahoma"/>
              </a:rPr>
              <a:t>— </a:t>
            </a:r>
            <a:r>
              <a:rPr sz="1450" spc="55" dirty="0">
                <a:solidFill>
                  <a:srgbClr val="161612"/>
                </a:solidFill>
                <a:latin typeface="Tahoma"/>
                <a:cs typeface="Tahoma"/>
              </a:rPr>
              <a:t>domain</a:t>
            </a:r>
            <a:r>
              <a:rPr sz="1450" spc="-50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1450" spc="-20" dirty="0">
                <a:solidFill>
                  <a:srgbClr val="161612"/>
                </a:solidFill>
                <a:latin typeface="Tahoma"/>
                <a:cs typeface="Tahoma"/>
              </a:rPr>
              <a:t>rule</a:t>
            </a:r>
            <a:r>
              <a:rPr sz="1450" spc="500" dirty="0">
                <a:solidFill>
                  <a:srgbClr val="161612"/>
                </a:solidFill>
                <a:latin typeface="Tahoma"/>
                <a:cs typeface="Tahoma"/>
              </a:rPr>
              <a:t>  </a:t>
            </a:r>
            <a:r>
              <a:rPr sz="1450" spc="-10" dirty="0">
                <a:solidFill>
                  <a:srgbClr val="161612"/>
                </a:solidFill>
                <a:latin typeface="Tahoma"/>
                <a:cs typeface="Tahoma"/>
              </a:rPr>
              <a:t>violations</a:t>
            </a:r>
            <a:endParaRPr sz="1450">
              <a:latin typeface="Tahoma"/>
              <a:cs typeface="Tahoma"/>
            </a:endParaRPr>
          </a:p>
          <a:p>
            <a:pPr marL="355600" marR="87630" indent="-342900">
              <a:lnSpc>
                <a:spcPct val="120700"/>
              </a:lnSpc>
              <a:buChar char="•"/>
              <a:tabLst>
                <a:tab pos="355600" algn="l"/>
              </a:tabLst>
            </a:pPr>
            <a:r>
              <a:rPr sz="1450" spc="55" dirty="0">
                <a:solidFill>
                  <a:srgbClr val="161612"/>
                </a:solidFill>
                <a:latin typeface="Tahoma"/>
                <a:cs typeface="Tahoma"/>
              </a:rPr>
              <a:t>ResourceNotFoundE </a:t>
            </a:r>
            <a:r>
              <a:rPr sz="1450" spc="60" dirty="0">
                <a:solidFill>
                  <a:srgbClr val="161612"/>
                </a:solidFill>
                <a:latin typeface="Tahoma"/>
                <a:cs typeface="Tahoma"/>
              </a:rPr>
              <a:t>xception</a:t>
            </a:r>
            <a:r>
              <a:rPr sz="1450" spc="-50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1450" spc="130" dirty="0">
                <a:solidFill>
                  <a:srgbClr val="161612"/>
                </a:solidFill>
                <a:latin typeface="Tahoma"/>
                <a:cs typeface="Tahoma"/>
              </a:rPr>
              <a:t>—</a:t>
            </a:r>
            <a:r>
              <a:rPr sz="1450" spc="-40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1450" spc="110" dirty="0">
                <a:solidFill>
                  <a:srgbClr val="161612"/>
                </a:solidFill>
                <a:latin typeface="Tahoma"/>
                <a:cs typeface="Tahoma"/>
              </a:rPr>
              <a:t>404 </a:t>
            </a:r>
            <a:r>
              <a:rPr sz="1450" spc="50" dirty="0">
                <a:solidFill>
                  <a:srgbClr val="161612"/>
                </a:solidFill>
                <a:latin typeface="Tahoma"/>
                <a:cs typeface="Tahoma"/>
              </a:rPr>
              <a:t>semantics</a:t>
            </a:r>
            <a:endParaRPr sz="1450">
              <a:latin typeface="Tahoma"/>
              <a:cs typeface="Tahoma"/>
            </a:endParaRPr>
          </a:p>
          <a:p>
            <a:pPr marL="355600" marR="18415" indent="-342900">
              <a:lnSpc>
                <a:spcPct val="120700"/>
              </a:lnSpc>
              <a:buChar char="•"/>
              <a:tabLst>
                <a:tab pos="355600" algn="l"/>
              </a:tabLst>
            </a:pPr>
            <a:r>
              <a:rPr sz="1450" spc="45" dirty="0">
                <a:solidFill>
                  <a:srgbClr val="161612"/>
                </a:solidFill>
                <a:latin typeface="Tahoma"/>
                <a:cs typeface="Tahoma"/>
              </a:rPr>
              <a:t>UnauthorizedExcepti </a:t>
            </a:r>
            <a:r>
              <a:rPr sz="1450" spc="55" dirty="0">
                <a:solidFill>
                  <a:srgbClr val="161612"/>
                </a:solidFill>
                <a:latin typeface="Tahoma"/>
                <a:cs typeface="Tahoma"/>
              </a:rPr>
              <a:t>on</a:t>
            </a:r>
            <a:r>
              <a:rPr sz="1450" spc="-35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1450" spc="70" dirty="0">
                <a:solidFill>
                  <a:srgbClr val="161612"/>
                </a:solidFill>
                <a:latin typeface="Tahoma"/>
                <a:cs typeface="Tahoma"/>
              </a:rPr>
              <a:t>— </a:t>
            </a:r>
            <a:r>
              <a:rPr sz="1450" spc="-10" dirty="0">
                <a:solidFill>
                  <a:srgbClr val="161612"/>
                </a:solidFill>
                <a:latin typeface="Tahoma"/>
                <a:cs typeface="Tahoma"/>
              </a:rPr>
              <a:t>authentication/author </a:t>
            </a:r>
            <a:r>
              <a:rPr sz="1450" spc="45" dirty="0">
                <a:solidFill>
                  <a:srgbClr val="161612"/>
                </a:solidFill>
                <a:latin typeface="Tahoma"/>
                <a:cs typeface="Tahoma"/>
              </a:rPr>
              <a:t>ization</a:t>
            </a:r>
            <a:r>
              <a:rPr sz="1450" spc="-30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1450" spc="35" dirty="0">
                <a:solidFill>
                  <a:srgbClr val="161612"/>
                </a:solidFill>
                <a:latin typeface="Tahoma"/>
                <a:cs typeface="Tahoma"/>
              </a:rPr>
              <a:t>failures</a:t>
            </a:r>
            <a:endParaRPr sz="1450">
              <a:latin typeface="Tahoma"/>
              <a:cs typeface="Tahoma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11084052" y="3110483"/>
            <a:ext cx="2606040" cy="3322320"/>
          </a:xfrm>
          <a:custGeom>
            <a:avLst/>
            <a:gdLst/>
            <a:ahLst/>
            <a:cxnLst/>
            <a:rect l="l" t="t" r="r" b="b"/>
            <a:pathLst>
              <a:path w="2606040" h="3322320">
                <a:moveTo>
                  <a:pt x="2578354" y="0"/>
                </a:moveTo>
                <a:lnTo>
                  <a:pt x="27686" y="0"/>
                </a:lnTo>
                <a:lnTo>
                  <a:pt x="16930" y="2182"/>
                </a:lnTo>
                <a:lnTo>
                  <a:pt x="8127" y="8127"/>
                </a:lnTo>
                <a:lnTo>
                  <a:pt x="2182" y="16930"/>
                </a:lnTo>
                <a:lnTo>
                  <a:pt x="0" y="27686"/>
                </a:lnTo>
                <a:lnTo>
                  <a:pt x="0" y="3294633"/>
                </a:lnTo>
                <a:lnTo>
                  <a:pt x="2182" y="3305389"/>
                </a:lnTo>
                <a:lnTo>
                  <a:pt x="8127" y="3314191"/>
                </a:lnTo>
                <a:lnTo>
                  <a:pt x="16930" y="3320137"/>
                </a:lnTo>
                <a:lnTo>
                  <a:pt x="27686" y="3322320"/>
                </a:lnTo>
                <a:lnTo>
                  <a:pt x="2578354" y="3322320"/>
                </a:lnTo>
                <a:lnTo>
                  <a:pt x="2589109" y="3320137"/>
                </a:lnTo>
                <a:lnTo>
                  <a:pt x="2597911" y="3314191"/>
                </a:lnTo>
                <a:lnTo>
                  <a:pt x="2603857" y="3305389"/>
                </a:lnTo>
                <a:lnTo>
                  <a:pt x="2606040" y="3294633"/>
                </a:lnTo>
                <a:lnTo>
                  <a:pt x="2606040" y="27686"/>
                </a:lnTo>
                <a:lnTo>
                  <a:pt x="2603857" y="16930"/>
                </a:lnTo>
                <a:lnTo>
                  <a:pt x="2597911" y="8127"/>
                </a:lnTo>
                <a:lnTo>
                  <a:pt x="2589109" y="2182"/>
                </a:lnTo>
                <a:lnTo>
                  <a:pt x="2578354" y="0"/>
                </a:lnTo>
                <a:close/>
              </a:path>
            </a:pathLst>
          </a:custGeom>
          <a:solidFill>
            <a:srgbClr val="ECEBE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11256644" y="3257169"/>
            <a:ext cx="2214880" cy="208216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128270">
              <a:lnSpc>
                <a:spcPct val="106100"/>
              </a:lnSpc>
              <a:spcBef>
                <a:spcPts val="100"/>
              </a:spcBef>
            </a:pPr>
            <a:r>
              <a:rPr sz="1800" spc="60" dirty="0">
                <a:solidFill>
                  <a:srgbClr val="161612"/>
                </a:solidFill>
                <a:latin typeface="Tahoma"/>
                <a:cs typeface="Tahoma"/>
              </a:rPr>
              <a:t>Standard</a:t>
            </a:r>
            <a:r>
              <a:rPr sz="1800" spc="-90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1800" spc="55" dirty="0">
                <a:solidFill>
                  <a:srgbClr val="161612"/>
                </a:solidFill>
                <a:latin typeface="Tahoma"/>
                <a:cs typeface="Tahoma"/>
              </a:rPr>
              <a:t>Response Body</a:t>
            </a:r>
            <a:endParaRPr sz="18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465"/>
              </a:spcBef>
            </a:pPr>
            <a:r>
              <a:rPr sz="1450" spc="55" dirty="0">
                <a:solidFill>
                  <a:srgbClr val="161612"/>
                </a:solidFill>
                <a:latin typeface="Tahoma"/>
                <a:cs typeface="Tahoma"/>
              </a:rPr>
              <a:t>Timestamp</a:t>
            </a:r>
            <a:r>
              <a:rPr sz="1450" spc="50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1450" spc="-100" dirty="0">
                <a:solidFill>
                  <a:srgbClr val="161612"/>
                </a:solidFill>
                <a:latin typeface="Tahoma"/>
                <a:cs typeface="Tahoma"/>
              </a:rPr>
              <a:t>·</a:t>
            </a:r>
            <a:r>
              <a:rPr sz="1450" spc="50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1450" dirty="0">
                <a:solidFill>
                  <a:srgbClr val="161612"/>
                </a:solidFill>
                <a:latin typeface="Tahoma"/>
                <a:cs typeface="Tahoma"/>
              </a:rPr>
              <a:t>Status</a:t>
            </a:r>
            <a:r>
              <a:rPr sz="1450" spc="15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1450" spc="80" dirty="0">
                <a:solidFill>
                  <a:srgbClr val="161612"/>
                </a:solidFill>
                <a:latin typeface="Tahoma"/>
                <a:cs typeface="Tahoma"/>
              </a:rPr>
              <a:t>Code</a:t>
            </a:r>
            <a:endParaRPr sz="1450">
              <a:latin typeface="Tahoma"/>
              <a:cs typeface="Tahoma"/>
            </a:endParaRPr>
          </a:p>
          <a:p>
            <a:pPr marL="12700" marR="292100">
              <a:lnSpc>
                <a:spcPct val="120700"/>
              </a:lnSpc>
            </a:pPr>
            <a:r>
              <a:rPr sz="1450" spc="-100" dirty="0">
                <a:solidFill>
                  <a:srgbClr val="161612"/>
                </a:solidFill>
                <a:latin typeface="Tahoma"/>
                <a:cs typeface="Tahoma"/>
              </a:rPr>
              <a:t>·</a:t>
            </a:r>
            <a:r>
              <a:rPr sz="1450" spc="20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1450" dirty="0">
                <a:solidFill>
                  <a:srgbClr val="161612"/>
                </a:solidFill>
                <a:latin typeface="Tahoma"/>
                <a:cs typeface="Tahoma"/>
              </a:rPr>
              <a:t>Error</a:t>
            </a:r>
            <a:r>
              <a:rPr sz="1450" spc="20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1450" spc="100" dirty="0">
                <a:solidFill>
                  <a:srgbClr val="161612"/>
                </a:solidFill>
                <a:latin typeface="Tahoma"/>
                <a:cs typeface="Tahoma"/>
              </a:rPr>
              <a:t>Message</a:t>
            </a:r>
            <a:r>
              <a:rPr sz="1450" spc="20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1450" spc="-50" dirty="0">
                <a:solidFill>
                  <a:srgbClr val="161612"/>
                </a:solidFill>
                <a:latin typeface="Tahoma"/>
                <a:cs typeface="Tahoma"/>
              </a:rPr>
              <a:t>· </a:t>
            </a:r>
            <a:r>
              <a:rPr sz="1450" spc="60" dirty="0">
                <a:solidFill>
                  <a:srgbClr val="161612"/>
                </a:solidFill>
                <a:latin typeface="Tahoma"/>
                <a:cs typeface="Tahoma"/>
              </a:rPr>
              <a:t>Request</a:t>
            </a:r>
            <a:r>
              <a:rPr sz="1450" spc="35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1450" dirty="0">
                <a:solidFill>
                  <a:srgbClr val="161612"/>
                </a:solidFill>
                <a:latin typeface="Tahoma"/>
                <a:cs typeface="Tahoma"/>
              </a:rPr>
              <a:t>Path</a:t>
            </a:r>
            <a:r>
              <a:rPr sz="1450" spc="60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1450" spc="80" dirty="0">
                <a:solidFill>
                  <a:srgbClr val="161612"/>
                </a:solidFill>
                <a:latin typeface="Tahoma"/>
                <a:cs typeface="Tahoma"/>
              </a:rPr>
              <a:t>— </a:t>
            </a:r>
            <a:r>
              <a:rPr sz="1450" spc="55" dirty="0">
                <a:solidFill>
                  <a:srgbClr val="161612"/>
                </a:solidFill>
                <a:latin typeface="Tahoma"/>
                <a:cs typeface="Tahoma"/>
              </a:rPr>
              <a:t>consistent</a:t>
            </a:r>
            <a:r>
              <a:rPr sz="1450" spc="-20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1450" spc="55" dirty="0">
                <a:solidFill>
                  <a:srgbClr val="161612"/>
                </a:solidFill>
                <a:latin typeface="Tahoma"/>
                <a:cs typeface="Tahoma"/>
              </a:rPr>
              <a:t>for</a:t>
            </a:r>
            <a:r>
              <a:rPr sz="1450" spc="-20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1450" spc="40" dirty="0">
                <a:solidFill>
                  <a:srgbClr val="161612"/>
                </a:solidFill>
                <a:latin typeface="Tahoma"/>
                <a:cs typeface="Tahoma"/>
              </a:rPr>
              <a:t>logging </a:t>
            </a:r>
            <a:r>
              <a:rPr sz="1450" spc="55" dirty="0">
                <a:solidFill>
                  <a:srgbClr val="161612"/>
                </a:solidFill>
                <a:latin typeface="Tahoma"/>
                <a:cs typeface="Tahoma"/>
              </a:rPr>
              <a:t>and</a:t>
            </a:r>
            <a:r>
              <a:rPr sz="1450" spc="90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1450" dirty="0">
                <a:solidFill>
                  <a:srgbClr val="161612"/>
                </a:solidFill>
                <a:latin typeface="Tahoma"/>
                <a:cs typeface="Tahoma"/>
              </a:rPr>
              <a:t>client</a:t>
            </a:r>
            <a:r>
              <a:rPr sz="1450" spc="95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1450" spc="-10" dirty="0">
                <a:solidFill>
                  <a:srgbClr val="161612"/>
                </a:solidFill>
                <a:latin typeface="Tahoma"/>
                <a:cs typeface="Tahoma"/>
              </a:rPr>
              <a:t>parsing.</a:t>
            </a:r>
            <a:endParaRPr sz="145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886944" y="7595614"/>
            <a:ext cx="1743455" cy="571498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81304" y="1047445"/>
            <a:ext cx="7145020" cy="7048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50" spc="110" dirty="0"/>
              <a:t>Reporting</a:t>
            </a:r>
            <a:r>
              <a:rPr sz="4450" spc="-200" dirty="0"/>
              <a:t> </a:t>
            </a:r>
            <a:r>
              <a:rPr sz="4450" spc="240" dirty="0"/>
              <a:t>&amp;</a:t>
            </a:r>
            <a:r>
              <a:rPr sz="4450" spc="-210" dirty="0"/>
              <a:t> </a:t>
            </a:r>
            <a:r>
              <a:rPr sz="4450" spc="180" dirty="0"/>
              <a:t>Audit</a:t>
            </a:r>
            <a:r>
              <a:rPr sz="4450" spc="-200" dirty="0"/>
              <a:t> </a:t>
            </a:r>
            <a:r>
              <a:rPr sz="4450" spc="120" dirty="0"/>
              <a:t>Features</a:t>
            </a:r>
            <a:endParaRPr sz="4450"/>
          </a:p>
        </p:txBody>
      </p:sp>
      <p:sp>
        <p:nvSpPr>
          <p:cNvPr id="4" name="object 4"/>
          <p:cNvSpPr txBox="1"/>
          <p:nvPr/>
        </p:nvSpPr>
        <p:spPr>
          <a:xfrm>
            <a:off x="781304" y="2295219"/>
            <a:ext cx="11979910" cy="2933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50" spc="60" dirty="0">
                <a:solidFill>
                  <a:srgbClr val="161612"/>
                </a:solidFill>
                <a:latin typeface="Tahoma"/>
                <a:cs typeface="Tahoma"/>
              </a:rPr>
              <a:t>Robust</a:t>
            </a:r>
            <a:r>
              <a:rPr sz="1750" spc="-5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1750" spc="75" dirty="0">
                <a:solidFill>
                  <a:srgbClr val="161612"/>
                </a:solidFill>
                <a:latin typeface="Tahoma"/>
                <a:cs typeface="Tahoma"/>
              </a:rPr>
              <a:t>exports</a:t>
            </a:r>
            <a:r>
              <a:rPr sz="1750" spc="-20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1750" spc="75" dirty="0">
                <a:solidFill>
                  <a:srgbClr val="161612"/>
                </a:solidFill>
                <a:latin typeface="Tahoma"/>
                <a:cs typeface="Tahoma"/>
              </a:rPr>
              <a:t>and</a:t>
            </a:r>
            <a:r>
              <a:rPr sz="1750" spc="-5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1750" spc="85" dirty="0">
                <a:solidFill>
                  <a:srgbClr val="161612"/>
                </a:solidFill>
                <a:latin typeface="Tahoma"/>
                <a:cs typeface="Tahoma"/>
              </a:rPr>
              <a:t>comprehensive</a:t>
            </a:r>
            <a:r>
              <a:rPr sz="1750" spc="40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1750" dirty="0">
                <a:solidFill>
                  <a:srgbClr val="161612"/>
                </a:solidFill>
                <a:latin typeface="Tahoma"/>
                <a:cs typeface="Tahoma"/>
              </a:rPr>
              <a:t>audit trails</a:t>
            </a:r>
            <a:r>
              <a:rPr sz="1750" spc="5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1750" spc="65" dirty="0">
                <a:solidFill>
                  <a:srgbClr val="161612"/>
                </a:solidFill>
                <a:latin typeface="Tahoma"/>
                <a:cs typeface="Tahoma"/>
              </a:rPr>
              <a:t>enable</a:t>
            </a:r>
            <a:r>
              <a:rPr sz="1750" spc="10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1750" spc="70" dirty="0">
                <a:solidFill>
                  <a:srgbClr val="161612"/>
                </a:solidFill>
                <a:latin typeface="Tahoma"/>
                <a:cs typeface="Tahoma"/>
              </a:rPr>
              <a:t>compliance,</a:t>
            </a:r>
            <a:r>
              <a:rPr sz="1750" spc="15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1750" spc="60" dirty="0">
                <a:solidFill>
                  <a:srgbClr val="161612"/>
                </a:solidFill>
                <a:latin typeface="Tahoma"/>
                <a:cs typeface="Tahoma"/>
              </a:rPr>
              <a:t>manager</a:t>
            </a:r>
            <a:r>
              <a:rPr sz="1750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1750" spc="55" dirty="0">
                <a:solidFill>
                  <a:srgbClr val="161612"/>
                </a:solidFill>
                <a:latin typeface="Tahoma"/>
                <a:cs typeface="Tahoma"/>
              </a:rPr>
              <a:t>oversight,</a:t>
            </a:r>
            <a:r>
              <a:rPr sz="1750" spc="5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1750" spc="75" dirty="0">
                <a:solidFill>
                  <a:srgbClr val="161612"/>
                </a:solidFill>
                <a:latin typeface="Tahoma"/>
                <a:cs typeface="Tahoma"/>
              </a:rPr>
              <a:t>and</a:t>
            </a:r>
            <a:r>
              <a:rPr sz="1750" spc="-10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1750" spc="75" dirty="0">
                <a:solidFill>
                  <a:srgbClr val="161612"/>
                </a:solidFill>
                <a:latin typeface="Tahoma"/>
                <a:cs typeface="Tahoma"/>
              </a:rPr>
              <a:t>performance</a:t>
            </a:r>
            <a:r>
              <a:rPr sz="1750" spc="30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1750" spc="40" dirty="0">
                <a:solidFill>
                  <a:srgbClr val="161612"/>
                </a:solidFill>
                <a:latin typeface="Tahoma"/>
                <a:cs typeface="Tahoma"/>
              </a:rPr>
              <a:t>tracking.</a:t>
            </a:r>
            <a:endParaRPr sz="1750">
              <a:latin typeface="Tahoma"/>
              <a:cs typeface="Tahoma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94004" y="2872739"/>
            <a:ext cx="1341120" cy="1676400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781304" y="4808601"/>
            <a:ext cx="2997835" cy="195389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dirty="0">
                <a:solidFill>
                  <a:srgbClr val="161612"/>
                </a:solidFill>
                <a:latin typeface="Tahoma"/>
                <a:cs typeface="Tahoma"/>
              </a:rPr>
              <a:t>PDF</a:t>
            </a:r>
            <a:r>
              <a:rPr sz="2200" spc="-30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2200" spc="60" dirty="0">
                <a:solidFill>
                  <a:srgbClr val="161612"/>
                </a:solidFill>
                <a:latin typeface="Tahoma"/>
                <a:cs typeface="Tahoma"/>
              </a:rPr>
              <a:t>Reports</a:t>
            </a:r>
            <a:endParaRPr sz="2200">
              <a:latin typeface="Tahoma"/>
              <a:cs typeface="Tahoma"/>
            </a:endParaRPr>
          </a:p>
          <a:p>
            <a:pPr marL="12700" marR="5080">
              <a:lnSpc>
                <a:spcPct val="138100"/>
              </a:lnSpc>
              <a:spcBef>
                <a:spcPts val="945"/>
              </a:spcBef>
            </a:pPr>
            <a:r>
              <a:rPr sz="1750" spc="75" dirty="0">
                <a:solidFill>
                  <a:srgbClr val="161612"/>
                </a:solidFill>
                <a:latin typeface="Tahoma"/>
                <a:cs typeface="Tahoma"/>
              </a:rPr>
              <a:t>Dynamic</a:t>
            </a:r>
            <a:r>
              <a:rPr sz="1750" spc="-30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1750" spc="105" dirty="0">
                <a:solidFill>
                  <a:srgbClr val="161612"/>
                </a:solidFill>
                <a:latin typeface="Tahoma"/>
                <a:cs typeface="Tahoma"/>
              </a:rPr>
              <a:t>PDF</a:t>
            </a:r>
            <a:r>
              <a:rPr sz="1750" spc="-50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1750" spc="55" dirty="0">
                <a:solidFill>
                  <a:srgbClr val="161612"/>
                </a:solidFill>
                <a:latin typeface="Tahoma"/>
                <a:cs typeface="Tahoma"/>
              </a:rPr>
              <a:t>generation</a:t>
            </a:r>
            <a:r>
              <a:rPr sz="1750" spc="-35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1750" spc="40" dirty="0">
                <a:solidFill>
                  <a:srgbClr val="161612"/>
                </a:solidFill>
                <a:latin typeface="Tahoma"/>
                <a:cs typeface="Tahoma"/>
              </a:rPr>
              <a:t>via </a:t>
            </a:r>
            <a:r>
              <a:rPr sz="1750" spc="90" dirty="0">
                <a:solidFill>
                  <a:srgbClr val="161612"/>
                </a:solidFill>
                <a:latin typeface="Tahoma"/>
                <a:cs typeface="Tahoma"/>
              </a:rPr>
              <a:t>JasperReports</a:t>
            </a:r>
            <a:r>
              <a:rPr sz="1750" spc="-25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1750" spc="65" dirty="0">
                <a:solidFill>
                  <a:srgbClr val="161612"/>
                </a:solidFill>
                <a:latin typeface="Tahoma"/>
                <a:cs typeface="Tahoma"/>
              </a:rPr>
              <a:t>for</a:t>
            </a:r>
            <a:r>
              <a:rPr sz="1750" spc="-45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1750" spc="-10" dirty="0">
                <a:solidFill>
                  <a:srgbClr val="161612"/>
                </a:solidFill>
                <a:latin typeface="Tahoma"/>
                <a:cs typeface="Tahoma"/>
              </a:rPr>
              <a:t>printable, </a:t>
            </a:r>
            <a:r>
              <a:rPr sz="1750" spc="50" dirty="0">
                <a:solidFill>
                  <a:srgbClr val="161612"/>
                </a:solidFill>
                <a:latin typeface="Tahoma"/>
                <a:cs typeface="Tahoma"/>
              </a:rPr>
              <a:t>templated</a:t>
            </a:r>
            <a:r>
              <a:rPr sz="1750" spc="-35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1750" spc="75" dirty="0">
                <a:solidFill>
                  <a:srgbClr val="161612"/>
                </a:solidFill>
                <a:latin typeface="Tahoma"/>
                <a:cs typeface="Tahoma"/>
              </a:rPr>
              <a:t>vendor</a:t>
            </a:r>
            <a:r>
              <a:rPr sz="1750" spc="-35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1750" spc="70" dirty="0">
                <a:solidFill>
                  <a:srgbClr val="161612"/>
                </a:solidFill>
                <a:latin typeface="Tahoma"/>
                <a:cs typeface="Tahoma"/>
              </a:rPr>
              <a:t>and</a:t>
            </a:r>
            <a:r>
              <a:rPr sz="1750" spc="-50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1750" spc="95" dirty="0">
                <a:solidFill>
                  <a:srgbClr val="161612"/>
                </a:solidFill>
                <a:latin typeface="Tahoma"/>
                <a:cs typeface="Tahoma"/>
              </a:rPr>
              <a:t>PO </a:t>
            </a:r>
            <a:r>
              <a:rPr sz="1750" spc="40" dirty="0">
                <a:solidFill>
                  <a:srgbClr val="161612"/>
                </a:solidFill>
                <a:latin typeface="Tahoma"/>
                <a:cs typeface="Tahoma"/>
              </a:rPr>
              <a:t>reports.</a:t>
            </a:r>
            <a:endParaRPr sz="1750">
              <a:latin typeface="Tahoma"/>
              <a:cs typeface="Tahoma"/>
            </a:endParaRPr>
          </a:p>
        </p:txBody>
      </p:sp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125467" y="2872739"/>
            <a:ext cx="1341119" cy="1676400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4113021" y="4808601"/>
            <a:ext cx="2876550" cy="195389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spc="60" dirty="0">
                <a:solidFill>
                  <a:srgbClr val="161612"/>
                </a:solidFill>
                <a:latin typeface="Tahoma"/>
                <a:cs typeface="Tahoma"/>
              </a:rPr>
              <a:t>Excel</a:t>
            </a:r>
            <a:r>
              <a:rPr sz="2200" spc="-100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2200" spc="50" dirty="0">
                <a:solidFill>
                  <a:srgbClr val="161612"/>
                </a:solidFill>
                <a:latin typeface="Tahoma"/>
                <a:cs typeface="Tahoma"/>
              </a:rPr>
              <a:t>Export</a:t>
            </a:r>
            <a:endParaRPr sz="2200">
              <a:latin typeface="Tahoma"/>
              <a:cs typeface="Tahoma"/>
            </a:endParaRPr>
          </a:p>
          <a:p>
            <a:pPr marL="12700" marR="5080">
              <a:lnSpc>
                <a:spcPct val="138100"/>
              </a:lnSpc>
              <a:spcBef>
                <a:spcPts val="945"/>
              </a:spcBef>
            </a:pPr>
            <a:r>
              <a:rPr sz="1750" spc="105" dirty="0">
                <a:solidFill>
                  <a:srgbClr val="161612"/>
                </a:solidFill>
                <a:latin typeface="Tahoma"/>
                <a:cs typeface="Tahoma"/>
              </a:rPr>
              <a:t>Apache</a:t>
            </a:r>
            <a:r>
              <a:rPr sz="1750" spc="-15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1750" spc="50" dirty="0">
                <a:solidFill>
                  <a:srgbClr val="161612"/>
                </a:solidFill>
                <a:latin typeface="Tahoma"/>
                <a:cs typeface="Tahoma"/>
              </a:rPr>
              <a:t>POI-</a:t>
            </a:r>
            <a:r>
              <a:rPr sz="1750" spc="95" dirty="0">
                <a:solidFill>
                  <a:srgbClr val="161612"/>
                </a:solidFill>
                <a:latin typeface="Tahoma"/>
                <a:cs typeface="Tahoma"/>
              </a:rPr>
              <a:t>based</a:t>
            </a:r>
            <a:r>
              <a:rPr sz="1750" spc="-25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1750" spc="65" dirty="0">
                <a:solidFill>
                  <a:srgbClr val="161612"/>
                </a:solidFill>
                <a:latin typeface="Tahoma"/>
                <a:cs typeface="Tahoma"/>
              </a:rPr>
              <a:t>Excel </a:t>
            </a:r>
            <a:r>
              <a:rPr sz="1750" spc="70" dirty="0">
                <a:solidFill>
                  <a:srgbClr val="161612"/>
                </a:solidFill>
                <a:latin typeface="Tahoma"/>
                <a:cs typeface="Tahoma"/>
              </a:rPr>
              <a:t>exports</a:t>
            </a:r>
            <a:r>
              <a:rPr sz="1750" spc="-55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1750" spc="65" dirty="0">
                <a:solidFill>
                  <a:srgbClr val="161612"/>
                </a:solidFill>
                <a:latin typeface="Tahoma"/>
                <a:cs typeface="Tahoma"/>
              </a:rPr>
              <a:t>for</a:t>
            </a:r>
            <a:r>
              <a:rPr sz="1750" spc="-35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1750" spc="60" dirty="0">
                <a:solidFill>
                  <a:srgbClr val="161612"/>
                </a:solidFill>
                <a:latin typeface="Tahoma"/>
                <a:cs typeface="Tahoma"/>
              </a:rPr>
              <a:t>analysis,</a:t>
            </a:r>
            <a:r>
              <a:rPr sz="1750" spc="-15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1750" spc="-10" dirty="0">
                <a:solidFill>
                  <a:srgbClr val="161612"/>
                </a:solidFill>
                <a:latin typeface="Tahoma"/>
                <a:cs typeface="Tahoma"/>
              </a:rPr>
              <a:t>filters, </a:t>
            </a:r>
            <a:r>
              <a:rPr sz="1750" spc="70" dirty="0">
                <a:solidFill>
                  <a:srgbClr val="161612"/>
                </a:solidFill>
                <a:latin typeface="Tahoma"/>
                <a:cs typeface="Tahoma"/>
              </a:rPr>
              <a:t>and</a:t>
            </a:r>
            <a:r>
              <a:rPr sz="1750" spc="-50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1750" spc="60" dirty="0">
                <a:solidFill>
                  <a:srgbClr val="161612"/>
                </a:solidFill>
                <a:latin typeface="Tahoma"/>
                <a:cs typeface="Tahoma"/>
              </a:rPr>
              <a:t>downstream </a:t>
            </a:r>
            <a:r>
              <a:rPr sz="1750" spc="75" dirty="0">
                <a:solidFill>
                  <a:srgbClr val="161612"/>
                </a:solidFill>
                <a:latin typeface="Tahoma"/>
                <a:cs typeface="Tahoma"/>
              </a:rPr>
              <a:t>processing.</a:t>
            </a:r>
            <a:endParaRPr sz="1750">
              <a:latin typeface="Tahoma"/>
              <a:cs typeface="Tahoma"/>
            </a:endParaRPr>
          </a:p>
        </p:txBody>
      </p:sp>
      <p:pic>
        <p:nvPicPr>
          <p:cNvPr id="9" name="object 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456931" y="2872739"/>
            <a:ext cx="1341120" cy="1676400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7444867" y="4788179"/>
            <a:ext cx="3035935" cy="23285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1067435">
              <a:lnSpc>
                <a:spcPct val="105900"/>
              </a:lnSpc>
              <a:spcBef>
                <a:spcPts val="100"/>
              </a:spcBef>
            </a:pPr>
            <a:r>
              <a:rPr sz="2200" spc="70" dirty="0">
                <a:solidFill>
                  <a:srgbClr val="161612"/>
                </a:solidFill>
                <a:latin typeface="Tahoma"/>
                <a:cs typeface="Tahoma"/>
              </a:rPr>
              <a:t>Performance</a:t>
            </a:r>
            <a:r>
              <a:rPr sz="2200" spc="-60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2200" spc="65" dirty="0">
                <a:solidFill>
                  <a:srgbClr val="161612"/>
                </a:solidFill>
                <a:latin typeface="Tahoma"/>
                <a:cs typeface="Tahoma"/>
              </a:rPr>
              <a:t>&amp; </a:t>
            </a:r>
            <a:r>
              <a:rPr sz="2200" spc="45" dirty="0">
                <a:solidFill>
                  <a:srgbClr val="161612"/>
                </a:solidFill>
                <a:latin typeface="Tahoma"/>
                <a:cs typeface="Tahoma"/>
              </a:rPr>
              <a:t>Summaries</a:t>
            </a:r>
            <a:endParaRPr sz="2200">
              <a:latin typeface="Tahoma"/>
              <a:cs typeface="Tahoma"/>
            </a:endParaRPr>
          </a:p>
          <a:p>
            <a:pPr marL="12700" marR="5080">
              <a:lnSpc>
                <a:spcPct val="138100"/>
              </a:lnSpc>
              <a:spcBef>
                <a:spcPts val="940"/>
              </a:spcBef>
            </a:pPr>
            <a:r>
              <a:rPr sz="1750" spc="80" dirty="0">
                <a:solidFill>
                  <a:srgbClr val="161612"/>
                </a:solidFill>
                <a:latin typeface="Tahoma"/>
                <a:cs typeface="Tahoma"/>
              </a:rPr>
              <a:t>Vendor</a:t>
            </a:r>
            <a:r>
              <a:rPr sz="1750" spc="-35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1750" spc="75" dirty="0">
                <a:solidFill>
                  <a:srgbClr val="161612"/>
                </a:solidFill>
                <a:latin typeface="Tahoma"/>
                <a:cs typeface="Tahoma"/>
              </a:rPr>
              <a:t>performance</a:t>
            </a:r>
            <a:r>
              <a:rPr sz="1750" spc="-25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1750" spc="60" dirty="0">
                <a:solidFill>
                  <a:srgbClr val="161612"/>
                </a:solidFill>
                <a:latin typeface="Tahoma"/>
                <a:cs typeface="Tahoma"/>
              </a:rPr>
              <a:t>reports </a:t>
            </a:r>
            <a:r>
              <a:rPr sz="1750" spc="70" dirty="0">
                <a:solidFill>
                  <a:srgbClr val="161612"/>
                </a:solidFill>
                <a:latin typeface="Tahoma"/>
                <a:cs typeface="Tahoma"/>
              </a:rPr>
              <a:t>and</a:t>
            </a:r>
            <a:r>
              <a:rPr sz="1750" spc="-45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1750" spc="85" dirty="0">
                <a:solidFill>
                  <a:srgbClr val="161612"/>
                </a:solidFill>
                <a:latin typeface="Tahoma"/>
                <a:cs typeface="Tahoma"/>
              </a:rPr>
              <a:t>purchase</a:t>
            </a:r>
            <a:r>
              <a:rPr sz="1750" spc="-25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1750" spc="55" dirty="0">
                <a:solidFill>
                  <a:srgbClr val="161612"/>
                </a:solidFill>
                <a:latin typeface="Tahoma"/>
                <a:cs typeface="Tahoma"/>
              </a:rPr>
              <a:t>order </a:t>
            </a:r>
            <a:r>
              <a:rPr sz="1750" spc="65" dirty="0">
                <a:solidFill>
                  <a:srgbClr val="161612"/>
                </a:solidFill>
                <a:latin typeface="Tahoma"/>
                <a:cs typeface="Tahoma"/>
              </a:rPr>
              <a:t>summaries</a:t>
            </a:r>
            <a:r>
              <a:rPr sz="1750" spc="-25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1750" spc="65" dirty="0">
                <a:solidFill>
                  <a:srgbClr val="161612"/>
                </a:solidFill>
                <a:latin typeface="Tahoma"/>
                <a:cs typeface="Tahoma"/>
              </a:rPr>
              <a:t>for</a:t>
            </a:r>
            <a:r>
              <a:rPr sz="1750" spc="-55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1750" spc="55" dirty="0">
                <a:solidFill>
                  <a:srgbClr val="161612"/>
                </a:solidFill>
                <a:latin typeface="Tahoma"/>
                <a:cs typeface="Tahoma"/>
              </a:rPr>
              <a:t>procurement </a:t>
            </a:r>
            <a:r>
              <a:rPr sz="1750" spc="40" dirty="0">
                <a:solidFill>
                  <a:srgbClr val="161612"/>
                </a:solidFill>
                <a:latin typeface="Tahoma"/>
                <a:cs typeface="Tahoma"/>
              </a:rPr>
              <a:t>insights.</a:t>
            </a:r>
            <a:endParaRPr sz="1750">
              <a:latin typeface="Tahoma"/>
              <a:cs typeface="Tahoma"/>
            </a:endParaRPr>
          </a:p>
        </p:txBody>
      </p:sp>
      <p:pic>
        <p:nvPicPr>
          <p:cNvPr id="11" name="object 11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0788395" y="2872739"/>
            <a:ext cx="1341120" cy="1676400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10776966" y="4808601"/>
            <a:ext cx="2997200" cy="232283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spc="80" dirty="0">
                <a:solidFill>
                  <a:srgbClr val="161612"/>
                </a:solidFill>
                <a:latin typeface="Tahoma"/>
                <a:cs typeface="Tahoma"/>
              </a:rPr>
              <a:t>Approval</a:t>
            </a:r>
            <a:r>
              <a:rPr sz="2200" spc="-90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2200" spc="114" dirty="0">
                <a:solidFill>
                  <a:srgbClr val="161612"/>
                </a:solidFill>
                <a:latin typeface="Tahoma"/>
                <a:cs typeface="Tahoma"/>
              </a:rPr>
              <a:t>&amp;</a:t>
            </a:r>
            <a:r>
              <a:rPr sz="2200" spc="-100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2200" spc="90" dirty="0">
                <a:solidFill>
                  <a:srgbClr val="161612"/>
                </a:solidFill>
                <a:latin typeface="Tahoma"/>
                <a:cs typeface="Tahoma"/>
              </a:rPr>
              <a:t>Audit</a:t>
            </a:r>
            <a:r>
              <a:rPr sz="2200" spc="-95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2200" spc="-10" dirty="0">
                <a:solidFill>
                  <a:srgbClr val="161612"/>
                </a:solidFill>
                <a:latin typeface="Tahoma"/>
                <a:cs typeface="Tahoma"/>
              </a:rPr>
              <a:t>Trails</a:t>
            </a:r>
            <a:endParaRPr sz="2200">
              <a:latin typeface="Tahoma"/>
              <a:cs typeface="Tahoma"/>
            </a:endParaRPr>
          </a:p>
          <a:p>
            <a:pPr marL="12700" marR="241300">
              <a:lnSpc>
                <a:spcPct val="138200"/>
              </a:lnSpc>
              <a:spcBef>
                <a:spcPts val="940"/>
              </a:spcBef>
            </a:pPr>
            <a:r>
              <a:rPr sz="1750" spc="80" dirty="0">
                <a:solidFill>
                  <a:srgbClr val="161612"/>
                </a:solidFill>
                <a:latin typeface="Tahoma"/>
                <a:cs typeface="Tahoma"/>
              </a:rPr>
              <a:t>Approval</a:t>
            </a:r>
            <a:r>
              <a:rPr sz="1750" spc="-30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1750" spc="60" dirty="0">
                <a:solidFill>
                  <a:srgbClr val="161612"/>
                </a:solidFill>
                <a:latin typeface="Tahoma"/>
                <a:cs typeface="Tahoma"/>
              </a:rPr>
              <a:t>history</a:t>
            </a:r>
            <a:r>
              <a:rPr sz="1750" spc="-40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1750" spc="45" dirty="0">
                <a:solidFill>
                  <a:srgbClr val="161612"/>
                </a:solidFill>
                <a:latin typeface="Tahoma"/>
                <a:cs typeface="Tahoma"/>
              </a:rPr>
              <a:t>and </a:t>
            </a:r>
            <a:r>
              <a:rPr sz="1750" spc="75" dirty="0">
                <a:solidFill>
                  <a:srgbClr val="161612"/>
                </a:solidFill>
                <a:latin typeface="Tahoma"/>
                <a:cs typeface="Tahoma"/>
              </a:rPr>
              <a:t>manager-</a:t>
            </a:r>
            <a:r>
              <a:rPr sz="1750" spc="60" dirty="0">
                <a:solidFill>
                  <a:srgbClr val="161612"/>
                </a:solidFill>
                <a:latin typeface="Tahoma"/>
                <a:cs typeface="Tahoma"/>
              </a:rPr>
              <a:t>level</a:t>
            </a:r>
            <a:r>
              <a:rPr sz="1750" spc="90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1750" dirty="0">
                <a:solidFill>
                  <a:srgbClr val="161612"/>
                </a:solidFill>
                <a:latin typeface="Tahoma"/>
                <a:cs typeface="Tahoma"/>
              </a:rPr>
              <a:t>audit</a:t>
            </a:r>
            <a:r>
              <a:rPr sz="1750" spc="70" dirty="0">
                <a:solidFill>
                  <a:srgbClr val="161612"/>
                </a:solidFill>
                <a:latin typeface="Tahoma"/>
                <a:cs typeface="Tahoma"/>
              </a:rPr>
              <a:t> logs </a:t>
            </a:r>
            <a:r>
              <a:rPr sz="1750" spc="85" dirty="0">
                <a:solidFill>
                  <a:srgbClr val="161612"/>
                </a:solidFill>
                <a:latin typeface="Tahoma"/>
                <a:cs typeface="Tahoma"/>
              </a:rPr>
              <a:t>preserve</a:t>
            </a:r>
            <a:r>
              <a:rPr sz="1750" spc="-35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1750" spc="85" dirty="0">
                <a:solidFill>
                  <a:srgbClr val="161612"/>
                </a:solidFill>
                <a:latin typeface="Tahoma"/>
                <a:cs typeface="Tahoma"/>
              </a:rPr>
              <a:t>decision</a:t>
            </a:r>
            <a:r>
              <a:rPr sz="1750" spc="-35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1750" spc="50" dirty="0">
                <a:solidFill>
                  <a:srgbClr val="161612"/>
                </a:solidFill>
                <a:latin typeface="Tahoma"/>
                <a:cs typeface="Tahoma"/>
              </a:rPr>
              <a:t>context </a:t>
            </a:r>
            <a:r>
              <a:rPr sz="1750" spc="70" dirty="0">
                <a:solidFill>
                  <a:srgbClr val="161612"/>
                </a:solidFill>
                <a:latin typeface="Tahoma"/>
                <a:cs typeface="Tahoma"/>
              </a:rPr>
              <a:t>and</a:t>
            </a:r>
            <a:r>
              <a:rPr sz="1750" spc="-40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1750" spc="65" dirty="0">
                <a:solidFill>
                  <a:srgbClr val="161612"/>
                </a:solidFill>
                <a:latin typeface="Tahoma"/>
                <a:cs typeface="Tahoma"/>
              </a:rPr>
              <a:t>support</a:t>
            </a:r>
            <a:r>
              <a:rPr sz="1750" spc="-25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1750" spc="70" dirty="0">
                <a:solidFill>
                  <a:srgbClr val="161612"/>
                </a:solidFill>
                <a:latin typeface="Tahoma"/>
                <a:cs typeface="Tahoma"/>
              </a:rPr>
              <a:t>compliance </a:t>
            </a:r>
            <a:r>
              <a:rPr sz="1750" spc="60" dirty="0">
                <a:solidFill>
                  <a:srgbClr val="161612"/>
                </a:solidFill>
                <a:latin typeface="Tahoma"/>
                <a:cs typeface="Tahoma"/>
              </a:rPr>
              <a:t>reviews.</a:t>
            </a:r>
            <a:endParaRPr sz="175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789407" y="7610854"/>
            <a:ext cx="1743455" cy="57150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195" dirty="0"/>
              <a:t>System</a:t>
            </a:r>
            <a:r>
              <a:rPr spc="-204" dirty="0"/>
              <a:t> </a:t>
            </a:r>
            <a:r>
              <a:rPr spc="110" dirty="0"/>
              <a:t>Limitations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723391" y="2084578"/>
            <a:ext cx="9814560" cy="2781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650" spc="55" dirty="0">
                <a:solidFill>
                  <a:srgbClr val="161612"/>
                </a:solidFill>
                <a:latin typeface="Tahoma"/>
                <a:cs typeface="Tahoma"/>
              </a:rPr>
              <a:t>Transparent</a:t>
            </a:r>
            <a:r>
              <a:rPr sz="1650" spc="5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1650" spc="60" dirty="0">
                <a:solidFill>
                  <a:srgbClr val="161612"/>
                </a:solidFill>
                <a:latin typeface="Tahoma"/>
                <a:cs typeface="Tahoma"/>
              </a:rPr>
              <a:t>constraints</a:t>
            </a:r>
            <a:r>
              <a:rPr sz="1650" spc="-5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1650" spc="60" dirty="0">
                <a:solidFill>
                  <a:srgbClr val="161612"/>
                </a:solidFill>
                <a:latin typeface="Tahoma"/>
                <a:cs typeface="Tahoma"/>
              </a:rPr>
              <a:t>for</a:t>
            </a:r>
            <a:r>
              <a:rPr sz="1650" spc="25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1650" spc="55" dirty="0">
                <a:solidFill>
                  <a:srgbClr val="161612"/>
                </a:solidFill>
                <a:latin typeface="Tahoma"/>
                <a:cs typeface="Tahoma"/>
              </a:rPr>
              <a:t>realistic</a:t>
            </a:r>
            <a:r>
              <a:rPr sz="1650" spc="15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1650" spc="60" dirty="0">
                <a:solidFill>
                  <a:srgbClr val="161612"/>
                </a:solidFill>
                <a:latin typeface="Tahoma"/>
                <a:cs typeface="Tahoma"/>
              </a:rPr>
              <a:t>deployment</a:t>
            </a:r>
            <a:r>
              <a:rPr sz="1650" spc="25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1650" dirty="0">
                <a:solidFill>
                  <a:srgbClr val="161612"/>
                </a:solidFill>
                <a:latin typeface="Tahoma"/>
                <a:cs typeface="Tahoma"/>
              </a:rPr>
              <a:t>planning.</a:t>
            </a:r>
            <a:r>
              <a:rPr sz="1650" spc="-5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1650" spc="95" dirty="0">
                <a:solidFill>
                  <a:srgbClr val="161612"/>
                </a:solidFill>
                <a:latin typeface="Tahoma"/>
                <a:cs typeface="Tahoma"/>
              </a:rPr>
              <a:t>These</a:t>
            </a:r>
            <a:r>
              <a:rPr sz="1650" spc="10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1650" spc="55" dirty="0">
                <a:solidFill>
                  <a:srgbClr val="161612"/>
                </a:solidFill>
                <a:latin typeface="Tahoma"/>
                <a:cs typeface="Tahoma"/>
              </a:rPr>
              <a:t>are</a:t>
            </a:r>
            <a:r>
              <a:rPr sz="1650" spc="35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1650" spc="50" dirty="0">
                <a:solidFill>
                  <a:srgbClr val="161612"/>
                </a:solidFill>
                <a:latin typeface="Tahoma"/>
                <a:cs typeface="Tahoma"/>
              </a:rPr>
              <a:t>prioritized</a:t>
            </a:r>
            <a:r>
              <a:rPr sz="1650" spc="20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1650" spc="60" dirty="0">
                <a:solidFill>
                  <a:srgbClr val="161612"/>
                </a:solidFill>
                <a:latin typeface="Tahoma"/>
                <a:cs typeface="Tahoma"/>
              </a:rPr>
              <a:t>for</a:t>
            </a:r>
            <a:r>
              <a:rPr sz="1650" spc="25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1650" dirty="0">
                <a:solidFill>
                  <a:srgbClr val="161612"/>
                </a:solidFill>
                <a:latin typeface="Tahoma"/>
                <a:cs typeface="Tahoma"/>
              </a:rPr>
              <a:t>future </a:t>
            </a:r>
            <a:r>
              <a:rPr sz="1650" spc="55" dirty="0">
                <a:solidFill>
                  <a:srgbClr val="161612"/>
                </a:solidFill>
                <a:latin typeface="Tahoma"/>
                <a:cs typeface="Tahoma"/>
              </a:rPr>
              <a:t>releases.</a:t>
            </a:r>
            <a:endParaRPr sz="1650">
              <a:latin typeface="Tahoma"/>
              <a:cs typeface="Tahoma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725423" y="2590800"/>
            <a:ext cx="3165475" cy="3208020"/>
            <a:chOff x="725423" y="2590800"/>
            <a:chExt cx="3165475" cy="3208020"/>
          </a:xfrm>
        </p:grpSpPr>
        <p:sp>
          <p:nvSpPr>
            <p:cNvPr id="6" name="object 6"/>
            <p:cNvSpPr/>
            <p:nvPr/>
          </p:nvSpPr>
          <p:spPr>
            <a:xfrm>
              <a:off x="736853" y="2602229"/>
              <a:ext cx="3142615" cy="3185160"/>
            </a:xfrm>
            <a:custGeom>
              <a:avLst/>
              <a:gdLst/>
              <a:ahLst/>
              <a:cxnLst/>
              <a:rect l="l" t="t" r="r" b="b"/>
              <a:pathLst>
                <a:path w="3142615" h="3185160">
                  <a:moveTo>
                    <a:pt x="3110992" y="0"/>
                  </a:moveTo>
                  <a:lnTo>
                    <a:pt x="31521" y="0"/>
                  </a:lnTo>
                  <a:lnTo>
                    <a:pt x="19250" y="2474"/>
                  </a:lnTo>
                  <a:lnTo>
                    <a:pt x="9231" y="9223"/>
                  </a:lnTo>
                  <a:lnTo>
                    <a:pt x="2476" y="19234"/>
                  </a:lnTo>
                  <a:lnTo>
                    <a:pt x="0" y="31496"/>
                  </a:lnTo>
                  <a:lnTo>
                    <a:pt x="0" y="3153664"/>
                  </a:lnTo>
                  <a:lnTo>
                    <a:pt x="2476" y="3165925"/>
                  </a:lnTo>
                  <a:lnTo>
                    <a:pt x="9231" y="3175936"/>
                  </a:lnTo>
                  <a:lnTo>
                    <a:pt x="19250" y="3182685"/>
                  </a:lnTo>
                  <a:lnTo>
                    <a:pt x="31521" y="3185160"/>
                  </a:lnTo>
                  <a:lnTo>
                    <a:pt x="3110992" y="3185160"/>
                  </a:lnTo>
                  <a:lnTo>
                    <a:pt x="3123253" y="3182685"/>
                  </a:lnTo>
                  <a:lnTo>
                    <a:pt x="3133264" y="3175936"/>
                  </a:lnTo>
                  <a:lnTo>
                    <a:pt x="3140013" y="3165925"/>
                  </a:lnTo>
                  <a:lnTo>
                    <a:pt x="3142487" y="3153664"/>
                  </a:lnTo>
                  <a:lnTo>
                    <a:pt x="3142487" y="31496"/>
                  </a:lnTo>
                  <a:lnTo>
                    <a:pt x="3140013" y="19234"/>
                  </a:lnTo>
                  <a:lnTo>
                    <a:pt x="3133264" y="9223"/>
                  </a:lnTo>
                  <a:lnTo>
                    <a:pt x="3123253" y="2474"/>
                  </a:lnTo>
                  <a:lnTo>
                    <a:pt x="3110992" y="0"/>
                  </a:lnTo>
                  <a:close/>
                </a:path>
              </a:pathLst>
            </a:custGeom>
            <a:solidFill>
              <a:srgbClr val="F8F8F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736853" y="2602229"/>
              <a:ext cx="3142615" cy="3185160"/>
            </a:xfrm>
            <a:custGeom>
              <a:avLst/>
              <a:gdLst/>
              <a:ahLst/>
              <a:cxnLst/>
              <a:rect l="l" t="t" r="r" b="b"/>
              <a:pathLst>
                <a:path w="3142615" h="3185160">
                  <a:moveTo>
                    <a:pt x="0" y="31496"/>
                  </a:moveTo>
                  <a:lnTo>
                    <a:pt x="2476" y="19234"/>
                  </a:lnTo>
                  <a:lnTo>
                    <a:pt x="9231" y="9223"/>
                  </a:lnTo>
                  <a:lnTo>
                    <a:pt x="19250" y="2474"/>
                  </a:lnTo>
                  <a:lnTo>
                    <a:pt x="31521" y="0"/>
                  </a:lnTo>
                  <a:lnTo>
                    <a:pt x="3110992" y="0"/>
                  </a:lnTo>
                  <a:lnTo>
                    <a:pt x="3123253" y="2474"/>
                  </a:lnTo>
                  <a:lnTo>
                    <a:pt x="3133264" y="9223"/>
                  </a:lnTo>
                  <a:lnTo>
                    <a:pt x="3140013" y="19234"/>
                  </a:lnTo>
                  <a:lnTo>
                    <a:pt x="3142487" y="31496"/>
                  </a:lnTo>
                  <a:lnTo>
                    <a:pt x="3142487" y="3153664"/>
                  </a:lnTo>
                  <a:lnTo>
                    <a:pt x="3140013" y="3165925"/>
                  </a:lnTo>
                  <a:lnTo>
                    <a:pt x="3133264" y="3175936"/>
                  </a:lnTo>
                  <a:lnTo>
                    <a:pt x="3123253" y="3182685"/>
                  </a:lnTo>
                  <a:lnTo>
                    <a:pt x="3110992" y="3185160"/>
                  </a:lnTo>
                  <a:lnTo>
                    <a:pt x="31521" y="3185160"/>
                  </a:lnTo>
                  <a:lnTo>
                    <a:pt x="19250" y="3182685"/>
                  </a:lnTo>
                  <a:lnTo>
                    <a:pt x="9231" y="3175936"/>
                  </a:lnTo>
                  <a:lnTo>
                    <a:pt x="2476" y="3165925"/>
                  </a:lnTo>
                  <a:lnTo>
                    <a:pt x="0" y="3153664"/>
                  </a:lnTo>
                  <a:lnTo>
                    <a:pt x="0" y="31496"/>
                  </a:lnTo>
                  <a:close/>
                </a:path>
              </a:pathLst>
            </a:custGeom>
            <a:ln w="22859">
              <a:solidFill>
                <a:srgbClr val="D2D1C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956563" y="2793532"/>
            <a:ext cx="2600325" cy="2770505"/>
          </a:xfrm>
          <a:prstGeom prst="rect">
            <a:avLst/>
          </a:prstGeom>
        </p:spPr>
        <p:txBody>
          <a:bodyPr vert="horz" wrap="square" lIns="0" tIns="298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35"/>
              </a:spcBef>
            </a:pPr>
            <a:r>
              <a:rPr sz="2050" spc="70" dirty="0">
                <a:solidFill>
                  <a:srgbClr val="161612"/>
                </a:solidFill>
                <a:latin typeface="Tahoma"/>
                <a:cs typeface="Tahoma"/>
              </a:rPr>
              <a:t>No</a:t>
            </a:r>
            <a:r>
              <a:rPr sz="2050" spc="-90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2050" spc="85" dirty="0">
                <a:solidFill>
                  <a:srgbClr val="161612"/>
                </a:solidFill>
                <a:latin typeface="Tahoma"/>
                <a:cs typeface="Tahoma"/>
              </a:rPr>
              <a:t>payment</a:t>
            </a:r>
            <a:r>
              <a:rPr sz="2050" spc="-95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2050" spc="40" dirty="0">
                <a:solidFill>
                  <a:srgbClr val="161612"/>
                </a:solidFill>
                <a:latin typeface="Tahoma"/>
                <a:cs typeface="Tahoma"/>
              </a:rPr>
              <a:t>gateway</a:t>
            </a:r>
            <a:endParaRPr sz="20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2050" spc="40" dirty="0">
                <a:solidFill>
                  <a:srgbClr val="161612"/>
                </a:solidFill>
                <a:latin typeface="Tahoma"/>
                <a:cs typeface="Tahoma"/>
              </a:rPr>
              <a:t>integration</a:t>
            </a:r>
            <a:endParaRPr sz="2050">
              <a:latin typeface="Tahoma"/>
              <a:cs typeface="Tahoma"/>
            </a:endParaRPr>
          </a:p>
          <a:p>
            <a:pPr marL="12700" marR="128905">
              <a:lnSpc>
                <a:spcPct val="131300"/>
              </a:lnSpc>
              <a:spcBef>
                <a:spcPts val="825"/>
              </a:spcBef>
            </a:pPr>
            <a:r>
              <a:rPr sz="1650" spc="70" dirty="0">
                <a:solidFill>
                  <a:srgbClr val="161612"/>
                </a:solidFill>
                <a:latin typeface="Tahoma"/>
                <a:cs typeface="Tahoma"/>
              </a:rPr>
              <a:t>Payments</a:t>
            </a:r>
            <a:r>
              <a:rPr sz="1650" spc="-65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1650" spc="55" dirty="0">
                <a:solidFill>
                  <a:srgbClr val="161612"/>
                </a:solidFill>
                <a:latin typeface="Tahoma"/>
                <a:cs typeface="Tahoma"/>
              </a:rPr>
              <a:t>are</a:t>
            </a:r>
            <a:r>
              <a:rPr sz="1650" spc="-25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1650" spc="65" dirty="0">
                <a:solidFill>
                  <a:srgbClr val="161612"/>
                </a:solidFill>
                <a:latin typeface="Tahoma"/>
                <a:cs typeface="Tahoma"/>
              </a:rPr>
              <a:t>out-</a:t>
            </a:r>
            <a:r>
              <a:rPr sz="1650" spc="80" dirty="0">
                <a:solidFill>
                  <a:srgbClr val="161612"/>
                </a:solidFill>
                <a:latin typeface="Tahoma"/>
                <a:cs typeface="Tahoma"/>
              </a:rPr>
              <a:t>of- scope;</a:t>
            </a:r>
            <a:r>
              <a:rPr sz="1650" spc="-60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1650" spc="50" dirty="0">
                <a:solidFill>
                  <a:srgbClr val="161612"/>
                </a:solidFill>
                <a:latin typeface="Tahoma"/>
                <a:cs typeface="Tahoma"/>
              </a:rPr>
              <a:t>external</a:t>
            </a:r>
            <a:r>
              <a:rPr sz="1650" spc="-40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1650" spc="45" dirty="0">
                <a:solidFill>
                  <a:srgbClr val="161612"/>
                </a:solidFill>
                <a:latin typeface="Tahoma"/>
                <a:cs typeface="Tahoma"/>
              </a:rPr>
              <a:t>payment </a:t>
            </a:r>
            <a:r>
              <a:rPr sz="1650" spc="60" dirty="0">
                <a:solidFill>
                  <a:srgbClr val="161612"/>
                </a:solidFill>
                <a:latin typeface="Tahoma"/>
                <a:cs typeface="Tahoma"/>
              </a:rPr>
              <a:t>provider</a:t>
            </a:r>
            <a:r>
              <a:rPr sz="1650" spc="-35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1650" spc="-10" dirty="0">
                <a:solidFill>
                  <a:srgbClr val="161612"/>
                </a:solidFill>
                <a:latin typeface="Tahoma"/>
                <a:cs typeface="Tahoma"/>
              </a:rPr>
              <a:t>integration </a:t>
            </a:r>
            <a:r>
              <a:rPr sz="1650" spc="60" dirty="0">
                <a:solidFill>
                  <a:srgbClr val="161612"/>
                </a:solidFill>
                <a:latin typeface="Tahoma"/>
                <a:cs typeface="Tahoma"/>
              </a:rPr>
              <a:t>required</a:t>
            </a:r>
            <a:r>
              <a:rPr sz="1650" spc="-50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1650" spc="60" dirty="0">
                <a:solidFill>
                  <a:srgbClr val="161612"/>
                </a:solidFill>
                <a:latin typeface="Tahoma"/>
                <a:cs typeface="Tahoma"/>
              </a:rPr>
              <a:t>for</a:t>
            </a:r>
            <a:r>
              <a:rPr sz="1650" spc="-45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1650" spc="95" dirty="0">
                <a:solidFill>
                  <a:srgbClr val="161612"/>
                </a:solidFill>
                <a:latin typeface="Tahoma"/>
                <a:cs typeface="Tahoma"/>
              </a:rPr>
              <a:t>end-</a:t>
            </a:r>
            <a:r>
              <a:rPr sz="1650" spc="70" dirty="0">
                <a:solidFill>
                  <a:srgbClr val="161612"/>
                </a:solidFill>
                <a:latin typeface="Tahoma"/>
                <a:cs typeface="Tahoma"/>
              </a:rPr>
              <a:t>to-</a:t>
            </a:r>
            <a:r>
              <a:rPr sz="1650" spc="50" dirty="0">
                <a:solidFill>
                  <a:srgbClr val="161612"/>
                </a:solidFill>
                <a:latin typeface="Tahoma"/>
                <a:cs typeface="Tahoma"/>
              </a:rPr>
              <a:t>end </a:t>
            </a:r>
            <a:r>
              <a:rPr sz="1650" spc="60" dirty="0">
                <a:solidFill>
                  <a:srgbClr val="161612"/>
                </a:solidFill>
                <a:latin typeface="Tahoma"/>
                <a:cs typeface="Tahoma"/>
              </a:rPr>
              <a:t>procurement</a:t>
            </a:r>
            <a:r>
              <a:rPr sz="1650" spc="-45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1650" spc="60" dirty="0">
                <a:solidFill>
                  <a:srgbClr val="161612"/>
                </a:solidFill>
                <a:latin typeface="Tahoma"/>
                <a:cs typeface="Tahoma"/>
              </a:rPr>
              <a:t>finance workflows.</a:t>
            </a:r>
            <a:endParaRPr sz="1650">
              <a:latin typeface="Tahoma"/>
              <a:cs typeface="Tahoma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4062984" y="2590800"/>
            <a:ext cx="3167380" cy="3208020"/>
            <a:chOff x="4062984" y="2590800"/>
            <a:chExt cx="3167380" cy="3208020"/>
          </a:xfrm>
        </p:grpSpPr>
        <p:sp>
          <p:nvSpPr>
            <p:cNvPr id="10" name="object 10"/>
            <p:cNvSpPr/>
            <p:nvPr/>
          </p:nvSpPr>
          <p:spPr>
            <a:xfrm>
              <a:off x="4074414" y="2602229"/>
              <a:ext cx="3144520" cy="3185160"/>
            </a:xfrm>
            <a:custGeom>
              <a:avLst/>
              <a:gdLst/>
              <a:ahLst/>
              <a:cxnLst/>
              <a:rect l="l" t="t" r="r" b="b"/>
              <a:pathLst>
                <a:path w="3144520" h="3185160">
                  <a:moveTo>
                    <a:pt x="3112516" y="0"/>
                  </a:moveTo>
                  <a:lnTo>
                    <a:pt x="31496" y="0"/>
                  </a:lnTo>
                  <a:lnTo>
                    <a:pt x="19234" y="2474"/>
                  </a:lnTo>
                  <a:lnTo>
                    <a:pt x="9223" y="9223"/>
                  </a:lnTo>
                  <a:lnTo>
                    <a:pt x="2474" y="19234"/>
                  </a:lnTo>
                  <a:lnTo>
                    <a:pt x="0" y="31496"/>
                  </a:lnTo>
                  <a:lnTo>
                    <a:pt x="0" y="3153664"/>
                  </a:lnTo>
                  <a:lnTo>
                    <a:pt x="2474" y="3165925"/>
                  </a:lnTo>
                  <a:lnTo>
                    <a:pt x="9223" y="3175936"/>
                  </a:lnTo>
                  <a:lnTo>
                    <a:pt x="19234" y="3182685"/>
                  </a:lnTo>
                  <a:lnTo>
                    <a:pt x="31496" y="3185160"/>
                  </a:lnTo>
                  <a:lnTo>
                    <a:pt x="3112516" y="3185160"/>
                  </a:lnTo>
                  <a:lnTo>
                    <a:pt x="3124777" y="3182685"/>
                  </a:lnTo>
                  <a:lnTo>
                    <a:pt x="3134788" y="3175936"/>
                  </a:lnTo>
                  <a:lnTo>
                    <a:pt x="3141537" y="3165925"/>
                  </a:lnTo>
                  <a:lnTo>
                    <a:pt x="3144012" y="3153664"/>
                  </a:lnTo>
                  <a:lnTo>
                    <a:pt x="3144012" y="31496"/>
                  </a:lnTo>
                  <a:lnTo>
                    <a:pt x="3141537" y="19234"/>
                  </a:lnTo>
                  <a:lnTo>
                    <a:pt x="3134788" y="9223"/>
                  </a:lnTo>
                  <a:lnTo>
                    <a:pt x="3124777" y="2474"/>
                  </a:lnTo>
                  <a:lnTo>
                    <a:pt x="3112516" y="0"/>
                  </a:lnTo>
                  <a:close/>
                </a:path>
              </a:pathLst>
            </a:custGeom>
            <a:solidFill>
              <a:srgbClr val="F8F8F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074414" y="2602229"/>
              <a:ext cx="3144520" cy="3185160"/>
            </a:xfrm>
            <a:custGeom>
              <a:avLst/>
              <a:gdLst/>
              <a:ahLst/>
              <a:cxnLst/>
              <a:rect l="l" t="t" r="r" b="b"/>
              <a:pathLst>
                <a:path w="3144520" h="3185160">
                  <a:moveTo>
                    <a:pt x="0" y="31496"/>
                  </a:moveTo>
                  <a:lnTo>
                    <a:pt x="2474" y="19234"/>
                  </a:lnTo>
                  <a:lnTo>
                    <a:pt x="9223" y="9223"/>
                  </a:lnTo>
                  <a:lnTo>
                    <a:pt x="19234" y="2474"/>
                  </a:lnTo>
                  <a:lnTo>
                    <a:pt x="31496" y="0"/>
                  </a:lnTo>
                  <a:lnTo>
                    <a:pt x="3112516" y="0"/>
                  </a:lnTo>
                  <a:lnTo>
                    <a:pt x="3124777" y="2474"/>
                  </a:lnTo>
                  <a:lnTo>
                    <a:pt x="3134788" y="9223"/>
                  </a:lnTo>
                  <a:lnTo>
                    <a:pt x="3141537" y="19234"/>
                  </a:lnTo>
                  <a:lnTo>
                    <a:pt x="3144012" y="31496"/>
                  </a:lnTo>
                  <a:lnTo>
                    <a:pt x="3144012" y="3153664"/>
                  </a:lnTo>
                  <a:lnTo>
                    <a:pt x="3141537" y="3165925"/>
                  </a:lnTo>
                  <a:lnTo>
                    <a:pt x="3134788" y="3175936"/>
                  </a:lnTo>
                  <a:lnTo>
                    <a:pt x="3124777" y="3182685"/>
                  </a:lnTo>
                  <a:lnTo>
                    <a:pt x="3112516" y="3185160"/>
                  </a:lnTo>
                  <a:lnTo>
                    <a:pt x="31496" y="3185160"/>
                  </a:lnTo>
                  <a:lnTo>
                    <a:pt x="19234" y="3182685"/>
                  </a:lnTo>
                  <a:lnTo>
                    <a:pt x="9223" y="3175936"/>
                  </a:lnTo>
                  <a:lnTo>
                    <a:pt x="2474" y="3165925"/>
                  </a:lnTo>
                  <a:lnTo>
                    <a:pt x="0" y="3153664"/>
                  </a:lnTo>
                  <a:lnTo>
                    <a:pt x="0" y="31496"/>
                  </a:lnTo>
                  <a:close/>
                </a:path>
              </a:pathLst>
            </a:custGeom>
            <a:ln w="22860">
              <a:solidFill>
                <a:srgbClr val="D2D1C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4295013" y="2810331"/>
            <a:ext cx="2541905" cy="17653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50" spc="70" dirty="0">
                <a:solidFill>
                  <a:srgbClr val="161612"/>
                </a:solidFill>
                <a:latin typeface="Tahoma"/>
                <a:cs typeface="Tahoma"/>
              </a:rPr>
              <a:t>No</a:t>
            </a:r>
            <a:r>
              <a:rPr sz="2050" spc="-95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2050" spc="65" dirty="0">
                <a:solidFill>
                  <a:srgbClr val="161612"/>
                </a:solidFill>
                <a:latin typeface="Tahoma"/>
                <a:cs typeface="Tahoma"/>
              </a:rPr>
              <a:t>vendor</a:t>
            </a:r>
            <a:r>
              <a:rPr sz="2050" spc="-75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2050" spc="120" dirty="0">
                <a:solidFill>
                  <a:srgbClr val="161612"/>
                </a:solidFill>
                <a:latin typeface="Tahoma"/>
                <a:cs typeface="Tahoma"/>
              </a:rPr>
              <a:t>self-</a:t>
            </a:r>
            <a:r>
              <a:rPr sz="2050" spc="-20" dirty="0">
                <a:solidFill>
                  <a:srgbClr val="161612"/>
                </a:solidFill>
                <a:latin typeface="Tahoma"/>
                <a:cs typeface="Tahoma"/>
              </a:rPr>
              <a:t>login</a:t>
            </a:r>
            <a:endParaRPr sz="2050">
              <a:latin typeface="Tahoma"/>
              <a:cs typeface="Tahoma"/>
            </a:endParaRPr>
          </a:p>
          <a:p>
            <a:pPr marL="12700" marR="5080">
              <a:lnSpc>
                <a:spcPct val="131300"/>
              </a:lnSpc>
              <a:spcBef>
                <a:spcPts val="825"/>
              </a:spcBef>
            </a:pPr>
            <a:r>
              <a:rPr sz="1650" spc="90" dirty="0">
                <a:solidFill>
                  <a:srgbClr val="161612"/>
                </a:solidFill>
                <a:latin typeface="Tahoma"/>
                <a:cs typeface="Tahoma"/>
              </a:rPr>
              <a:t>Vendors</a:t>
            </a:r>
            <a:r>
              <a:rPr sz="1650" spc="-65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1650" spc="80" dirty="0">
                <a:solidFill>
                  <a:srgbClr val="161612"/>
                </a:solidFill>
                <a:latin typeface="Tahoma"/>
                <a:cs typeface="Tahoma"/>
              </a:rPr>
              <a:t>lack</a:t>
            </a:r>
            <a:r>
              <a:rPr sz="1650" spc="-45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1650" spc="60" dirty="0">
                <a:solidFill>
                  <a:srgbClr val="161612"/>
                </a:solidFill>
                <a:latin typeface="Tahoma"/>
                <a:cs typeface="Tahoma"/>
              </a:rPr>
              <a:t>a</a:t>
            </a:r>
            <a:r>
              <a:rPr sz="1650" spc="-60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1650" spc="65" dirty="0">
                <a:solidFill>
                  <a:srgbClr val="161612"/>
                </a:solidFill>
                <a:latin typeface="Tahoma"/>
                <a:cs typeface="Tahoma"/>
              </a:rPr>
              <a:t>dedicated </a:t>
            </a:r>
            <a:r>
              <a:rPr sz="1650" dirty="0">
                <a:solidFill>
                  <a:srgbClr val="161612"/>
                </a:solidFill>
                <a:latin typeface="Tahoma"/>
                <a:cs typeface="Tahoma"/>
              </a:rPr>
              <a:t>portal</a:t>
            </a:r>
            <a:r>
              <a:rPr sz="1650" spc="90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1650" spc="150" dirty="0">
                <a:solidFill>
                  <a:srgbClr val="161612"/>
                </a:solidFill>
                <a:latin typeface="Tahoma"/>
                <a:cs typeface="Tahoma"/>
              </a:rPr>
              <a:t>—</a:t>
            </a:r>
            <a:r>
              <a:rPr sz="1650" spc="120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1650" dirty="0">
                <a:solidFill>
                  <a:srgbClr val="161612"/>
                </a:solidFill>
                <a:latin typeface="Tahoma"/>
                <a:cs typeface="Tahoma"/>
              </a:rPr>
              <a:t>limits</a:t>
            </a:r>
            <a:r>
              <a:rPr sz="1650" spc="125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1650" spc="60" dirty="0">
                <a:solidFill>
                  <a:srgbClr val="161612"/>
                </a:solidFill>
                <a:latin typeface="Tahoma"/>
                <a:cs typeface="Tahoma"/>
              </a:rPr>
              <a:t>supplier- driven</a:t>
            </a:r>
            <a:r>
              <a:rPr sz="1650" spc="-45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1650" spc="65" dirty="0">
                <a:solidFill>
                  <a:srgbClr val="161612"/>
                </a:solidFill>
                <a:latin typeface="Tahoma"/>
                <a:cs typeface="Tahoma"/>
              </a:rPr>
              <a:t>updates</a:t>
            </a:r>
            <a:r>
              <a:rPr sz="1650" spc="-45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1650" spc="65" dirty="0">
                <a:solidFill>
                  <a:srgbClr val="161612"/>
                </a:solidFill>
                <a:latin typeface="Tahoma"/>
                <a:cs typeface="Tahoma"/>
              </a:rPr>
              <a:t>and</a:t>
            </a:r>
            <a:r>
              <a:rPr sz="1650" spc="-45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1650" spc="85" dirty="0">
                <a:solidFill>
                  <a:srgbClr val="161612"/>
                </a:solidFill>
                <a:latin typeface="Tahoma"/>
                <a:cs typeface="Tahoma"/>
              </a:rPr>
              <a:t>self- </a:t>
            </a:r>
            <a:r>
              <a:rPr sz="1650" spc="60" dirty="0">
                <a:solidFill>
                  <a:srgbClr val="161612"/>
                </a:solidFill>
                <a:latin typeface="Tahoma"/>
                <a:cs typeface="Tahoma"/>
              </a:rPr>
              <a:t>service.</a:t>
            </a:r>
            <a:endParaRPr sz="1650">
              <a:latin typeface="Tahoma"/>
              <a:cs typeface="Tahoma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7402068" y="2590800"/>
            <a:ext cx="3167380" cy="3208020"/>
            <a:chOff x="7402068" y="2590800"/>
            <a:chExt cx="3167380" cy="3208020"/>
          </a:xfrm>
        </p:grpSpPr>
        <p:sp>
          <p:nvSpPr>
            <p:cNvPr id="14" name="object 14"/>
            <p:cNvSpPr/>
            <p:nvPr/>
          </p:nvSpPr>
          <p:spPr>
            <a:xfrm>
              <a:off x="7413498" y="2602229"/>
              <a:ext cx="3144520" cy="3185160"/>
            </a:xfrm>
            <a:custGeom>
              <a:avLst/>
              <a:gdLst/>
              <a:ahLst/>
              <a:cxnLst/>
              <a:rect l="l" t="t" r="r" b="b"/>
              <a:pathLst>
                <a:path w="3144520" h="3185160">
                  <a:moveTo>
                    <a:pt x="3112516" y="0"/>
                  </a:moveTo>
                  <a:lnTo>
                    <a:pt x="31496" y="0"/>
                  </a:lnTo>
                  <a:lnTo>
                    <a:pt x="19234" y="2474"/>
                  </a:lnTo>
                  <a:lnTo>
                    <a:pt x="9223" y="9223"/>
                  </a:lnTo>
                  <a:lnTo>
                    <a:pt x="2474" y="19234"/>
                  </a:lnTo>
                  <a:lnTo>
                    <a:pt x="0" y="31496"/>
                  </a:lnTo>
                  <a:lnTo>
                    <a:pt x="0" y="3153664"/>
                  </a:lnTo>
                  <a:lnTo>
                    <a:pt x="2474" y="3165925"/>
                  </a:lnTo>
                  <a:lnTo>
                    <a:pt x="9223" y="3175936"/>
                  </a:lnTo>
                  <a:lnTo>
                    <a:pt x="19234" y="3182685"/>
                  </a:lnTo>
                  <a:lnTo>
                    <a:pt x="31496" y="3185160"/>
                  </a:lnTo>
                  <a:lnTo>
                    <a:pt x="3112516" y="3185160"/>
                  </a:lnTo>
                  <a:lnTo>
                    <a:pt x="3124777" y="3182685"/>
                  </a:lnTo>
                  <a:lnTo>
                    <a:pt x="3134788" y="3175936"/>
                  </a:lnTo>
                  <a:lnTo>
                    <a:pt x="3141537" y="3165925"/>
                  </a:lnTo>
                  <a:lnTo>
                    <a:pt x="3144011" y="3153664"/>
                  </a:lnTo>
                  <a:lnTo>
                    <a:pt x="3144011" y="31496"/>
                  </a:lnTo>
                  <a:lnTo>
                    <a:pt x="3141537" y="19234"/>
                  </a:lnTo>
                  <a:lnTo>
                    <a:pt x="3134788" y="9223"/>
                  </a:lnTo>
                  <a:lnTo>
                    <a:pt x="3124777" y="2474"/>
                  </a:lnTo>
                  <a:lnTo>
                    <a:pt x="3112516" y="0"/>
                  </a:lnTo>
                  <a:close/>
                </a:path>
              </a:pathLst>
            </a:custGeom>
            <a:solidFill>
              <a:srgbClr val="F8F8F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7413498" y="2602229"/>
              <a:ext cx="3144520" cy="3185160"/>
            </a:xfrm>
            <a:custGeom>
              <a:avLst/>
              <a:gdLst/>
              <a:ahLst/>
              <a:cxnLst/>
              <a:rect l="l" t="t" r="r" b="b"/>
              <a:pathLst>
                <a:path w="3144520" h="3185160">
                  <a:moveTo>
                    <a:pt x="0" y="31496"/>
                  </a:moveTo>
                  <a:lnTo>
                    <a:pt x="2474" y="19234"/>
                  </a:lnTo>
                  <a:lnTo>
                    <a:pt x="9223" y="9223"/>
                  </a:lnTo>
                  <a:lnTo>
                    <a:pt x="19234" y="2474"/>
                  </a:lnTo>
                  <a:lnTo>
                    <a:pt x="31496" y="0"/>
                  </a:lnTo>
                  <a:lnTo>
                    <a:pt x="3112516" y="0"/>
                  </a:lnTo>
                  <a:lnTo>
                    <a:pt x="3124777" y="2474"/>
                  </a:lnTo>
                  <a:lnTo>
                    <a:pt x="3134788" y="9223"/>
                  </a:lnTo>
                  <a:lnTo>
                    <a:pt x="3141537" y="19234"/>
                  </a:lnTo>
                  <a:lnTo>
                    <a:pt x="3144011" y="31496"/>
                  </a:lnTo>
                  <a:lnTo>
                    <a:pt x="3144011" y="3153664"/>
                  </a:lnTo>
                  <a:lnTo>
                    <a:pt x="3141537" y="3165925"/>
                  </a:lnTo>
                  <a:lnTo>
                    <a:pt x="3134788" y="3175936"/>
                  </a:lnTo>
                  <a:lnTo>
                    <a:pt x="3124777" y="3182685"/>
                  </a:lnTo>
                  <a:lnTo>
                    <a:pt x="3112516" y="3185160"/>
                  </a:lnTo>
                  <a:lnTo>
                    <a:pt x="31496" y="3185160"/>
                  </a:lnTo>
                  <a:lnTo>
                    <a:pt x="19234" y="3182685"/>
                  </a:lnTo>
                  <a:lnTo>
                    <a:pt x="9223" y="3175936"/>
                  </a:lnTo>
                  <a:lnTo>
                    <a:pt x="2474" y="3165925"/>
                  </a:lnTo>
                  <a:lnTo>
                    <a:pt x="0" y="3153664"/>
                  </a:lnTo>
                  <a:lnTo>
                    <a:pt x="0" y="31496"/>
                  </a:lnTo>
                  <a:close/>
                </a:path>
              </a:pathLst>
            </a:custGeom>
            <a:ln w="22860">
              <a:solidFill>
                <a:srgbClr val="D2D1C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7633843" y="2793532"/>
            <a:ext cx="2671445" cy="2110740"/>
          </a:xfrm>
          <a:prstGeom prst="rect">
            <a:avLst/>
          </a:prstGeom>
        </p:spPr>
        <p:txBody>
          <a:bodyPr vert="horz" wrap="square" lIns="0" tIns="298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35"/>
              </a:spcBef>
            </a:pPr>
            <a:r>
              <a:rPr sz="2050" spc="70" dirty="0">
                <a:solidFill>
                  <a:srgbClr val="161612"/>
                </a:solidFill>
                <a:latin typeface="Tahoma"/>
                <a:cs typeface="Tahoma"/>
              </a:rPr>
              <a:t>No</a:t>
            </a:r>
            <a:r>
              <a:rPr sz="2050" spc="-90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2050" spc="50" dirty="0">
                <a:solidFill>
                  <a:srgbClr val="161612"/>
                </a:solidFill>
                <a:latin typeface="Tahoma"/>
                <a:cs typeface="Tahoma"/>
              </a:rPr>
              <a:t>native</a:t>
            </a:r>
            <a:r>
              <a:rPr sz="2050" spc="-105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2050" spc="60" dirty="0">
                <a:solidFill>
                  <a:srgbClr val="161612"/>
                </a:solidFill>
                <a:latin typeface="Tahoma"/>
                <a:cs typeface="Tahoma"/>
              </a:rPr>
              <a:t>mobile</a:t>
            </a:r>
            <a:endParaRPr sz="20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2050" spc="85" dirty="0">
                <a:solidFill>
                  <a:srgbClr val="161612"/>
                </a:solidFill>
                <a:latin typeface="Tahoma"/>
                <a:cs typeface="Tahoma"/>
              </a:rPr>
              <a:t>apps</a:t>
            </a:r>
            <a:endParaRPr sz="2050">
              <a:latin typeface="Tahoma"/>
              <a:cs typeface="Tahoma"/>
            </a:endParaRPr>
          </a:p>
          <a:p>
            <a:pPr marL="12700" marR="5080">
              <a:lnSpc>
                <a:spcPct val="131300"/>
              </a:lnSpc>
              <a:spcBef>
                <a:spcPts val="825"/>
              </a:spcBef>
            </a:pPr>
            <a:r>
              <a:rPr sz="1650" spc="85" dirty="0">
                <a:solidFill>
                  <a:srgbClr val="161612"/>
                </a:solidFill>
                <a:latin typeface="Tahoma"/>
                <a:cs typeface="Tahoma"/>
              </a:rPr>
              <a:t>Mobile</a:t>
            </a:r>
            <a:r>
              <a:rPr sz="1650" spc="-65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1650" spc="130" dirty="0">
                <a:solidFill>
                  <a:srgbClr val="161612"/>
                </a:solidFill>
                <a:latin typeface="Tahoma"/>
                <a:cs typeface="Tahoma"/>
              </a:rPr>
              <a:t>access</a:t>
            </a:r>
            <a:r>
              <a:rPr sz="1650" spc="-65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1650" spc="35" dirty="0">
                <a:solidFill>
                  <a:srgbClr val="161612"/>
                </a:solidFill>
                <a:latin typeface="Tahoma"/>
                <a:cs typeface="Tahoma"/>
              </a:rPr>
              <a:t>via </a:t>
            </a:r>
            <a:r>
              <a:rPr sz="1650" spc="80" dirty="0">
                <a:solidFill>
                  <a:srgbClr val="161612"/>
                </a:solidFill>
                <a:latin typeface="Tahoma"/>
                <a:cs typeface="Tahoma"/>
              </a:rPr>
              <a:t>responsive</a:t>
            </a:r>
            <a:r>
              <a:rPr sz="1650" spc="-65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1650" spc="105" dirty="0">
                <a:solidFill>
                  <a:srgbClr val="161612"/>
                </a:solidFill>
                <a:latin typeface="Tahoma"/>
                <a:cs typeface="Tahoma"/>
              </a:rPr>
              <a:t>web</a:t>
            </a:r>
            <a:r>
              <a:rPr sz="1650" spc="-45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1650" spc="-10" dirty="0">
                <a:solidFill>
                  <a:srgbClr val="161612"/>
                </a:solidFill>
                <a:latin typeface="Tahoma"/>
                <a:cs typeface="Tahoma"/>
              </a:rPr>
              <a:t>only; </a:t>
            </a:r>
            <a:r>
              <a:rPr sz="1650" spc="55" dirty="0">
                <a:solidFill>
                  <a:srgbClr val="161612"/>
                </a:solidFill>
                <a:latin typeface="Tahoma"/>
                <a:cs typeface="Tahoma"/>
              </a:rPr>
              <a:t>offline</a:t>
            </a:r>
            <a:r>
              <a:rPr sz="1650" spc="30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1650" spc="65" dirty="0">
                <a:solidFill>
                  <a:srgbClr val="161612"/>
                </a:solidFill>
                <a:latin typeface="Tahoma"/>
                <a:cs typeface="Tahoma"/>
              </a:rPr>
              <a:t>and</a:t>
            </a:r>
            <a:r>
              <a:rPr sz="1650" spc="35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1650" dirty="0">
                <a:solidFill>
                  <a:srgbClr val="161612"/>
                </a:solidFill>
                <a:latin typeface="Tahoma"/>
                <a:cs typeface="Tahoma"/>
              </a:rPr>
              <a:t>native</a:t>
            </a:r>
            <a:r>
              <a:rPr sz="1650" spc="30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1650" spc="55" dirty="0">
                <a:solidFill>
                  <a:srgbClr val="161612"/>
                </a:solidFill>
                <a:latin typeface="Tahoma"/>
                <a:cs typeface="Tahoma"/>
              </a:rPr>
              <a:t>push </a:t>
            </a:r>
            <a:r>
              <a:rPr sz="1650" spc="85" dirty="0">
                <a:solidFill>
                  <a:srgbClr val="161612"/>
                </a:solidFill>
                <a:latin typeface="Tahoma"/>
                <a:cs typeface="Tahoma"/>
              </a:rPr>
              <a:t>workflows</a:t>
            </a:r>
            <a:r>
              <a:rPr sz="1650" spc="-85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1650" spc="55" dirty="0">
                <a:solidFill>
                  <a:srgbClr val="161612"/>
                </a:solidFill>
                <a:latin typeface="Tahoma"/>
                <a:cs typeface="Tahoma"/>
              </a:rPr>
              <a:t>are</a:t>
            </a:r>
            <a:r>
              <a:rPr sz="1650" spc="-35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1650" spc="-10" dirty="0">
                <a:solidFill>
                  <a:srgbClr val="161612"/>
                </a:solidFill>
                <a:latin typeface="Tahoma"/>
                <a:cs typeface="Tahoma"/>
              </a:rPr>
              <a:t>unavailable.</a:t>
            </a:r>
            <a:endParaRPr sz="1650">
              <a:latin typeface="Tahoma"/>
              <a:cs typeface="Tahoma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10739628" y="2590800"/>
            <a:ext cx="3167380" cy="3208020"/>
            <a:chOff x="10739628" y="2590800"/>
            <a:chExt cx="3167380" cy="3208020"/>
          </a:xfrm>
        </p:grpSpPr>
        <p:sp>
          <p:nvSpPr>
            <p:cNvPr id="18" name="object 18"/>
            <p:cNvSpPr/>
            <p:nvPr/>
          </p:nvSpPr>
          <p:spPr>
            <a:xfrm>
              <a:off x="10751058" y="2602229"/>
              <a:ext cx="3144520" cy="3185160"/>
            </a:xfrm>
            <a:custGeom>
              <a:avLst/>
              <a:gdLst/>
              <a:ahLst/>
              <a:cxnLst/>
              <a:rect l="l" t="t" r="r" b="b"/>
              <a:pathLst>
                <a:path w="3144519" h="3185160">
                  <a:moveTo>
                    <a:pt x="3112515" y="0"/>
                  </a:moveTo>
                  <a:lnTo>
                    <a:pt x="31496" y="0"/>
                  </a:lnTo>
                  <a:lnTo>
                    <a:pt x="19234" y="2474"/>
                  </a:lnTo>
                  <a:lnTo>
                    <a:pt x="9223" y="9223"/>
                  </a:lnTo>
                  <a:lnTo>
                    <a:pt x="2474" y="19234"/>
                  </a:lnTo>
                  <a:lnTo>
                    <a:pt x="0" y="31496"/>
                  </a:lnTo>
                  <a:lnTo>
                    <a:pt x="0" y="3153664"/>
                  </a:lnTo>
                  <a:lnTo>
                    <a:pt x="2474" y="3165925"/>
                  </a:lnTo>
                  <a:lnTo>
                    <a:pt x="9223" y="3175936"/>
                  </a:lnTo>
                  <a:lnTo>
                    <a:pt x="19234" y="3182685"/>
                  </a:lnTo>
                  <a:lnTo>
                    <a:pt x="31496" y="3185160"/>
                  </a:lnTo>
                  <a:lnTo>
                    <a:pt x="3112515" y="3185160"/>
                  </a:lnTo>
                  <a:lnTo>
                    <a:pt x="3124777" y="3182685"/>
                  </a:lnTo>
                  <a:lnTo>
                    <a:pt x="3134788" y="3175936"/>
                  </a:lnTo>
                  <a:lnTo>
                    <a:pt x="3141537" y="3165925"/>
                  </a:lnTo>
                  <a:lnTo>
                    <a:pt x="3144011" y="3153664"/>
                  </a:lnTo>
                  <a:lnTo>
                    <a:pt x="3144011" y="31496"/>
                  </a:lnTo>
                  <a:lnTo>
                    <a:pt x="3141537" y="19234"/>
                  </a:lnTo>
                  <a:lnTo>
                    <a:pt x="3134788" y="9223"/>
                  </a:lnTo>
                  <a:lnTo>
                    <a:pt x="3124777" y="2474"/>
                  </a:lnTo>
                  <a:lnTo>
                    <a:pt x="3112515" y="0"/>
                  </a:lnTo>
                  <a:close/>
                </a:path>
              </a:pathLst>
            </a:custGeom>
            <a:solidFill>
              <a:srgbClr val="F8F8F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10751058" y="2602229"/>
              <a:ext cx="3144520" cy="3185160"/>
            </a:xfrm>
            <a:custGeom>
              <a:avLst/>
              <a:gdLst/>
              <a:ahLst/>
              <a:cxnLst/>
              <a:rect l="l" t="t" r="r" b="b"/>
              <a:pathLst>
                <a:path w="3144519" h="3185160">
                  <a:moveTo>
                    <a:pt x="0" y="31496"/>
                  </a:moveTo>
                  <a:lnTo>
                    <a:pt x="2474" y="19234"/>
                  </a:lnTo>
                  <a:lnTo>
                    <a:pt x="9223" y="9223"/>
                  </a:lnTo>
                  <a:lnTo>
                    <a:pt x="19234" y="2474"/>
                  </a:lnTo>
                  <a:lnTo>
                    <a:pt x="31496" y="0"/>
                  </a:lnTo>
                  <a:lnTo>
                    <a:pt x="3112515" y="0"/>
                  </a:lnTo>
                  <a:lnTo>
                    <a:pt x="3124777" y="2474"/>
                  </a:lnTo>
                  <a:lnTo>
                    <a:pt x="3134788" y="9223"/>
                  </a:lnTo>
                  <a:lnTo>
                    <a:pt x="3141537" y="19234"/>
                  </a:lnTo>
                  <a:lnTo>
                    <a:pt x="3144011" y="31496"/>
                  </a:lnTo>
                  <a:lnTo>
                    <a:pt x="3144011" y="3153664"/>
                  </a:lnTo>
                  <a:lnTo>
                    <a:pt x="3141537" y="3165925"/>
                  </a:lnTo>
                  <a:lnTo>
                    <a:pt x="3134788" y="3175936"/>
                  </a:lnTo>
                  <a:lnTo>
                    <a:pt x="3124777" y="3182685"/>
                  </a:lnTo>
                  <a:lnTo>
                    <a:pt x="3112515" y="3185160"/>
                  </a:lnTo>
                  <a:lnTo>
                    <a:pt x="31496" y="3185160"/>
                  </a:lnTo>
                  <a:lnTo>
                    <a:pt x="19234" y="3182685"/>
                  </a:lnTo>
                  <a:lnTo>
                    <a:pt x="9223" y="3175936"/>
                  </a:lnTo>
                  <a:lnTo>
                    <a:pt x="2474" y="3165925"/>
                  </a:lnTo>
                  <a:lnTo>
                    <a:pt x="0" y="3153664"/>
                  </a:lnTo>
                  <a:lnTo>
                    <a:pt x="0" y="31496"/>
                  </a:lnTo>
                  <a:close/>
                </a:path>
              </a:pathLst>
            </a:custGeom>
            <a:ln w="22860">
              <a:solidFill>
                <a:srgbClr val="D2D1C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10972545" y="2810331"/>
            <a:ext cx="2533015" cy="2094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50" dirty="0">
                <a:solidFill>
                  <a:srgbClr val="161612"/>
                </a:solidFill>
                <a:latin typeface="Tahoma"/>
                <a:cs typeface="Tahoma"/>
              </a:rPr>
              <a:t>Single</a:t>
            </a:r>
            <a:r>
              <a:rPr sz="2050" spc="25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2050" dirty="0">
                <a:solidFill>
                  <a:srgbClr val="161612"/>
                </a:solidFill>
                <a:latin typeface="Tahoma"/>
                <a:cs typeface="Tahoma"/>
              </a:rPr>
              <a:t>DB </a:t>
            </a:r>
            <a:r>
              <a:rPr sz="2050" spc="75" dirty="0">
                <a:solidFill>
                  <a:srgbClr val="161612"/>
                </a:solidFill>
                <a:latin typeface="Tahoma"/>
                <a:cs typeface="Tahoma"/>
              </a:rPr>
              <a:t>instance</a:t>
            </a:r>
            <a:endParaRPr sz="2050">
              <a:latin typeface="Tahoma"/>
              <a:cs typeface="Tahoma"/>
            </a:endParaRPr>
          </a:p>
          <a:p>
            <a:pPr marL="12700" marR="5080">
              <a:lnSpc>
                <a:spcPct val="131200"/>
              </a:lnSpc>
              <a:spcBef>
                <a:spcPts val="830"/>
              </a:spcBef>
            </a:pPr>
            <a:r>
              <a:rPr sz="1650" spc="120" dirty="0">
                <a:solidFill>
                  <a:srgbClr val="161612"/>
                </a:solidFill>
                <a:latin typeface="Tahoma"/>
                <a:cs typeface="Tahoma"/>
              </a:rPr>
              <a:t>No</a:t>
            </a:r>
            <a:r>
              <a:rPr sz="1650" spc="10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1650" spc="60" dirty="0">
                <a:solidFill>
                  <a:srgbClr val="161612"/>
                </a:solidFill>
                <a:latin typeface="Tahoma"/>
                <a:cs typeface="Tahoma"/>
              </a:rPr>
              <a:t>sharding</a:t>
            </a:r>
            <a:r>
              <a:rPr sz="1650" spc="25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1650" spc="50" dirty="0">
                <a:solidFill>
                  <a:srgbClr val="161612"/>
                </a:solidFill>
                <a:latin typeface="Tahoma"/>
                <a:cs typeface="Tahoma"/>
              </a:rPr>
              <a:t>or</a:t>
            </a:r>
            <a:r>
              <a:rPr sz="1650" spc="30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1650" dirty="0">
                <a:solidFill>
                  <a:srgbClr val="161612"/>
                </a:solidFill>
                <a:latin typeface="Tahoma"/>
                <a:cs typeface="Tahoma"/>
              </a:rPr>
              <a:t>multi-</a:t>
            </a:r>
            <a:r>
              <a:rPr sz="1650" spc="65" dirty="0">
                <a:solidFill>
                  <a:srgbClr val="161612"/>
                </a:solidFill>
                <a:latin typeface="Tahoma"/>
                <a:cs typeface="Tahoma"/>
              </a:rPr>
              <a:t>db </a:t>
            </a:r>
            <a:r>
              <a:rPr sz="1650" spc="10" dirty="0">
                <a:solidFill>
                  <a:srgbClr val="161612"/>
                </a:solidFill>
                <a:latin typeface="Tahoma"/>
                <a:cs typeface="Tahoma"/>
              </a:rPr>
              <a:t>partitioning</a:t>
            </a:r>
            <a:r>
              <a:rPr sz="1650" spc="105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1650" spc="150" dirty="0">
                <a:solidFill>
                  <a:srgbClr val="161612"/>
                </a:solidFill>
                <a:latin typeface="Tahoma"/>
                <a:cs typeface="Tahoma"/>
              </a:rPr>
              <a:t>—</a:t>
            </a:r>
            <a:r>
              <a:rPr sz="1650" spc="110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1650" spc="-10" dirty="0">
                <a:solidFill>
                  <a:srgbClr val="161612"/>
                </a:solidFill>
                <a:latin typeface="Tahoma"/>
                <a:cs typeface="Tahoma"/>
              </a:rPr>
              <a:t>potential </a:t>
            </a:r>
            <a:r>
              <a:rPr sz="1650" spc="55" dirty="0">
                <a:solidFill>
                  <a:srgbClr val="161612"/>
                </a:solidFill>
                <a:latin typeface="Tahoma"/>
                <a:cs typeface="Tahoma"/>
              </a:rPr>
              <a:t>scalability</a:t>
            </a:r>
            <a:r>
              <a:rPr sz="1650" spc="-40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1650" spc="65" dirty="0">
                <a:solidFill>
                  <a:srgbClr val="161612"/>
                </a:solidFill>
                <a:latin typeface="Tahoma"/>
                <a:cs typeface="Tahoma"/>
              </a:rPr>
              <a:t>and</a:t>
            </a:r>
            <a:r>
              <a:rPr sz="1650" spc="-40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1650" spc="-10" dirty="0">
                <a:solidFill>
                  <a:srgbClr val="161612"/>
                </a:solidFill>
                <a:latin typeface="Tahoma"/>
                <a:cs typeface="Tahoma"/>
              </a:rPr>
              <a:t>availability </a:t>
            </a:r>
            <a:r>
              <a:rPr sz="1650" spc="60" dirty="0">
                <a:solidFill>
                  <a:srgbClr val="161612"/>
                </a:solidFill>
                <a:latin typeface="Tahoma"/>
                <a:cs typeface="Tahoma"/>
              </a:rPr>
              <a:t>constraints</a:t>
            </a:r>
            <a:r>
              <a:rPr sz="1650" spc="-70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1650" spc="60" dirty="0">
                <a:solidFill>
                  <a:srgbClr val="161612"/>
                </a:solidFill>
                <a:latin typeface="Tahoma"/>
                <a:cs typeface="Tahoma"/>
              </a:rPr>
              <a:t>for</a:t>
            </a:r>
            <a:r>
              <a:rPr sz="1650" spc="-35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1650" spc="75" dirty="0">
                <a:solidFill>
                  <a:srgbClr val="161612"/>
                </a:solidFill>
                <a:latin typeface="Tahoma"/>
                <a:cs typeface="Tahoma"/>
              </a:rPr>
              <a:t>very</a:t>
            </a:r>
            <a:r>
              <a:rPr sz="1650" spc="-45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1650" spc="45" dirty="0">
                <a:solidFill>
                  <a:srgbClr val="161612"/>
                </a:solidFill>
                <a:latin typeface="Tahoma"/>
                <a:cs typeface="Tahoma"/>
              </a:rPr>
              <a:t>large enterprises.</a:t>
            </a:r>
            <a:endParaRPr sz="1650">
              <a:latin typeface="Tahoma"/>
              <a:cs typeface="Tahoma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725423" y="5981700"/>
            <a:ext cx="13181330" cy="1259205"/>
            <a:chOff x="725423" y="5981700"/>
            <a:chExt cx="13181330" cy="1259205"/>
          </a:xfrm>
        </p:grpSpPr>
        <p:sp>
          <p:nvSpPr>
            <p:cNvPr id="22" name="object 22"/>
            <p:cNvSpPr/>
            <p:nvPr/>
          </p:nvSpPr>
          <p:spPr>
            <a:xfrm>
              <a:off x="736853" y="5993129"/>
              <a:ext cx="13158469" cy="1236345"/>
            </a:xfrm>
            <a:custGeom>
              <a:avLst/>
              <a:gdLst/>
              <a:ahLst/>
              <a:cxnLst/>
              <a:rect l="l" t="t" r="r" b="b"/>
              <a:pathLst>
                <a:path w="13158469" h="1236345">
                  <a:moveTo>
                    <a:pt x="13126719" y="0"/>
                  </a:moveTo>
                  <a:lnTo>
                    <a:pt x="31546" y="0"/>
                  </a:lnTo>
                  <a:lnTo>
                    <a:pt x="19266" y="2474"/>
                  </a:lnTo>
                  <a:lnTo>
                    <a:pt x="9239" y="9223"/>
                  </a:lnTo>
                  <a:lnTo>
                    <a:pt x="2478" y="19234"/>
                  </a:lnTo>
                  <a:lnTo>
                    <a:pt x="0" y="31496"/>
                  </a:lnTo>
                  <a:lnTo>
                    <a:pt x="0" y="1204417"/>
                  </a:lnTo>
                  <a:lnTo>
                    <a:pt x="2478" y="1216697"/>
                  </a:lnTo>
                  <a:lnTo>
                    <a:pt x="9239" y="1226724"/>
                  </a:lnTo>
                  <a:lnTo>
                    <a:pt x="19266" y="1233485"/>
                  </a:lnTo>
                  <a:lnTo>
                    <a:pt x="31546" y="1235964"/>
                  </a:lnTo>
                  <a:lnTo>
                    <a:pt x="13126719" y="1235964"/>
                  </a:lnTo>
                  <a:lnTo>
                    <a:pt x="13138981" y="1233485"/>
                  </a:lnTo>
                  <a:lnTo>
                    <a:pt x="13148992" y="1226724"/>
                  </a:lnTo>
                  <a:lnTo>
                    <a:pt x="13155741" y="1216697"/>
                  </a:lnTo>
                  <a:lnTo>
                    <a:pt x="13158216" y="1204417"/>
                  </a:lnTo>
                  <a:lnTo>
                    <a:pt x="13158216" y="31496"/>
                  </a:lnTo>
                  <a:lnTo>
                    <a:pt x="13155741" y="19234"/>
                  </a:lnTo>
                  <a:lnTo>
                    <a:pt x="13148992" y="9223"/>
                  </a:lnTo>
                  <a:lnTo>
                    <a:pt x="13138981" y="2474"/>
                  </a:lnTo>
                  <a:lnTo>
                    <a:pt x="13126719" y="0"/>
                  </a:lnTo>
                  <a:close/>
                </a:path>
              </a:pathLst>
            </a:custGeom>
            <a:solidFill>
              <a:srgbClr val="F8F8F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736853" y="5993129"/>
              <a:ext cx="13158469" cy="1236345"/>
            </a:xfrm>
            <a:custGeom>
              <a:avLst/>
              <a:gdLst/>
              <a:ahLst/>
              <a:cxnLst/>
              <a:rect l="l" t="t" r="r" b="b"/>
              <a:pathLst>
                <a:path w="13158469" h="1236345">
                  <a:moveTo>
                    <a:pt x="0" y="31496"/>
                  </a:moveTo>
                  <a:lnTo>
                    <a:pt x="2478" y="19234"/>
                  </a:lnTo>
                  <a:lnTo>
                    <a:pt x="9239" y="9223"/>
                  </a:lnTo>
                  <a:lnTo>
                    <a:pt x="19266" y="2474"/>
                  </a:lnTo>
                  <a:lnTo>
                    <a:pt x="31546" y="0"/>
                  </a:lnTo>
                  <a:lnTo>
                    <a:pt x="13126719" y="0"/>
                  </a:lnTo>
                  <a:lnTo>
                    <a:pt x="13138981" y="2474"/>
                  </a:lnTo>
                  <a:lnTo>
                    <a:pt x="13148992" y="9223"/>
                  </a:lnTo>
                  <a:lnTo>
                    <a:pt x="13155741" y="19234"/>
                  </a:lnTo>
                  <a:lnTo>
                    <a:pt x="13158216" y="31496"/>
                  </a:lnTo>
                  <a:lnTo>
                    <a:pt x="13158216" y="1204417"/>
                  </a:lnTo>
                  <a:lnTo>
                    <a:pt x="13155741" y="1216697"/>
                  </a:lnTo>
                  <a:lnTo>
                    <a:pt x="13148992" y="1226724"/>
                  </a:lnTo>
                  <a:lnTo>
                    <a:pt x="13138981" y="1233485"/>
                  </a:lnTo>
                  <a:lnTo>
                    <a:pt x="13126719" y="1235964"/>
                  </a:lnTo>
                  <a:lnTo>
                    <a:pt x="31546" y="1235964"/>
                  </a:lnTo>
                  <a:lnTo>
                    <a:pt x="19266" y="1233485"/>
                  </a:lnTo>
                  <a:lnTo>
                    <a:pt x="9239" y="1226724"/>
                  </a:lnTo>
                  <a:lnTo>
                    <a:pt x="2478" y="1216697"/>
                  </a:lnTo>
                  <a:lnTo>
                    <a:pt x="0" y="1204417"/>
                  </a:lnTo>
                  <a:lnTo>
                    <a:pt x="0" y="31496"/>
                  </a:lnTo>
                  <a:close/>
                </a:path>
              </a:pathLst>
            </a:custGeom>
            <a:ln w="22860">
              <a:solidFill>
                <a:srgbClr val="D2D1C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956563" y="6191250"/>
            <a:ext cx="8413115" cy="7740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50" spc="70" dirty="0">
                <a:solidFill>
                  <a:srgbClr val="161612"/>
                </a:solidFill>
                <a:latin typeface="Tahoma"/>
                <a:cs typeface="Tahoma"/>
              </a:rPr>
              <a:t>No</a:t>
            </a:r>
            <a:r>
              <a:rPr sz="2050" spc="25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2050" dirty="0">
                <a:solidFill>
                  <a:srgbClr val="161612"/>
                </a:solidFill>
                <a:latin typeface="Tahoma"/>
                <a:cs typeface="Tahoma"/>
              </a:rPr>
              <a:t>external</a:t>
            </a:r>
            <a:r>
              <a:rPr sz="2050" spc="25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2050" dirty="0">
                <a:solidFill>
                  <a:srgbClr val="161612"/>
                </a:solidFill>
                <a:latin typeface="Tahoma"/>
                <a:cs typeface="Tahoma"/>
              </a:rPr>
              <a:t>ERP</a:t>
            </a:r>
            <a:r>
              <a:rPr sz="2050" spc="25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2050" spc="40" dirty="0">
                <a:solidFill>
                  <a:srgbClr val="161612"/>
                </a:solidFill>
                <a:latin typeface="Tahoma"/>
                <a:cs typeface="Tahoma"/>
              </a:rPr>
              <a:t>integration</a:t>
            </a:r>
            <a:endParaRPr sz="20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450"/>
              </a:spcBef>
            </a:pPr>
            <a:r>
              <a:rPr sz="1650" spc="60" dirty="0">
                <a:solidFill>
                  <a:srgbClr val="161612"/>
                </a:solidFill>
                <a:latin typeface="Tahoma"/>
                <a:cs typeface="Tahoma"/>
              </a:rPr>
              <a:t>Financial</a:t>
            </a:r>
            <a:r>
              <a:rPr sz="1650" spc="-55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1650" spc="65" dirty="0">
                <a:solidFill>
                  <a:srgbClr val="161612"/>
                </a:solidFill>
                <a:latin typeface="Tahoma"/>
                <a:cs typeface="Tahoma"/>
              </a:rPr>
              <a:t>and</a:t>
            </a:r>
            <a:r>
              <a:rPr sz="1650" spc="-55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1650" spc="55" dirty="0">
                <a:solidFill>
                  <a:srgbClr val="161612"/>
                </a:solidFill>
                <a:latin typeface="Tahoma"/>
                <a:cs typeface="Tahoma"/>
              </a:rPr>
              <a:t>inventory</a:t>
            </a:r>
            <a:r>
              <a:rPr sz="1650" spc="-70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1650" spc="114" dirty="0">
                <a:solidFill>
                  <a:srgbClr val="161612"/>
                </a:solidFill>
                <a:latin typeface="Tahoma"/>
                <a:cs typeface="Tahoma"/>
              </a:rPr>
              <a:t>sync</a:t>
            </a:r>
            <a:r>
              <a:rPr sz="1650" spc="-70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1650" spc="50" dirty="0">
                <a:solidFill>
                  <a:srgbClr val="161612"/>
                </a:solidFill>
                <a:latin typeface="Tahoma"/>
                <a:cs typeface="Tahoma"/>
              </a:rPr>
              <a:t>require</a:t>
            </a:r>
            <a:r>
              <a:rPr sz="1650" spc="-45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1650" spc="80" dirty="0">
                <a:solidFill>
                  <a:srgbClr val="161612"/>
                </a:solidFill>
                <a:latin typeface="Tahoma"/>
                <a:cs typeface="Tahoma"/>
              </a:rPr>
              <a:t>connectors</a:t>
            </a:r>
            <a:r>
              <a:rPr sz="1650" spc="-60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1650" spc="60" dirty="0">
                <a:solidFill>
                  <a:srgbClr val="161612"/>
                </a:solidFill>
                <a:latin typeface="Tahoma"/>
                <a:cs typeface="Tahoma"/>
              </a:rPr>
              <a:t>for</a:t>
            </a:r>
            <a:r>
              <a:rPr sz="1650" spc="-45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1650" spc="75" dirty="0">
                <a:solidFill>
                  <a:srgbClr val="161612"/>
                </a:solidFill>
                <a:latin typeface="Tahoma"/>
                <a:cs typeface="Tahoma"/>
              </a:rPr>
              <a:t>ERP</a:t>
            </a:r>
            <a:r>
              <a:rPr sz="1650" spc="-70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1650" spc="90" dirty="0">
                <a:solidFill>
                  <a:srgbClr val="161612"/>
                </a:solidFill>
                <a:latin typeface="Tahoma"/>
                <a:cs typeface="Tahoma"/>
              </a:rPr>
              <a:t>systems</a:t>
            </a:r>
            <a:r>
              <a:rPr sz="1650" spc="-40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1650" dirty="0">
                <a:solidFill>
                  <a:srgbClr val="161612"/>
                </a:solidFill>
                <a:latin typeface="Tahoma"/>
                <a:cs typeface="Tahoma"/>
              </a:rPr>
              <a:t>(e.g.,</a:t>
            </a:r>
            <a:r>
              <a:rPr sz="1650" spc="-55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1650" spc="95" dirty="0">
                <a:solidFill>
                  <a:srgbClr val="161612"/>
                </a:solidFill>
                <a:latin typeface="Tahoma"/>
                <a:cs typeface="Tahoma"/>
              </a:rPr>
              <a:t>SAP,</a:t>
            </a:r>
            <a:r>
              <a:rPr sz="1650" spc="-50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1650" spc="-10" dirty="0">
                <a:solidFill>
                  <a:srgbClr val="161612"/>
                </a:solidFill>
                <a:latin typeface="Tahoma"/>
                <a:cs typeface="Tahoma"/>
              </a:rPr>
              <a:t>Oracle).</a:t>
            </a:r>
            <a:endParaRPr sz="165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765023" y="7551418"/>
            <a:ext cx="1743456" cy="57150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38022" y="636523"/>
            <a:ext cx="5454650" cy="665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200" spc="95" dirty="0"/>
              <a:t>Future</a:t>
            </a:r>
            <a:r>
              <a:rPr sz="4200" spc="-165" dirty="0"/>
              <a:t> </a:t>
            </a:r>
            <a:r>
              <a:rPr sz="4200" spc="145" dirty="0"/>
              <a:t>Enhancements</a:t>
            </a:r>
            <a:endParaRPr sz="4200"/>
          </a:p>
        </p:txBody>
      </p:sp>
      <p:sp>
        <p:nvSpPr>
          <p:cNvPr id="4" name="object 4"/>
          <p:cNvSpPr txBox="1"/>
          <p:nvPr/>
        </p:nvSpPr>
        <p:spPr>
          <a:xfrm>
            <a:off x="738022" y="1702968"/>
            <a:ext cx="12068175" cy="68389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30900"/>
              </a:lnSpc>
              <a:spcBef>
                <a:spcPts val="95"/>
              </a:spcBef>
            </a:pPr>
            <a:r>
              <a:rPr sz="1650" spc="65" dirty="0">
                <a:solidFill>
                  <a:srgbClr val="161612"/>
                </a:solidFill>
                <a:latin typeface="Tahoma"/>
                <a:cs typeface="Tahoma"/>
              </a:rPr>
              <a:t>Roadmap</a:t>
            </a:r>
            <a:r>
              <a:rPr sz="1650" spc="-25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1650" spc="55" dirty="0">
                <a:solidFill>
                  <a:srgbClr val="161612"/>
                </a:solidFill>
                <a:latin typeface="Tahoma"/>
                <a:cs typeface="Tahoma"/>
              </a:rPr>
              <a:t>items</a:t>
            </a:r>
            <a:r>
              <a:rPr sz="1650" spc="5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1650" dirty="0">
                <a:solidFill>
                  <a:srgbClr val="161612"/>
                </a:solidFill>
                <a:latin typeface="Tahoma"/>
                <a:cs typeface="Tahoma"/>
              </a:rPr>
              <a:t>to</a:t>
            </a:r>
            <a:r>
              <a:rPr sz="1650" spc="-25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1650" spc="60" dirty="0">
                <a:solidFill>
                  <a:srgbClr val="161612"/>
                </a:solidFill>
                <a:latin typeface="Tahoma"/>
                <a:cs typeface="Tahoma"/>
              </a:rPr>
              <a:t>elevate</a:t>
            </a:r>
            <a:r>
              <a:rPr sz="1650" spc="-10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1650" dirty="0">
                <a:solidFill>
                  <a:srgbClr val="161612"/>
                </a:solidFill>
                <a:latin typeface="Tahoma"/>
                <a:cs typeface="Tahoma"/>
              </a:rPr>
              <a:t>the</a:t>
            </a:r>
            <a:r>
              <a:rPr sz="1650" spc="-20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1650" spc="50" dirty="0">
                <a:solidFill>
                  <a:srgbClr val="161612"/>
                </a:solidFill>
                <a:latin typeface="Tahoma"/>
                <a:cs typeface="Tahoma"/>
              </a:rPr>
              <a:t>platform</a:t>
            </a:r>
            <a:r>
              <a:rPr sz="1650" spc="-10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1650" dirty="0">
                <a:solidFill>
                  <a:srgbClr val="161612"/>
                </a:solidFill>
                <a:latin typeface="Tahoma"/>
                <a:cs typeface="Tahoma"/>
              </a:rPr>
              <a:t>to</a:t>
            </a:r>
            <a:r>
              <a:rPr sz="1650" spc="-10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1650" spc="65" dirty="0">
                <a:solidFill>
                  <a:srgbClr val="161612"/>
                </a:solidFill>
                <a:latin typeface="Tahoma"/>
                <a:cs typeface="Tahoma"/>
              </a:rPr>
              <a:t>enterprise-</a:t>
            </a:r>
            <a:r>
              <a:rPr sz="1650" spc="70" dirty="0">
                <a:solidFill>
                  <a:srgbClr val="161612"/>
                </a:solidFill>
                <a:latin typeface="Tahoma"/>
                <a:cs typeface="Tahoma"/>
              </a:rPr>
              <a:t>grade</a:t>
            </a:r>
            <a:r>
              <a:rPr sz="1650" spc="-10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1650" spc="60" dirty="0">
                <a:solidFill>
                  <a:srgbClr val="161612"/>
                </a:solidFill>
                <a:latin typeface="Tahoma"/>
                <a:cs typeface="Tahoma"/>
              </a:rPr>
              <a:t>capabilities</a:t>
            </a:r>
            <a:r>
              <a:rPr sz="1650" spc="20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1650" spc="150" dirty="0">
                <a:solidFill>
                  <a:srgbClr val="161612"/>
                </a:solidFill>
                <a:latin typeface="Tahoma"/>
                <a:cs typeface="Tahoma"/>
              </a:rPr>
              <a:t>—</a:t>
            </a:r>
            <a:r>
              <a:rPr sz="1650" spc="-10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1650" spc="100" dirty="0">
                <a:solidFill>
                  <a:srgbClr val="161612"/>
                </a:solidFill>
                <a:latin typeface="Tahoma"/>
                <a:cs typeface="Tahoma"/>
              </a:rPr>
              <a:t>focused</a:t>
            </a:r>
            <a:r>
              <a:rPr sz="1650" spc="-40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1650" spc="70" dirty="0">
                <a:solidFill>
                  <a:srgbClr val="161612"/>
                </a:solidFill>
                <a:latin typeface="Tahoma"/>
                <a:cs typeface="Tahoma"/>
              </a:rPr>
              <a:t>on</a:t>
            </a:r>
            <a:r>
              <a:rPr sz="1650" spc="-15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1650" dirty="0">
                <a:solidFill>
                  <a:srgbClr val="161612"/>
                </a:solidFill>
                <a:latin typeface="Tahoma"/>
                <a:cs typeface="Tahoma"/>
              </a:rPr>
              <a:t>automation,</a:t>
            </a:r>
            <a:r>
              <a:rPr sz="1650" spc="-50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1650" spc="50" dirty="0">
                <a:solidFill>
                  <a:srgbClr val="161612"/>
                </a:solidFill>
                <a:latin typeface="Tahoma"/>
                <a:cs typeface="Tahoma"/>
              </a:rPr>
              <a:t>scalability,</a:t>
            </a:r>
            <a:r>
              <a:rPr sz="1650" spc="-10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1650" spc="65" dirty="0">
                <a:solidFill>
                  <a:srgbClr val="161612"/>
                </a:solidFill>
                <a:latin typeface="Tahoma"/>
                <a:cs typeface="Tahoma"/>
              </a:rPr>
              <a:t>and</a:t>
            </a:r>
            <a:r>
              <a:rPr sz="1650" spc="-20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1650" spc="50" dirty="0">
                <a:solidFill>
                  <a:srgbClr val="161612"/>
                </a:solidFill>
                <a:latin typeface="Tahoma"/>
                <a:cs typeface="Tahoma"/>
              </a:rPr>
              <a:t>supplier empowerment.</a:t>
            </a:r>
            <a:endParaRPr sz="1650">
              <a:latin typeface="Tahoma"/>
              <a:cs typeface="Tahoma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882756" y="2672420"/>
            <a:ext cx="272415" cy="492759"/>
          </a:xfrm>
          <a:custGeom>
            <a:avLst/>
            <a:gdLst/>
            <a:ahLst/>
            <a:cxnLst/>
            <a:rect l="l" t="t" r="r" b="b"/>
            <a:pathLst>
              <a:path w="272415" h="492760">
                <a:moveTo>
                  <a:pt x="135643" y="492274"/>
                </a:moveTo>
                <a:lnTo>
                  <a:pt x="160291" y="462559"/>
                </a:lnTo>
                <a:lnTo>
                  <a:pt x="210992" y="429814"/>
                </a:lnTo>
                <a:lnTo>
                  <a:pt x="216005" y="426636"/>
                </a:lnTo>
                <a:lnTo>
                  <a:pt x="246331" y="400259"/>
                </a:lnTo>
                <a:lnTo>
                  <a:pt x="266063" y="365610"/>
                </a:lnTo>
                <a:lnTo>
                  <a:pt x="272286" y="332117"/>
                </a:lnTo>
                <a:lnTo>
                  <a:pt x="271951" y="323964"/>
                </a:lnTo>
                <a:lnTo>
                  <a:pt x="264349" y="285609"/>
                </a:lnTo>
                <a:lnTo>
                  <a:pt x="243569" y="248830"/>
                </a:lnTo>
                <a:lnTo>
                  <a:pt x="211714" y="220430"/>
                </a:lnTo>
                <a:lnTo>
                  <a:pt x="170869" y="202532"/>
                </a:lnTo>
                <a:lnTo>
                  <a:pt x="144962" y="198313"/>
                </a:lnTo>
                <a:lnTo>
                  <a:pt x="134459" y="198344"/>
                </a:lnTo>
                <a:lnTo>
                  <a:pt x="93754" y="204283"/>
                </a:lnTo>
                <a:lnTo>
                  <a:pt x="55647" y="223277"/>
                </a:lnTo>
                <a:lnTo>
                  <a:pt x="26834" y="250614"/>
                </a:lnTo>
                <a:lnTo>
                  <a:pt x="7917" y="284619"/>
                </a:lnTo>
                <a:lnTo>
                  <a:pt x="197" y="325625"/>
                </a:lnTo>
                <a:lnTo>
                  <a:pt x="0" y="337154"/>
                </a:lnTo>
                <a:lnTo>
                  <a:pt x="930" y="345714"/>
                </a:lnTo>
                <a:lnTo>
                  <a:pt x="13568" y="383412"/>
                </a:lnTo>
                <a:lnTo>
                  <a:pt x="40466" y="415907"/>
                </a:lnTo>
                <a:lnTo>
                  <a:pt x="73960" y="436828"/>
                </a:lnTo>
                <a:lnTo>
                  <a:pt x="87050" y="444199"/>
                </a:lnTo>
                <a:lnTo>
                  <a:pt x="95502" y="449134"/>
                </a:lnTo>
                <a:lnTo>
                  <a:pt x="126794" y="479847"/>
                </a:lnTo>
                <a:lnTo>
                  <a:pt x="130978" y="485668"/>
                </a:lnTo>
                <a:lnTo>
                  <a:pt x="135643" y="492274"/>
                </a:lnTo>
              </a:path>
              <a:path w="272415" h="492760">
                <a:moveTo>
                  <a:pt x="135886" y="0"/>
                </a:moveTo>
                <a:lnTo>
                  <a:pt x="135921" y="198252"/>
                </a:lnTo>
              </a:path>
              <a:path w="272415" h="492760">
                <a:moveTo>
                  <a:pt x="57588" y="48582"/>
                </a:moveTo>
                <a:lnTo>
                  <a:pt x="104730" y="200978"/>
                </a:lnTo>
              </a:path>
              <a:path w="272415" h="492760">
                <a:moveTo>
                  <a:pt x="167351" y="201087"/>
                </a:moveTo>
                <a:lnTo>
                  <a:pt x="215315" y="46315"/>
                </a:lnTo>
              </a:path>
            </a:pathLst>
          </a:custGeom>
          <a:ln w="21773">
            <a:solidFill>
              <a:srgbClr val="28282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738022" y="3409315"/>
            <a:ext cx="4058920" cy="14509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00" spc="-95" dirty="0">
                <a:solidFill>
                  <a:srgbClr val="161612"/>
                </a:solidFill>
                <a:latin typeface="Tahoma"/>
                <a:cs typeface="Tahoma"/>
              </a:rPr>
              <a:t>AI </a:t>
            </a:r>
            <a:r>
              <a:rPr sz="2100" spc="90" dirty="0">
                <a:solidFill>
                  <a:srgbClr val="161612"/>
                </a:solidFill>
                <a:latin typeface="Tahoma"/>
                <a:cs typeface="Tahoma"/>
              </a:rPr>
              <a:t>Spend</a:t>
            </a:r>
            <a:r>
              <a:rPr sz="2100" spc="-110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2100" spc="70" dirty="0">
                <a:solidFill>
                  <a:srgbClr val="161612"/>
                </a:solidFill>
                <a:latin typeface="Tahoma"/>
                <a:cs typeface="Tahoma"/>
              </a:rPr>
              <a:t>Analytics</a:t>
            </a:r>
            <a:endParaRPr sz="2100">
              <a:latin typeface="Tahoma"/>
              <a:cs typeface="Tahoma"/>
            </a:endParaRPr>
          </a:p>
          <a:p>
            <a:pPr marL="12700" marR="5080">
              <a:lnSpc>
                <a:spcPct val="131200"/>
              </a:lnSpc>
              <a:spcBef>
                <a:spcPts val="910"/>
              </a:spcBef>
            </a:pPr>
            <a:r>
              <a:rPr sz="1650" spc="70" dirty="0">
                <a:solidFill>
                  <a:srgbClr val="161612"/>
                </a:solidFill>
                <a:latin typeface="Tahoma"/>
                <a:cs typeface="Tahoma"/>
              </a:rPr>
              <a:t>Predictive</a:t>
            </a:r>
            <a:r>
              <a:rPr sz="1650" spc="-50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1650" spc="75" dirty="0">
                <a:solidFill>
                  <a:srgbClr val="161612"/>
                </a:solidFill>
                <a:latin typeface="Tahoma"/>
                <a:cs typeface="Tahoma"/>
              </a:rPr>
              <a:t>models</a:t>
            </a:r>
            <a:r>
              <a:rPr sz="1650" spc="-45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1650" spc="60" dirty="0">
                <a:solidFill>
                  <a:srgbClr val="161612"/>
                </a:solidFill>
                <a:latin typeface="Tahoma"/>
                <a:cs typeface="Tahoma"/>
              </a:rPr>
              <a:t>for</a:t>
            </a:r>
            <a:r>
              <a:rPr sz="1650" spc="-40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1650" spc="90" dirty="0">
                <a:solidFill>
                  <a:srgbClr val="161612"/>
                </a:solidFill>
                <a:latin typeface="Tahoma"/>
                <a:cs typeface="Tahoma"/>
              </a:rPr>
              <a:t>spend</a:t>
            </a:r>
            <a:r>
              <a:rPr sz="1650" spc="-40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1650" spc="50" dirty="0">
                <a:solidFill>
                  <a:srgbClr val="161612"/>
                </a:solidFill>
                <a:latin typeface="Tahoma"/>
                <a:cs typeface="Tahoma"/>
              </a:rPr>
              <a:t>forecasting, </a:t>
            </a:r>
            <a:r>
              <a:rPr sz="1650" spc="55" dirty="0">
                <a:solidFill>
                  <a:srgbClr val="161612"/>
                </a:solidFill>
                <a:latin typeface="Tahoma"/>
                <a:cs typeface="Tahoma"/>
              </a:rPr>
              <a:t>anomaly</a:t>
            </a:r>
            <a:r>
              <a:rPr sz="1650" spc="-75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1650" spc="55" dirty="0">
                <a:solidFill>
                  <a:srgbClr val="161612"/>
                </a:solidFill>
                <a:latin typeface="Tahoma"/>
                <a:cs typeface="Tahoma"/>
              </a:rPr>
              <a:t>detection,</a:t>
            </a:r>
            <a:r>
              <a:rPr sz="1650" spc="-60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1650" spc="65" dirty="0">
                <a:solidFill>
                  <a:srgbClr val="161612"/>
                </a:solidFill>
                <a:latin typeface="Tahoma"/>
                <a:cs typeface="Tahoma"/>
              </a:rPr>
              <a:t>and</a:t>
            </a:r>
            <a:r>
              <a:rPr sz="1650" spc="-55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1650" spc="50" dirty="0">
                <a:solidFill>
                  <a:srgbClr val="161612"/>
                </a:solidFill>
                <a:latin typeface="Tahoma"/>
                <a:cs typeface="Tahoma"/>
              </a:rPr>
              <a:t>supplier </a:t>
            </a:r>
            <a:r>
              <a:rPr sz="1650" spc="55" dirty="0">
                <a:solidFill>
                  <a:srgbClr val="161612"/>
                </a:solidFill>
                <a:latin typeface="Tahoma"/>
                <a:cs typeface="Tahoma"/>
              </a:rPr>
              <a:t>recommendations.</a:t>
            </a:r>
            <a:endParaRPr sz="1650">
              <a:latin typeface="Tahoma"/>
              <a:cs typeface="Tahoma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5310727" y="2661517"/>
            <a:ext cx="338455" cy="514350"/>
            <a:chOff x="5310727" y="2661517"/>
            <a:chExt cx="338455" cy="514350"/>
          </a:xfrm>
        </p:grpSpPr>
        <p:sp>
          <p:nvSpPr>
            <p:cNvPr id="8" name="object 8"/>
            <p:cNvSpPr/>
            <p:nvPr/>
          </p:nvSpPr>
          <p:spPr>
            <a:xfrm>
              <a:off x="5321629" y="2672420"/>
              <a:ext cx="316230" cy="492759"/>
            </a:xfrm>
            <a:custGeom>
              <a:avLst/>
              <a:gdLst/>
              <a:ahLst/>
              <a:cxnLst/>
              <a:rect l="l" t="t" r="r" b="b"/>
              <a:pathLst>
                <a:path w="316229" h="492760">
                  <a:moveTo>
                    <a:pt x="315962" y="261"/>
                  </a:moveTo>
                  <a:lnTo>
                    <a:pt x="130" y="0"/>
                  </a:lnTo>
                </a:path>
                <a:path w="316229" h="492760">
                  <a:moveTo>
                    <a:pt x="316036" y="492273"/>
                  </a:moveTo>
                  <a:lnTo>
                    <a:pt x="315962" y="261"/>
                  </a:lnTo>
                </a:path>
                <a:path w="316229" h="492760">
                  <a:moveTo>
                    <a:pt x="316036" y="492273"/>
                  </a:moveTo>
                  <a:lnTo>
                    <a:pt x="0" y="491744"/>
                  </a:lnTo>
                </a:path>
                <a:path w="316229" h="492760">
                  <a:moveTo>
                    <a:pt x="130" y="0"/>
                  </a:moveTo>
                  <a:lnTo>
                    <a:pt x="0" y="491744"/>
                  </a:lnTo>
                </a:path>
              </a:pathLst>
            </a:custGeom>
            <a:ln w="21774">
              <a:solidFill>
                <a:srgbClr val="28282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533298" y="2889768"/>
              <a:ext cx="76058" cy="76214"/>
            </a:xfrm>
            <a:prstGeom prst="rect">
              <a:avLst/>
            </a:prstGeom>
          </p:spPr>
        </p:pic>
      </p:grpSp>
      <p:sp>
        <p:nvSpPr>
          <p:cNvPr id="10" name="object 10"/>
          <p:cNvSpPr txBox="1"/>
          <p:nvPr/>
        </p:nvSpPr>
        <p:spPr>
          <a:xfrm>
            <a:off x="5199379" y="3409315"/>
            <a:ext cx="3988435" cy="14509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00" spc="60" dirty="0">
                <a:solidFill>
                  <a:srgbClr val="161612"/>
                </a:solidFill>
                <a:latin typeface="Tahoma"/>
                <a:cs typeface="Tahoma"/>
              </a:rPr>
              <a:t>Supplier</a:t>
            </a:r>
            <a:r>
              <a:rPr sz="2100" spc="-120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2100" spc="105" dirty="0">
                <a:solidFill>
                  <a:srgbClr val="161612"/>
                </a:solidFill>
                <a:latin typeface="Tahoma"/>
                <a:cs typeface="Tahoma"/>
              </a:rPr>
              <a:t>Self-</a:t>
            </a:r>
            <a:r>
              <a:rPr sz="2100" spc="65" dirty="0">
                <a:solidFill>
                  <a:srgbClr val="161612"/>
                </a:solidFill>
                <a:latin typeface="Tahoma"/>
                <a:cs typeface="Tahoma"/>
              </a:rPr>
              <a:t>Service</a:t>
            </a:r>
            <a:endParaRPr sz="2100">
              <a:latin typeface="Tahoma"/>
              <a:cs typeface="Tahoma"/>
            </a:endParaRPr>
          </a:p>
          <a:p>
            <a:pPr marL="12700" marR="5080">
              <a:lnSpc>
                <a:spcPct val="131200"/>
              </a:lnSpc>
              <a:spcBef>
                <a:spcPts val="910"/>
              </a:spcBef>
            </a:pPr>
            <a:r>
              <a:rPr sz="1650" spc="75" dirty="0">
                <a:solidFill>
                  <a:srgbClr val="161612"/>
                </a:solidFill>
                <a:latin typeface="Tahoma"/>
                <a:cs typeface="Tahoma"/>
              </a:rPr>
              <a:t>Vendor</a:t>
            </a:r>
            <a:r>
              <a:rPr sz="1650" spc="20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1650" dirty="0">
                <a:solidFill>
                  <a:srgbClr val="161612"/>
                </a:solidFill>
                <a:latin typeface="Tahoma"/>
                <a:cs typeface="Tahoma"/>
              </a:rPr>
              <a:t>portal </a:t>
            </a:r>
            <a:r>
              <a:rPr sz="1650" spc="60" dirty="0">
                <a:solidFill>
                  <a:srgbClr val="161612"/>
                </a:solidFill>
                <a:latin typeface="Tahoma"/>
                <a:cs typeface="Tahoma"/>
              </a:rPr>
              <a:t>for</a:t>
            </a:r>
            <a:r>
              <a:rPr sz="1650" spc="20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1650" spc="55" dirty="0">
                <a:solidFill>
                  <a:srgbClr val="161612"/>
                </a:solidFill>
                <a:latin typeface="Tahoma"/>
                <a:cs typeface="Tahoma"/>
              </a:rPr>
              <a:t>profile</a:t>
            </a:r>
            <a:r>
              <a:rPr sz="1650" spc="20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1650" spc="40" dirty="0">
                <a:solidFill>
                  <a:srgbClr val="161612"/>
                </a:solidFill>
                <a:latin typeface="Tahoma"/>
                <a:cs typeface="Tahoma"/>
              </a:rPr>
              <a:t>management, </a:t>
            </a:r>
            <a:r>
              <a:rPr sz="1650" spc="70" dirty="0">
                <a:solidFill>
                  <a:srgbClr val="161612"/>
                </a:solidFill>
                <a:latin typeface="Tahoma"/>
                <a:cs typeface="Tahoma"/>
              </a:rPr>
              <a:t>invoices,</a:t>
            </a:r>
            <a:r>
              <a:rPr sz="1650" spc="-75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1650" spc="65" dirty="0">
                <a:solidFill>
                  <a:srgbClr val="161612"/>
                </a:solidFill>
                <a:latin typeface="Tahoma"/>
                <a:cs typeface="Tahoma"/>
              </a:rPr>
              <a:t>and</a:t>
            </a:r>
            <a:r>
              <a:rPr sz="1650" spc="-60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1650" spc="60" dirty="0">
                <a:solidFill>
                  <a:srgbClr val="161612"/>
                </a:solidFill>
                <a:latin typeface="Tahoma"/>
                <a:cs typeface="Tahoma"/>
              </a:rPr>
              <a:t>status</a:t>
            </a:r>
            <a:r>
              <a:rPr sz="1650" spc="-60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1650" spc="65" dirty="0">
                <a:solidFill>
                  <a:srgbClr val="161612"/>
                </a:solidFill>
                <a:latin typeface="Tahoma"/>
                <a:cs typeface="Tahoma"/>
              </a:rPr>
              <a:t>updates</a:t>
            </a:r>
            <a:r>
              <a:rPr sz="1650" spc="-30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1650" spc="150" dirty="0">
                <a:solidFill>
                  <a:srgbClr val="161612"/>
                </a:solidFill>
                <a:latin typeface="Tahoma"/>
                <a:cs typeface="Tahoma"/>
              </a:rPr>
              <a:t>—</a:t>
            </a:r>
            <a:r>
              <a:rPr sz="1650" spc="-50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1650" spc="80" dirty="0">
                <a:solidFill>
                  <a:srgbClr val="161612"/>
                </a:solidFill>
                <a:latin typeface="Tahoma"/>
                <a:cs typeface="Tahoma"/>
              </a:rPr>
              <a:t>reduces </a:t>
            </a:r>
            <a:r>
              <a:rPr sz="1650" spc="55" dirty="0">
                <a:solidFill>
                  <a:srgbClr val="161612"/>
                </a:solidFill>
                <a:latin typeface="Tahoma"/>
                <a:cs typeface="Tahoma"/>
              </a:rPr>
              <a:t>admin</a:t>
            </a:r>
            <a:r>
              <a:rPr sz="1650" spc="-60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1650" spc="-10" dirty="0">
                <a:solidFill>
                  <a:srgbClr val="161612"/>
                </a:solidFill>
                <a:latin typeface="Tahoma"/>
                <a:cs typeface="Tahoma"/>
              </a:rPr>
              <a:t>load.</a:t>
            </a:r>
            <a:endParaRPr sz="1650">
              <a:latin typeface="Tahoma"/>
              <a:cs typeface="Tahoma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9684243" y="2679406"/>
            <a:ext cx="503555" cy="478155"/>
            <a:chOff x="9684243" y="2679406"/>
            <a:chExt cx="503555" cy="478155"/>
          </a:xfrm>
        </p:grpSpPr>
        <p:sp>
          <p:nvSpPr>
            <p:cNvPr id="12" name="object 12"/>
            <p:cNvSpPr/>
            <p:nvPr/>
          </p:nvSpPr>
          <p:spPr>
            <a:xfrm>
              <a:off x="9804718" y="2720959"/>
              <a:ext cx="334010" cy="426084"/>
            </a:xfrm>
            <a:custGeom>
              <a:avLst/>
              <a:gdLst/>
              <a:ahLst/>
              <a:cxnLst/>
              <a:rect l="l" t="t" r="r" b="b"/>
              <a:pathLst>
                <a:path w="334009" h="426085">
                  <a:moveTo>
                    <a:pt x="142215" y="212098"/>
                  </a:moveTo>
                  <a:lnTo>
                    <a:pt x="185357" y="211915"/>
                  </a:lnTo>
                </a:path>
                <a:path w="334009" h="426085">
                  <a:moveTo>
                    <a:pt x="237392" y="211998"/>
                  </a:moveTo>
                  <a:lnTo>
                    <a:pt x="265222" y="233058"/>
                  </a:lnTo>
                  <a:lnTo>
                    <a:pt x="267333" y="237450"/>
                  </a:lnTo>
                </a:path>
                <a:path w="334009" h="426085">
                  <a:moveTo>
                    <a:pt x="303523" y="312631"/>
                  </a:moveTo>
                  <a:lnTo>
                    <a:pt x="321669" y="352415"/>
                  </a:lnTo>
                  <a:lnTo>
                    <a:pt x="330847" y="361973"/>
                  </a:lnTo>
                  <a:lnTo>
                    <a:pt x="333639" y="362413"/>
                  </a:lnTo>
                </a:path>
                <a:path w="334009" h="426085">
                  <a:moveTo>
                    <a:pt x="16215" y="151008"/>
                  </a:moveTo>
                  <a:lnTo>
                    <a:pt x="29807" y="150630"/>
                  </a:lnTo>
                  <a:lnTo>
                    <a:pt x="44527" y="151589"/>
                  </a:lnTo>
                  <a:lnTo>
                    <a:pt x="60467" y="154489"/>
                  </a:lnTo>
                  <a:lnTo>
                    <a:pt x="77719" y="159935"/>
                  </a:lnTo>
                </a:path>
                <a:path w="334009" h="426085">
                  <a:moveTo>
                    <a:pt x="205158" y="211915"/>
                  </a:moveTo>
                  <a:lnTo>
                    <a:pt x="204652" y="125207"/>
                  </a:lnTo>
                </a:path>
                <a:path w="334009" h="426085">
                  <a:moveTo>
                    <a:pt x="9856" y="151422"/>
                  </a:moveTo>
                  <a:lnTo>
                    <a:pt x="0" y="0"/>
                  </a:lnTo>
                </a:path>
                <a:path w="334009" h="426085">
                  <a:moveTo>
                    <a:pt x="298761" y="371703"/>
                  </a:moveTo>
                  <a:lnTo>
                    <a:pt x="294523" y="392692"/>
                  </a:lnTo>
                  <a:lnTo>
                    <a:pt x="282966" y="409832"/>
                  </a:lnTo>
                  <a:lnTo>
                    <a:pt x="265826" y="421387"/>
                  </a:lnTo>
                  <a:lnTo>
                    <a:pt x="244837" y="425624"/>
                  </a:lnTo>
                  <a:lnTo>
                    <a:pt x="223847" y="421387"/>
                  </a:lnTo>
                  <a:lnTo>
                    <a:pt x="206707" y="409832"/>
                  </a:lnTo>
                  <a:lnTo>
                    <a:pt x="195151" y="392692"/>
                  </a:lnTo>
                  <a:lnTo>
                    <a:pt x="190914" y="371703"/>
                  </a:lnTo>
                  <a:lnTo>
                    <a:pt x="195151" y="350713"/>
                  </a:lnTo>
                  <a:lnTo>
                    <a:pt x="206707" y="333574"/>
                  </a:lnTo>
                  <a:lnTo>
                    <a:pt x="223847" y="322019"/>
                  </a:lnTo>
                  <a:lnTo>
                    <a:pt x="244837" y="317782"/>
                  </a:lnTo>
                  <a:lnTo>
                    <a:pt x="265826" y="322019"/>
                  </a:lnTo>
                  <a:lnTo>
                    <a:pt x="282966" y="333574"/>
                  </a:lnTo>
                  <a:lnTo>
                    <a:pt x="294523" y="350713"/>
                  </a:lnTo>
                  <a:lnTo>
                    <a:pt x="298761" y="371703"/>
                  </a:lnTo>
                  <a:close/>
                </a:path>
              </a:pathLst>
            </a:custGeom>
            <a:ln w="21790">
              <a:solidFill>
                <a:srgbClr val="28282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9695138" y="2872042"/>
              <a:ext cx="274320" cy="274320"/>
            </a:xfrm>
            <a:custGeom>
              <a:avLst/>
              <a:gdLst/>
              <a:ahLst/>
              <a:cxnLst/>
              <a:rect l="l" t="t" r="r" b="b"/>
              <a:pathLst>
                <a:path w="274320" h="274319">
                  <a:moveTo>
                    <a:pt x="187238" y="9005"/>
                  </a:moveTo>
                  <a:lnTo>
                    <a:pt x="225077" y="31359"/>
                  </a:lnTo>
                  <a:lnTo>
                    <a:pt x="253044" y="63256"/>
                  </a:lnTo>
                  <a:lnTo>
                    <a:pt x="269861" y="101767"/>
                  </a:lnTo>
                  <a:lnTo>
                    <a:pt x="274247" y="143961"/>
                  </a:lnTo>
                  <a:lnTo>
                    <a:pt x="264922" y="186909"/>
                  </a:lnTo>
                  <a:lnTo>
                    <a:pt x="242569" y="224747"/>
                  </a:lnTo>
                  <a:lnTo>
                    <a:pt x="210671" y="252714"/>
                  </a:lnTo>
                  <a:lnTo>
                    <a:pt x="172158" y="269530"/>
                  </a:lnTo>
                  <a:lnTo>
                    <a:pt x="129961" y="273916"/>
                  </a:lnTo>
                  <a:lnTo>
                    <a:pt x="87010" y="264593"/>
                  </a:lnTo>
                  <a:lnTo>
                    <a:pt x="49171" y="242239"/>
                  </a:lnTo>
                  <a:lnTo>
                    <a:pt x="21203" y="210341"/>
                  </a:lnTo>
                  <a:lnTo>
                    <a:pt x="4386" y="171829"/>
                  </a:lnTo>
                  <a:lnTo>
                    <a:pt x="0" y="129634"/>
                  </a:lnTo>
                  <a:lnTo>
                    <a:pt x="9324" y="86685"/>
                  </a:lnTo>
                  <a:lnTo>
                    <a:pt x="28249" y="53184"/>
                  </a:lnTo>
                  <a:lnTo>
                    <a:pt x="55162" y="26682"/>
                  </a:lnTo>
                  <a:lnTo>
                    <a:pt x="88275" y="8511"/>
                  </a:lnTo>
                  <a:lnTo>
                    <a:pt x="125799" y="0"/>
                  </a:lnTo>
                </a:path>
              </a:pathLst>
            </a:custGeom>
            <a:ln w="21790">
              <a:solidFill>
                <a:srgbClr val="28282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9714768" y="2690300"/>
              <a:ext cx="473075" cy="393700"/>
            </a:xfrm>
            <a:custGeom>
              <a:avLst/>
              <a:gdLst/>
              <a:ahLst/>
              <a:cxnLst/>
              <a:rect l="l" t="t" r="r" b="b"/>
              <a:pathLst>
                <a:path w="473075" h="393700">
                  <a:moveTo>
                    <a:pt x="294379" y="155844"/>
                  </a:moveTo>
                  <a:lnTo>
                    <a:pt x="264992" y="120384"/>
                  </a:lnTo>
                  <a:lnTo>
                    <a:pt x="260893" y="120000"/>
                  </a:lnTo>
                  <a:lnTo>
                    <a:pt x="256763" y="120397"/>
                  </a:lnTo>
                  <a:lnTo>
                    <a:pt x="252811" y="121553"/>
                  </a:lnTo>
                </a:path>
                <a:path w="473075" h="393700">
                  <a:moveTo>
                    <a:pt x="252567" y="120720"/>
                  </a:moveTo>
                  <a:lnTo>
                    <a:pt x="95537" y="121766"/>
                  </a:lnTo>
                </a:path>
                <a:path w="473075" h="393700">
                  <a:moveTo>
                    <a:pt x="275307" y="242574"/>
                  </a:moveTo>
                  <a:lnTo>
                    <a:pt x="327342" y="242657"/>
                  </a:lnTo>
                </a:path>
                <a:path w="473075" h="393700">
                  <a:moveTo>
                    <a:pt x="89644" y="30658"/>
                  </a:moveTo>
                  <a:lnTo>
                    <a:pt x="64296" y="348"/>
                  </a:lnTo>
                  <a:lnTo>
                    <a:pt x="60598" y="0"/>
                  </a:lnTo>
                  <a:lnTo>
                    <a:pt x="56869" y="392"/>
                  </a:lnTo>
                  <a:lnTo>
                    <a:pt x="53332" y="1526"/>
                  </a:lnTo>
                </a:path>
                <a:path w="473075" h="393700">
                  <a:moveTo>
                    <a:pt x="53061" y="697"/>
                  </a:moveTo>
                  <a:lnTo>
                    <a:pt x="0" y="1046"/>
                  </a:lnTo>
                </a:path>
                <a:path w="473075" h="393700">
                  <a:moveTo>
                    <a:pt x="357283" y="268108"/>
                  </a:moveTo>
                  <a:lnTo>
                    <a:pt x="393474" y="343290"/>
                  </a:lnTo>
                </a:path>
                <a:path w="473075" h="393700">
                  <a:moveTo>
                    <a:pt x="423589" y="393072"/>
                  </a:moveTo>
                  <a:lnTo>
                    <a:pt x="472567" y="392972"/>
                  </a:lnTo>
                </a:path>
              </a:pathLst>
            </a:custGeom>
            <a:ln w="21790">
              <a:solidFill>
                <a:srgbClr val="28282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9660381" y="3409315"/>
            <a:ext cx="4063365" cy="11207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00" spc="55" dirty="0">
                <a:solidFill>
                  <a:srgbClr val="161612"/>
                </a:solidFill>
                <a:latin typeface="Tahoma"/>
                <a:cs typeface="Tahoma"/>
              </a:rPr>
              <a:t>Native</a:t>
            </a:r>
            <a:r>
              <a:rPr sz="2100" spc="-80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2100" spc="75" dirty="0">
                <a:solidFill>
                  <a:srgbClr val="161612"/>
                </a:solidFill>
                <a:latin typeface="Tahoma"/>
                <a:cs typeface="Tahoma"/>
              </a:rPr>
              <a:t>Mobile</a:t>
            </a:r>
            <a:r>
              <a:rPr sz="2100" spc="-95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2100" spc="114" dirty="0">
                <a:solidFill>
                  <a:srgbClr val="161612"/>
                </a:solidFill>
                <a:latin typeface="Tahoma"/>
                <a:cs typeface="Tahoma"/>
              </a:rPr>
              <a:t>Apps</a:t>
            </a:r>
            <a:endParaRPr sz="2100">
              <a:latin typeface="Tahoma"/>
              <a:cs typeface="Tahoma"/>
            </a:endParaRPr>
          </a:p>
          <a:p>
            <a:pPr marL="12700" marR="5080">
              <a:lnSpc>
                <a:spcPct val="130900"/>
              </a:lnSpc>
              <a:spcBef>
                <a:spcPts val="915"/>
              </a:spcBef>
            </a:pPr>
            <a:r>
              <a:rPr sz="1650" spc="60" dirty="0">
                <a:solidFill>
                  <a:srgbClr val="161612"/>
                </a:solidFill>
                <a:latin typeface="Tahoma"/>
                <a:cs typeface="Tahoma"/>
              </a:rPr>
              <a:t>Android/iOS</a:t>
            </a:r>
            <a:r>
              <a:rPr sz="1650" spc="-55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1650" spc="90" dirty="0">
                <a:solidFill>
                  <a:srgbClr val="161612"/>
                </a:solidFill>
                <a:latin typeface="Tahoma"/>
                <a:cs typeface="Tahoma"/>
              </a:rPr>
              <a:t>apps</a:t>
            </a:r>
            <a:r>
              <a:rPr sz="1650" spc="-40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1650" spc="60" dirty="0">
                <a:solidFill>
                  <a:srgbClr val="161612"/>
                </a:solidFill>
                <a:latin typeface="Tahoma"/>
                <a:cs typeface="Tahoma"/>
              </a:rPr>
              <a:t>for</a:t>
            </a:r>
            <a:r>
              <a:rPr sz="1650" spc="-45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1650" spc="60" dirty="0">
                <a:solidFill>
                  <a:srgbClr val="161612"/>
                </a:solidFill>
                <a:latin typeface="Tahoma"/>
                <a:cs typeface="Tahoma"/>
              </a:rPr>
              <a:t>approvals,</a:t>
            </a:r>
            <a:r>
              <a:rPr sz="1650" spc="-55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1650" spc="55" dirty="0">
                <a:solidFill>
                  <a:srgbClr val="161612"/>
                </a:solidFill>
                <a:latin typeface="Tahoma"/>
                <a:cs typeface="Tahoma"/>
              </a:rPr>
              <a:t>push </a:t>
            </a:r>
            <a:r>
              <a:rPr sz="1650" spc="50" dirty="0">
                <a:solidFill>
                  <a:srgbClr val="161612"/>
                </a:solidFill>
                <a:latin typeface="Tahoma"/>
                <a:cs typeface="Tahoma"/>
              </a:rPr>
              <a:t>notifications,</a:t>
            </a:r>
            <a:r>
              <a:rPr sz="1650" spc="-90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1650" spc="65" dirty="0">
                <a:solidFill>
                  <a:srgbClr val="161612"/>
                </a:solidFill>
                <a:latin typeface="Tahoma"/>
                <a:cs typeface="Tahoma"/>
              </a:rPr>
              <a:t>and</a:t>
            </a:r>
            <a:r>
              <a:rPr sz="1650" spc="-60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1650" spc="100" dirty="0">
                <a:solidFill>
                  <a:srgbClr val="161612"/>
                </a:solidFill>
                <a:latin typeface="Tahoma"/>
                <a:cs typeface="Tahoma"/>
              </a:rPr>
              <a:t>on-</a:t>
            </a:r>
            <a:r>
              <a:rPr sz="1650" spc="70" dirty="0">
                <a:solidFill>
                  <a:srgbClr val="161612"/>
                </a:solidFill>
                <a:latin typeface="Tahoma"/>
                <a:cs typeface="Tahoma"/>
              </a:rPr>
              <a:t>the-</a:t>
            </a:r>
            <a:r>
              <a:rPr sz="1650" spc="90" dirty="0">
                <a:solidFill>
                  <a:srgbClr val="161612"/>
                </a:solidFill>
                <a:latin typeface="Tahoma"/>
                <a:cs typeface="Tahoma"/>
              </a:rPr>
              <a:t>go</a:t>
            </a:r>
            <a:r>
              <a:rPr sz="1650" spc="-75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1650" spc="35" dirty="0">
                <a:solidFill>
                  <a:srgbClr val="161612"/>
                </a:solidFill>
                <a:latin typeface="Tahoma"/>
                <a:cs typeface="Tahoma"/>
              </a:rPr>
              <a:t>requisitions.</a:t>
            </a:r>
            <a:endParaRPr sz="1650">
              <a:latin typeface="Tahoma"/>
              <a:cs typeface="Tahoma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773484" y="5349123"/>
            <a:ext cx="490855" cy="445770"/>
          </a:xfrm>
          <a:custGeom>
            <a:avLst/>
            <a:gdLst/>
            <a:ahLst/>
            <a:cxnLst/>
            <a:rect l="l" t="t" r="r" b="b"/>
            <a:pathLst>
              <a:path w="490855" h="445770">
                <a:moveTo>
                  <a:pt x="394636" y="444965"/>
                </a:moveTo>
                <a:lnTo>
                  <a:pt x="386888" y="440635"/>
                </a:lnTo>
                <a:lnTo>
                  <a:pt x="377299" y="435176"/>
                </a:lnTo>
                <a:lnTo>
                  <a:pt x="365866" y="428587"/>
                </a:lnTo>
                <a:lnTo>
                  <a:pt x="352590" y="420870"/>
                </a:lnTo>
              </a:path>
              <a:path w="490855" h="445770">
                <a:moveTo>
                  <a:pt x="317646" y="401432"/>
                </a:moveTo>
                <a:lnTo>
                  <a:pt x="299298" y="379880"/>
                </a:lnTo>
                <a:lnTo>
                  <a:pt x="299011" y="371445"/>
                </a:lnTo>
              </a:path>
              <a:path w="490855" h="445770">
                <a:moveTo>
                  <a:pt x="96712" y="445344"/>
                </a:moveTo>
                <a:lnTo>
                  <a:pt x="52794" y="420509"/>
                </a:lnTo>
                <a:lnTo>
                  <a:pt x="11229" y="396079"/>
                </a:lnTo>
                <a:lnTo>
                  <a:pt x="704" y="384027"/>
                </a:lnTo>
                <a:lnTo>
                  <a:pt x="26" y="378205"/>
                </a:lnTo>
              </a:path>
              <a:path w="490855" h="445770">
                <a:moveTo>
                  <a:pt x="96712" y="445344"/>
                </a:moveTo>
                <a:lnTo>
                  <a:pt x="141332" y="420407"/>
                </a:lnTo>
              </a:path>
              <a:path w="490855" h="445770">
                <a:moveTo>
                  <a:pt x="183143" y="395885"/>
                </a:moveTo>
                <a:lnTo>
                  <a:pt x="192993" y="375122"/>
                </a:lnTo>
                <a:lnTo>
                  <a:pt x="193010" y="365069"/>
                </a:lnTo>
              </a:path>
              <a:path w="490855" h="445770">
                <a:moveTo>
                  <a:pt x="192980" y="287864"/>
                </a:moveTo>
                <a:lnTo>
                  <a:pt x="192488" y="276298"/>
                </a:lnTo>
              </a:path>
              <a:path w="490855" h="445770">
                <a:moveTo>
                  <a:pt x="403825" y="225993"/>
                </a:moveTo>
                <a:lnTo>
                  <a:pt x="400724" y="224667"/>
                </a:lnTo>
                <a:lnTo>
                  <a:pt x="397441" y="223852"/>
                </a:lnTo>
                <a:lnTo>
                  <a:pt x="395166" y="223786"/>
                </a:lnTo>
                <a:lnTo>
                  <a:pt x="391972" y="224788"/>
                </a:lnTo>
                <a:lnTo>
                  <a:pt x="386882" y="227046"/>
                </a:lnTo>
                <a:lnTo>
                  <a:pt x="378937" y="231128"/>
                </a:lnTo>
                <a:lnTo>
                  <a:pt x="367176" y="237602"/>
                </a:lnTo>
              </a:path>
              <a:path w="490855" h="445770">
                <a:moveTo>
                  <a:pt x="314285" y="267995"/>
                </a:moveTo>
                <a:lnTo>
                  <a:pt x="299711" y="276059"/>
                </a:lnTo>
              </a:path>
              <a:path w="490855" h="445770">
                <a:moveTo>
                  <a:pt x="139940" y="246791"/>
                </a:moveTo>
                <a:lnTo>
                  <a:pt x="101443" y="225270"/>
                </a:lnTo>
                <a:lnTo>
                  <a:pt x="94820" y="223647"/>
                </a:lnTo>
                <a:lnTo>
                  <a:pt x="92119" y="224357"/>
                </a:lnTo>
                <a:lnTo>
                  <a:pt x="87240" y="226438"/>
                </a:lnTo>
              </a:path>
              <a:path w="490855" h="445770">
                <a:moveTo>
                  <a:pt x="12372" y="269251"/>
                </a:moveTo>
                <a:lnTo>
                  <a:pt x="1885" y="275457"/>
                </a:lnTo>
              </a:path>
              <a:path w="490855" h="445770">
                <a:moveTo>
                  <a:pt x="246072" y="224746"/>
                </a:moveTo>
                <a:lnTo>
                  <a:pt x="204039" y="201038"/>
                </a:lnTo>
                <a:lnTo>
                  <a:pt x="156444" y="173494"/>
                </a:lnTo>
                <a:lnTo>
                  <a:pt x="149304" y="163808"/>
                </a:lnTo>
                <a:lnTo>
                  <a:pt x="148173" y="157349"/>
                </a:lnTo>
              </a:path>
              <a:path w="490855" h="445770">
                <a:moveTo>
                  <a:pt x="148095" y="66659"/>
                </a:moveTo>
                <a:lnTo>
                  <a:pt x="148803" y="54841"/>
                </a:lnTo>
              </a:path>
              <a:path w="490855" h="445770">
                <a:moveTo>
                  <a:pt x="342635" y="54644"/>
                </a:moveTo>
                <a:lnTo>
                  <a:pt x="343034" y="62202"/>
                </a:lnTo>
                <a:lnTo>
                  <a:pt x="343324" y="71367"/>
                </a:lnTo>
                <a:lnTo>
                  <a:pt x="343504" y="82138"/>
                </a:lnTo>
                <a:lnTo>
                  <a:pt x="343575" y="94514"/>
                </a:lnTo>
              </a:path>
              <a:path w="490855" h="445770">
                <a:moveTo>
                  <a:pt x="343470" y="156341"/>
                </a:moveTo>
                <a:lnTo>
                  <a:pt x="303962" y="191765"/>
                </a:lnTo>
                <a:lnTo>
                  <a:pt x="281363" y="204323"/>
                </a:lnTo>
                <a:lnTo>
                  <a:pt x="246072" y="224746"/>
                </a:lnTo>
              </a:path>
              <a:path w="490855" h="445770">
                <a:moveTo>
                  <a:pt x="394657" y="331589"/>
                </a:moveTo>
                <a:lnTo>
                  <a:pt x="299672" y="277097"/>
                </a:lnTo>
              </a:path>
              <a:path w="490855" h="445770">
                <a:moveTo>
                  <a:pt x="394657" y="331589"/>
                </a:moveTo>
                <a:lnTo>
                  <a:pt x="394636" y="444965"/>
                </a:lnTo>
              </a:path>
              <a:path w="490855" h="445770">
                <a:moveTo>
                  <a:pt x="299011" y="327359"/>
                </a:moveTo>
                <a:lnTo>
                  <a:pt x="299672" y="277097"/>
                </a:lnTo>
              </a:path>
              <a:path w="490855" h="445770">
                <a:moveTo>
                  <a:pt x="97025" y="331393"/>
                </a:moveTo>
                <a:lnTo>
                  <a:pt x="1616" y="277293"/>
                </a:lnTo>
              </a:path>
              <a:path w="490855" h="445770">
                <a:moveTo>
                  <a:pt x="97025" y="331393"/>
                </a:moveTo>
                <a:lnTo>
                  <a:pt x="96712" y="445344"/>
                </a:lnTo>
              </a:path>
              <a:path w="490855" h="445770">
                <a:moveTo>
                  <a:pt x="0" y="288309"/>
                </a:moveTo>
                <a:lnTo>
                  <a:pt x="1616" y="277293"/>
                </a:lnTo>
              </a:path>
              <a:path w="490855" h="445770">
                <a:moveTo>
                  <a:pt x="490499" y="276281"/>
                </a:moveTo>
                <a:lnTo>
                  <a:pt x="490847" y="388283"/>
                </a:lnTo>
                <a:lnTo>
                  <a:pt x="395471" y="445423"/>
                </a:lnTo>
              </a:path>
              <a:path w="490855" h="445770">
                <a:moveTo>
                  <a:pt x="490499" y="276281"/>
                </a:moveTo>
                <a:lnTo>
                  <a:pt x="394657" y="331589"/>
                </a:lnTo>
              </a:path>
              <a:path w="490855" h="445770">
                <a:moveTo>
                  <a:pt x="192488" y="276298"/>
                </a:moveTo>
                <a:lnTo>
                  <a:pt x="97025" y="331393"/>
                </a:lnTo>
              </a:path>
              <a:path w="490855" h="445770">
                <a:moveTo>
                  <a:pt x="359666" y="241942"/>
                </a:moveTo>
                <a:lnTo>
                  <a:pt x="315302" y="185639"/>
                </a:lnTo>
              </a:path>
              <a:path w="490855" h="445770">
                <a:moveTo>
                  <a:pt x="298994" y="335012"/>
                </a:moveTo>
                <a:lnTo>
                  <a:pt x="192958" y="335161"/>
                </a:lnTo>
              </a:path>
              <a:path w="490855" h="445770">
                <a:moveTo>
                  <a:pt x="352590" y="420870"/>
                </a:moveTo>
                <a:lnTo>
                  <a:pt x="317646" y="401432"/>
                </a:lnTo>
              </a:path>
              <a:path w="490855" h="445770">
                <a:moveTo>
                  <a:pt x="176437" y="185400"/>
                </a:moveTo>
                <a:lnTo>
                  <a:pt x="131643" y="241898"/>
                </a:lnTo>
              </a:path>
              <a:path w="490855" h="445770">
                <a:moveTo>
                  <a:pt x="299011" y="371445"/>
                </a:moveTo>
                <a:lnTo>
                  <a:pt x="299011" y="327359"/>
                </a:lnTo>
              </a:path>
              <a:path w="490855" h="445770">
                <a:moveTo>
                  <a:pt x="245576" y="109677"/>
                </a:moveTo>
                <a:lnTo>
                  <a:pt x="148803" y="54841"/>
                </a:lnTo>
              </a:path>
              <a:path w="490855" h="445770">
                <a:moveTo>
                  <a:pt x="246072" y="224746"/>
                </a:moveTo>
                <a:lnTo>
                  <a:pt x="245576" y="109677"/>
                </a:lnTo>
              </a:path>
              <a:path w="490855" h="445770">
                <a:moveTo>
                  <a:pt x="26" y="378205"/>
                </a:moveTo>
                <a:lnTo>
                  <a:pt x="0" y="288309"/>
                </a:lnTo>
              </a:path>
              <a:path w="490855" h="445770">
                <a:moveTo>
                  <a:pt x="342635" y="54644"/>
                </a:moveTo>
                <a:lnTo>
                  <a:pt x="245576" y="109677"/>
                </a:lnTo>
              </a:path>
              <a:path w="490855" h="445770">
                <a:moveTo>
                  <a:pt x="245132" y="0"/>
                </a:moveTo>
                <a:lnTo>
                  <a:pt x="148803" y="54841"/>
                </a:lnTo>
              </a:path>
              <a:path w="490855" h="445770">
                <a:moveTo>
                  <a:pt x="141332" y="420407"/>
                </a:moveTo>
                <a:lnTo>
                  <a:pt x="183143" y="395885"/>
                </a:lnTo>
              </a:path>
              <a:path w="490855" h="445770">
                <a:moveTo>
                  <a:pt x="342635" y="54644"/>
                </a:moveTo>
                <a:lnTo>
                  <a:pt x="245132" y="0"/>
                </a:lnTo>
              </a:path>
              <a:path w="490855" h="445770">
                <a:moveTo>
                  <a:pt x="193010" y="365069"/>
                </a:moveTo>
                <a:lnTo>
                  <a:pt x="192980" y="287864"/>
                </a:lnTo>
              </a:path>
              <a:path w="490855" h="445770">
                <a:moveTo>
                  <a:pt x="490456" y="275522"/>
                </a:moveTo>
                <a:lnTo>
                  <a:pt x="403825" y="225993"/>
                </a:lnTo>
              </a:path>
              <a:path w="490855" h="445770">
                <a:moveTo>
                  <a:pt x="367176" y="237602"/>
                </a:moveTo>
                <a:lnTo>
                  <a:pt x="314285" y="267995"/>
                </a:lnTo>
              </a:path>
              <a:path w="490855" h="445770">
                <a:moveTo>
                  <a:pt x="192488" y="276298"/>
                </a:moveTo>
                <a:lnTo>
                  <a:pt x="139940" y="246791"/>
                </a:lnTo>
              </a:path>
              <a:path w="490855" h="445770">
                <a:moveTo>
                  <a:pt x="87240" y="226438"/>
                </a:moveTo>
                <a:lnTo>
                  <a:pt x="12372" y="269251"/>
                </a:lnTo>
              </a:path>
              <a:path w="490855" h="445770">
                <a:moveTo>
                  <a:pt x="148173" y="157349"/>
                </a:moveTo>
                <a:lnTo>
                  <a:pt x="148095" y="66659"/>
                </a:lnTo>
              </a:path>
              <a:path w="490855" h="445770">
                <a:moveTo>
                  <a:pt x="343575" y="94514"/>
                </a:moveTo>
                <a:lnTo>
                  <a:pt x="343470" y="156341"/>
                </a:lnTo>
              </a:path>
            </a:pathLst>
          </a:custGeom>
          <a:ln w="21813">
            <a:solidFill>
              <a:srgbClr val="28282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738022" y="6063488"/>
            <a:ext cx="3821429" cy="14516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00" dirty="0">
                <a:solidFill>
                  <a:srgbClr val="161612"/>
                </a:solidFill>
                <a:latin typeface="Tahoma"/>
                <a:cs typeface="Tahoma"/>
              </a:rPr>
              <a:t>Immutable</a:t>
            </a:r>
            <a:r>
              <a:rPr sz="2100" spc="25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2100" spc="85" dirty="0">
                <a:solidFill>
                  <a:srgbClr val="161612"/>
                </a:solidFill>
                <a:latin typeface="Tahoma"/>
                <a:cs typeface="Tahoma"/>
              </a:rPr>
              <a:t>Audit</a:t>
            </a:r>
            <a:r>
              <a:rPr sz="2100" spc="65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2100" spc="40" dirty="0">
                <a:solidFill>
                  <a:srgbClr val="161612"/>
                </a:solidFill>
                <a:latin typeface="Tahoma"/>
                <a:cs typeface="Tahoma"/>
              </a:rPr>
              <a:t>Logs</a:t>
            </a:r>
            <a:endParaRPr sz="2100">
              <a:latin typeface="Tahoma"/>
              <a:cs typeface="Tahoma"/>
            </a:endParaRPr>
          </a:p>
          <a:p>
            <a:pPr marL="12700" marR="5080">
              <a:lnSpc>
                <a:spcPct val="131200"/>
              </a:lnSpc>
              <a:spcBef>
                <a:spcPts val="910"/>
              </a:spcBef>
            </a:pPr>
            <a:r>
              <a:rPr sz="1650" spc="85" dirty="0">
                <a:solidFill>
                  <a:srgbClr val="161612"/>
                </a:solidFill>
                <a:latin typeface="Tahoma"/>
                <a:cs typeface="Tahoma"/>
              </a:rPr>
              <a:t>Blockchain-</a:t>
            </a:r>
            <a:r>
              <a:rPr sz="1650" spc="95" dirty="0">
                <a:solidFill>
                  <a:srgbClr val="161612"/>
                </a:solidFill>
                <a:latin typeface="Tahoma"/>
                <a:cs typeface="Tahoma"/>
              </a:rPr>
              <a:t>backed</a:t>
            </a:r>
            <a:r>
              <a:rPr sz="1650" spc="-75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1650" spc="65" dirty="0">
                <a:solidFill>
                  <a:srgbClr val="161612"/>
                </a:solidFill>
                <a:latin typeface="Tahoma"/>
                <a:cs typeface="Tahoma"/>
              </a:rPr>
              <a:t>ledger</a:t>
            </a:r>
            <a:r>
              <a:rPr sz="1650" spc="-40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1650" spc="60" dirty="0">
                <a:solidFill>
                  <a:srgbClr val="161612"/>
                </a:solidFill>
                <a:latin typeface="Tahoma"/>
                <a:cs typeface="Tahoma"/>
              </a:rPr>
              <a:t>for</a:t>
            </a:r>
            <a:r>
              <a:rPr sz="1650" spc="-40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1650" spc="55" dirty="0">
                <a:solidFill>
                  <a:srgbClr val="161612"/>
                </a:solidFill>
                <a:latin typeface="Tahoma"/>
                <a:cs typeface="Tahoma"/>
              </a:rPr>
              <a:t>tamper- evident</a:t>
            </a:r>
            <a:r>
              <a:rPr sz="1650" spc="45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1650" dirty="0">
                <a:solidFill>
                  <a:srgbClr val="161612"/>
                </a:solidFill>
                <a:latin typeface="Tahoma"/>
                <a:cs typeface="Tahoma"/>
              </a:rPr>
              <a:t>audit</a:t>
            </a:r>
            <a:r>
              <a:rPr sz="1650" spc="40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1650" dirty="0">
                <a:solidFill>
                  <a:srgbClr val="161612"/>
                </a:solidFill>
                <a:latin typeface="Tahoma"/>
                <a:cs typeface="Tahoma"/>
              </a:rPr>
              <a:t>trails</a:t>
            </a:r>
            <a:r>
              <a:rPr sz="1650" spc="70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1650" spc="65" dirty="0">
                <a:solidFill>
                  <a:srgbClr val="161612"/>
                </a:solidFill>
                <a:latin typeface="Tahoma"/>
                <a:cs typeface="Tahoma"/>
              </a:rPr>
              <a:t>and</a:t>
            </a:r>
            <a:r>
              <a:rPr sz="1650" spc="60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1650" spc="50" dirty="0">
                <a:solidFill>
                  <a:srgbClr val="161612"/>
                </a:solidFill>
                <a:latin typeface="Tahoma"/>
                <a:cs typeface="Tahoma"/>
              </a:rPr>
              <a:t>stronger </a:t>
            </a:r>
            <a:r>
              <a:rPr sz="1650" spc="80" dirty="0">
                <a:solidFill>
                  <a:srgbClr val="161612"/>
                </a:solidFill>
                <a:latin typeface="Tahoma"/>
                <a:cs typeface="Tahoma"/>
              </a:rPr>
              <a:t>compliance</a:t>
            </a:r>
            <a:r>
              <a:rPr sz="1650" spc="-65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1650" spc="65" dirty="0">
                <a:solidFill>
                  <a:srgbClr val="161612"/>
                </a:solidFill>
                <a:latin typeface="Tahoma"/>
                <a:cs typeface="Tahoma"/>
              </a:rPr>
              <a:t>evidence.</a:t>
            </a:r>
            <a:endParaRPr sz="1650">
              <a:latin typeface="Tahoma"/>
              <a:cs typeface="Tahoma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5258701" y="5314805"/>
            <a:ext cx="441959" cy="514350"/>
            <a:chOff x="5258701" y="5314805"/>
            <a:chExt cx="441959" cy="514350"/>
          </a:xfrm>
        </p:grpSpPr>
        <p:sp>
          <p:nvSpPr>
            <p:cNvPr id="19" name="object 19"/>
            <p:cNvSpPr/>
            <p:nvPr/>
          </p:nvSpPr>
          <p:spPr>
            <a:xfrm>
              <a:off x="5542420" y="5646434"/>
              <a:ext cx="146050" cy="50800"/>
            </a:xfrm>
            <a:custGeom>
              <a:avLst/>
              <a:gdLst/>
              <a:ahLst/>
              <a:cxnLst/>
              <a:rect l="l" t="t" r="r" b="b"/>
              <a:pathLst>
                <a:path w="146050" h="50800">
                  <a:moveTo>
                    <a:pt x="145432" y="0"/>
                  </a:moveTo>
                  <a:lnTo>
                    <a:pt x="112544" y="21412"/>
                  </a:lnTo>
                  <a:lnTo>
                    <a:pt x="76437" y="35454"/>
                  </a:lnTo>
                  <a:lnTo>
                    <a:pt x="33997" y="45637"/>
                  </a:lnTo>
                  <a:lnTo>
                    <a:pt x="10987" y="49032"/>
                  </a:lnTo>
                  <a:lnTo>
                    <a:pt x="0" y="50418"/>
                  </a:lnTo>
                </a:path>
              </a:pathLst>
            </a:custGeom>
            <a:ln w="21806">
              <a:solidFill>
                <a:srgbClr val="28282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0" name="object 2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489875" y="5514905"/>
              <a:ext cx="209491" cy="76776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5341290" y="5563651"/>
              <a:ext cx="348615" cy="252729"/>
            </a:xfrm>
            <a:custGeom>
              <a:avLst/>
              <a:gdLst/>
              <a:ahLst/>
              <a:cxnLst/>
              <a:rect l="l" t="t" r="r" b="b"/>
              <a:pathLst>
                <a:path w="348614" h="252729">
                  <a:moveTo>
                    <a:pt x="113554" y="17034"/>
                  </a:moveTo>
                  <a:lnTo>
                    <a:pt x="89133" y="15038"/>
                  </a:lnTo>
                  <a:lnTo>
                    <a:pt x="66398" y="12618"/>
                  </a:lnTo>
                  <a:lnTo>
                    <a:pt x="44968" y="9726"/>
                  </a:lnTo>
                  <a:lnTo>
                    <a:pt x="24458" y="6314"/>
                  </a:lnTo>
                  <a:lnTo>
                    <a:pt x="0" y="0"/>
                  </a:lnTo>
                </a:path>
                <a:path w="348614" h="252729">
                  <a:moveTo>
                    <a:pt x="348388" y="171239"/>
                  </a:moveTo>
                  <a:lnTo>
                    <a:pt x="329340" y="211593"/>
                  </a:lnTo>
                  <a:lnTo>
                    <a:pt x="289081" y="231986"/>
                  </a:lnTo>
                  <a:lnTo>
                    <a:pt x="243804" y="244432"/>
                  </a:lnTo>
                  <a:lnTo>
                    <a:pt x="204691" y="250788"/>
                  </a:lnTo>
                  <a:lnTo>
                    <a:pt x="188465" y="252326"/>
                  </a:lnTo>
                </a:path>
              </a:pathLst>
            </a:custGeom>
            <a:ln w="21782">
              <a:solidFill>
                <a:srgbClr val="28282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2" name="object 2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258869" y="5693289"/>
              <a:ext cx="152121" cy="130297"/>
            </a:xfrm>
            <a:prstGeom prst="rect">
              <a:avLst/>
            </a:prstGeom>
          </p:spPr>
        </p:pic>
        <p:sp>
          <p:nvSpPr>
            <p:cNvPr id="23" name="object 23"/>
            <p:cNvSpPr/>
            <p:nvPr/>
          </p:nvSpPr>
          <p:spPr>
            <a:xfrm>
              <a:off x="5269785" y="5325709"/>
              <a:ext cx="420370" cy="409575"/>
            </a:xfrm>
            <a:custGeom>
              <a:avLst/>
              <a:gdLst/>
              <a:ahLst/>
              <a:cxnLst/>
              <a:rect l="l" t="t" r="r" b="b"/>
              <a:pathLst>
                <a:path w="420370" h="409575">
                  <a:moveTo>
                    <a:pt x="0" y="104098"/>
                  </a:moveTo>
                  <a:lnTo>
                    <a:pt x="117" y="90534"/>
                  </a:lnTo>
                  <a:lnTo>
                    <a:pt x="140" y="78359"/>
                  </a:lnTo>
                  <a:lnTo>
                    <a:pt x="269" y="68313"/>
                  </a:lnTo>
                  <a:lnTo>
                    <a:pt x="23670" y="34702"/>
                  </a:lnTo>
                  <a:lnTo>
                    <a:pt x="62994" y="17177"/>
                  </a:lnTo>
                  <a:lnTo>
                    <a:pt x="108514" y="6972"/>
                  </a:lnTo>
                  <a:lnTo>
                    <a:pt x="153630" y="2121"/>
                  </a:lnTo>
                  <a:lnTo>
                    <a:pt x="196247" y="127"/>
                  </a:lnTo>
                  <a:lnTo>
                    <a:pt x="215595" y="0"/>
                  </a:lnTo>
                  <a:lnTo>
                    <a:pt x="234554" y="305"/>
                  </a:lnTo>
                  <a:lnTo>
                    <a:pt x="277287" y="2998"/>
                  </a:lnTo>
                  <a:lnTo>
                    <a:pt x="324852" y="9921"/>
                  </a:lnTo>
                  <a:lnTo>
                    <a:pt x="370751" y="22519"/>
                  </a:lnTo>
                  <a:lnTo>
                    <a:pt x="405829" y="42112"/>
                  </a:lnTo>
                  <a:lnTo>
                    <a:pt x="419621" y="79362"/>
                  </a:lnTo>
                  <a:lnTo>
                    <a:pt x="419776" y="95030"/>
                  </a:lnTo>
                  <a:lnTo>
                    <a:pt x="419850" y="115459"/>
                  </a:lnTo>
                </a:path>
                <a:path w="420370" h="409575">
                  <a:moveTo>
                    <a:pt x="419850" y="319455"/>
                  </a:moveTo>
                  <a:lnTo>
                    <a:pt x="419893" y="409181"/>
                  </a:lnTo>
                </a:path>
                <a:path w="420370" h="409575">
                  <a:moveTo>
                    <a:pt x="419850" y="199167"/>
                  </a:moveTo>
                  <a:lnTo>
                    <a:pt x="418067" y="320724"/>
                  </a:lnTo>
                </a:path>
                <a:path w="420370" h="409575">
                  <a:moveTo>
                    <a:pt x="419850" y="83815"/>
                  </a:moveTo>
                  <a:lnTo>
                    <a:pt x="399598" y="98348"/>
                  </a:lnTo>
                  <a:lnTo>
                    <a:pt x="377721" y="110069"/>
                  </a:lnTo>
                  <a:lnTo>
                    <a:pt x="354513" y="118846"/>
                  </a:lnTo>
                  <a:lnTo>
                    <a:pt x="330266" y="124548"/>
                  </a:lnTo>
                </a:path>
              </a:pathLst>
            </a:custGeom>
            <a:ln w="21782">
              <a:solidFill>
                <a:srgbClr val="28282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4" name="object 2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258701" y="5633212"/>
              <a:ext cx="294625" cy="77116"/>
            </a:xfrm>
            <a:prstGeom prst="rect">
              <a:avLst/>
            </a:prstGeom>
          </p:spPr>
        </p:pic>
        <p:sp>
          <p:nvSpPr>
            <p:cNvPr id="25" name="object 25"/>
            <p:cNvSpPr/>
            <p:nvPr/>
          </p:nvSpPr>
          <p:spPr>
            <a:xfrm>
              <a:off x="5269764" y="5411439"/>
              <a:ext cx="420370" cy="406400"/>
            </a:xfrm>
            <a:custGeom>
              <a:avLst/>
              <a:gdLst/>
              <a:ahLst/>
              <a:cxnLst/>
              <a:rect l="l" t="t" r="r" b="b"/>
              <a:pathLst>
                <a:path w="420370" h="406400">
                  <a:moveTo>
                    <a:pt x="259992" y="404538"/>
                  </a:moveTo>
                  <a:lnTo>
                    <a:pt x="227581" y="406248"/>
                  </a:lnTo>
                  <a:lnTo>
                    <a:pt x="195187" y="406383"/>
                  </a:lnTo>
                  <a:lnTo>
                    <a:pt x="162780" y="404775"/>
                  </a:lnTo>
                  <a:lnTo>
                    <a:pt x="130333" y="401253"/>
                  </a:lnTo>
                </a:path>
                <a:path w="420370" h="406400">
                  <a:moveTo>
                    <a:pt x="0" y="292744"/>
                  </a:moveTo>
                  <a:lnTo>
                    <a:pt x="21" y="18369"/>
                  </a:lnTo>
                </a:path>
                <a:path w="420370" h="406400">
                  <a:moveTo>
                    <a:pt x="231015" y="169338"/>
                  </a:moveTo>
                  <a:lnTo>
                    <a:pt x="185081" y="169246"/>
                  </a:lnTo>
                </a:path>
                <a:path w="420370" h="406400">
                  <a:moveTo>
                    <a:pt x="419871" y="29729"/>
                  </a:moveTo>
                  <a:lnTo>
                    <a:pt x="418697" y="114370"/>
                  </a:lnTo>
                </a:path>
                <a:path w="420370" h="406400">
                  <a:moveTo>
                    <a:pt x="71587" y="151976"/>
                  </a:moveTo>
                  <a:lnTo>
                    <a:pt x="52061" y="145750"/>
                  </a:lnTo>
                  <a:lnTo>
                    <a:pt x="33517" y="137193"/>
                  </a:lnTo>
                  <a:lnTo>
                    <a:pt x="16159" y="126419"/>
                  </a:lnTo>
                  <a:lnTo>
                    <a:pt x="195" y="113537"/>
                  </a:lnTo>
                </a:path>
                <a:path w="420370" h="406400">
                  <a:moveTo>
                    <a:pt x="330349" y="39189"/>
                  </a:moveTo>
                  <a:lnTo>
                    <a:pt x="283305" y="47133"/>
                  </a:lnTo>
                  <a:lnTo>
                    <a:pt x="236260" y="51356"/>
                  </a:lnTo>
                  <a:lnTo>
                    <a:pt x="189215" y="51766"/>
                  </a:lnTo>
                  <a:lnTo>
                    <a:pt x="142171" y="48272"/>
                  </a:lnTo>
                  <a:lnTo>
                    <a:pt x="95132" y="40785"/>
                  </a:lnTo>
                </a:path>
                <a:path w="420370" h="406400">
                  <a:moveTo>
                    <a:pt x="95197" y="40379"/>
                  </a:moveTo>
                  <a:lnTo>
                    <a:pt x="69709" y="34711"/>
                  </a:lnTo>
                  <a:lnTo>
                    <a:pt x="45185" y="26016"/>
                  </a:lnTo>
                  <a:lnTo>
                    <a:pt x="21890" y="14408"/>
                  </a:lnTo>
                  <a:lnTo>
                    <a:pt x="91" y="0"/>
                  </a:lnTo>
                </a:path>
              </a:pathLst>
            </a:custGeom>
            <a:ln w="21782">
              <a:solidFill>
                <a:srgbClr val="28282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5199379" y="6063488"/>
            <a:ext cx="3822700" cy="14516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00" spc="110" dirty="0">
                <a:solidFill>
                  <a:srgbClr val="161612"/>
                </a:solidFill>
                <a:latin typeface="Tahoma"/>
                <a:cs typeface="Tahoma"/>
              </a:rPr>
              <a:t>Multi-</a:t>
            </a:r>
            <a:r>
              <a:rPr sz="2100" dirty="0">
                <a:solidFill>
                  <a:srgbClr val="161612"/>
                </a:solidFill>
                <a:latin typeface="Tahoma"/>
                <a:cs typeface="Tahoma"/>
              </a:rPr>
              <a:t>DB</a:t>
            </a:r>
            <a:r>
              <a:rPr sz="2100" spc="-75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2100" spc="55" dirty="0">
                <a:solidFill>
                  <a:srgbClr val="161612"/>
                </a:solidFill>
                <a:latin typeface="Tahoma"/>
                <a:cs typeface="Tahoma"/>
              </a:rPr>
              <a:t>Scalability</a:t>
            </a:r>
            <a:endParaRPr sz="2100">
              <a:latin typeface="Tahoma"/>
              <a:cs typeface="Tahoma"/>
            </a:endParaRPr>
          </a:p>
          <a:p>
            <a:pPr marL="12700" marR="5080">
              <a:lnSpc>
                <a:spcPct val="131200"/>
              </a:lnSpc>
              <a:spcBef>
                <a:spcPts val="910"/>
              </a:spcBef>
            </a:pPr>
            <a:r>
              <a:rPr sz="1650" spc="60" dirty="0">
                <a:solidFill>
                  <a:srgbClr val="161612"/>
                </a:solidFill>
                <a:latin typeface="Tahoma"/>
                <a:cs typeface="Tahoma"/>
              </a:rPr>
              <a:t>Sharding</a:t>
            </a:r>
            <a:r>
              <a:rPr sz="1650" spc="-55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1650" spc="65" dirty="0">
                <a:solidFill>
                  <a:srgbClr val="161612"/>
                </a:solidFill>
                <a:latin typeface="Tahoma"/>
                <a:cs typeface="Tahoma"/>
              </a:rPr>
              <a:t>and</a:t>
            </a:r>
            <a:r>
              <a:rPr sz="1650" spc="-50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1650" spc="80" dirty="0">
                <a:solidFill>
                  <a:srgbClr val="161612"/>
                </a:solidFill>
                <a:latin typeface="Tahoma"/>
                <a:cs typeface="Tahoma"/>
              </a:rPr>
              <a:t>read-</a:t>
            </a:r>
            <a:r>
              <a:rPr sz="1650" spc="70" dirty="0">
                <a:solidFill>
                  <a:srgbClr val="161612"/>
                </a:solidFill>
                <a:latin typeface="Tahoma"/>
                <a:cs typeface="Tahoma"/>
              </a:rPr>
              <a:t>replicas</a:t>
            </a:r>
            <a:r>
              <a:rPr sz="1650" spc="-30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1650" spc="60" dirty="0">
                <a:solidFill>
                  <a:srgbClr val="161612"/>
                </a:solidFill>
                <a:latin typeface="Tahoma"/>
                <a:cs typeface="Tahoma"/>
              </a:rPr>
              <a:t>for</a:t>
            </a:r>
            <a:r>
              <a:rPr sz="1650" spc="-40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1650" spc="65" dirty="0">
                <a:solidFill>
                  <a:srgbClr val="161612"/>
                </a:solidFill>
                <a:latin typeface="Tahoma"/>
                <a:cs typeface="Tahoma"/>
              </a:rPr>
              <a:t>high- volume</a:t>
            </a:r>
            <a:r>
              <a:rPr sz="1650" spc="20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1650" spc="10" dirty="0">
                <a:solidFill>
                  <a:srgbClr val="161612"/>
                </a:solidFill>
                <a:latin typeface="Tahoma"/>
                <a:cs typeface="Tahoma"/>
              </a:rPr>
              <a:t>throughput</a:t>
            </a:r>
            <a:r>
              <a:rPr sz="1650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1650" spc="65" dirty="0">
                <a:solidFill>
                  <a:srgbClr val="161612"/>
                </a:solidFill>
                <a:latin typeface="Tahoma"/>
                <a:cs typeface="Tahoma"/>
              </a:rPr>
              <a:t>and</a:t>
            </a:r>
            <a:r>
              <a:rPr sz="1650" spc="30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1650" spc="70" dirty="0">
                <a:solidFill>
                  <a:srgbClr val="161612"/>
                </a:solidFill>
                <a:latin typeface="Tahoma"/>
                <a:cs typeface="Tahoma"/>
              </a:rPr>
              <a:t>improved</a:t>
            </a:r>
            <a:r>
              <a:rPr sz="1650" spc="30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1650" spc="-10" dirty="0">
                <a:solidFill>
                  <a:srgbClr val="161612"/>
                </a:solidFill>
                <a:latin typeface="Tahoma"/>
                <a:cs typeface="Tahoma"/>
              </a:rPr>
              <a:t>fault </a:t>
            </a:r>
            <a:r>
              <a:rPr sz="1650" spc="40" dirty="0">
                <a:solidFill>
                  <a:srgbClr val="161612"/>
                </a:solidFill>
                <a:latin typeface="Tahoma"/>
                <a:cs typeface="Tahoma"/>
              </a:rPr>
              <a:t>tolerance.</a:t>
            </a:r>
            <a:endParaRPr sz="165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144000" y="-1"/>
            <a:ext cx="5486400" cy="8229599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81304" y="1146759"/>
            <a:ext cx="3618229" cy="7048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50" spc="170" dirty="0"/>
              <a:t>Demo</a:t>
            </a:r>
            <a:r>
              <a:rPr sz="4450" spc="-200" dirty="0"/>
              <a:t> </a:t>
            </a:r>
            <a:r>
              <a:rPr sz="4450" spc="105" dirty="0"/>
              <a:t>Outline</a:t>
            </a:r>
            <a:endParaRPr sz="4450"/>
          </a:p>
        </p:txBody>
      </p:sp>
      <p:sp>
        <p:nvSpPr>
          <p:cNvPr id="4" name="object 4"/>
          <p:cNvSpPr txBox="1"/>
          <p:nvPr/>
        </p:nvSpPr>
        <p:spPr>
          <a:xfrm>
            <a:off x="781304" y="2179497"/>
            <a:ext cx="6936105" cy="7639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38400"/>
              </a:lnSpc>
              <a:spcBef>
                <a:spcPts val="100"/>
              </a:spcBef>
            </a:pPr>
            <a:r>
              <a:rPr sz="1750" spc="70" dirty="0">
                <a:solidFill>
                  <a:srgbClr val="161612"/>
                </a:solidFill>
                <a:latin typeface="Tahoma"/>
                <a:cs typeface="Tahoma"/>
              </a:rPr>
              <a:t>Planned</a:t>
            </a:r>
            <a:r>
              <a:rPr sz="1750" spc="-15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1750" spc="55" dirty="0">
                <a:solidFill>
                  <a:srgbClr val="161612"/>
                </a:solidFill>
                <a:latin typeface="Tahoma"/>
                <a:cs typeface="Tahoma"/>
              </a:rPr>
              <a:t>live</a:t>
            </a:r>
            <a:r>
              <a:rPr sz="1750" spc="-25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1750" spc="75" dirty="0">
                <a:solidFill>
                  <a:srgbClr val="161612"/>
                </a:solidFill>
                <a:latin typeface="Tahoma"/>
                <a:cs typeface="Tahoma"/>
              </a:rPr>
              <a:t>flow</a:t>
            </a:r>
            <a:r>
              <a:rPr sz="1750" spc="-25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1750" dirty="0">
                <a:solidFill>
                  <a:srgbClr val="161612"/>
                </a:solidFill>
                <a:latin typeface="Tahoma"/>
                <a:cs typeface="Tahoma"/>
              </a:rPr>
              <a:t>to</a:t>
            </a:r>
            <a:r>
              <a:rPr sz="1750" spc="-35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1750" spc="110" dirty="0">
                <a:solidFill>
                  <a:srgbClr val="161612"/>
                </a:solidFill>
                <a:latin typeface="Tahoma"/>
                <a:cs typeface="Tahoma"/>
              </a:rPr>
              <a:t>showcase</a:t>
            </a:r>
            <a:r>
              <a:rPr sz="1750" spc="-20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1750" spc="95" dirty="0">
                <a:solidFill>
                  <a:srgbClr val="161612"/>
                </a:solidFill>
                <a:latin typeface="Tahoma"/>
                <a:cs typeface="Tahoma"/>
              </a:rPr>
              <a:t>core</a:t>
            </a:r>
            <a:r>
              <a:rPr sz="1750" spc="-30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1750" spc="65" dirty="0">
                <a:solidFill>
                  <a:srgbClr val="161612"/>
                </a:solidFill>
                <a:latin typeface="Tahoma"/>
                <a:cs typeface="Tahoma"/>
              </a:rPr>
              <a:t>capabilities</a:t>
            </a:r>
            <a:r>
              <a:rPr sz="1750" spc="10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1750" spc="100" dirty="0">
                <a:solidFill>
                  <a:srgbClr val="161612"/>
                </a:solidFill>
                <a:latin typeface="Tahoma"/>
                <a:cs typeface="Tahoma"/>
              </a:rPr>
              <a:t>end-</a:t>
            </a:r>
            <a:r>
              <a:rPr sz="1750" spc="75" dirty="0">
                <a:solidFill>
                  <a:srgbClr val="161612"/>
                </a:solidFill>
                <a:latin typeface="Tahoma"/>
                <a:cs typeface="Tahoma"/>
              </a:rPr>
              <a:t>to-</a:t>
            </a:r>
            <a:r>
              <a:rPr sz="1750" spc="50" dirty="0">
                <a:solidFill>
                  <a:srgbClr val="161612"/>
                </a:solidFill>
                <a:latin typeface="Tahoma"/>
                <a:cs typeface="Tahoma"/>
              </a:rPr>
              <a:t>end.</a:t>
            </a:r>
            <a:r>
              <a:rPr sz="1750" spc="-20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1750" spc="80" dirty="0">
                <a:solidFill>
                  <a:srgbClr val="161612"/>
                </a:solidFill>
                <a:latin typeface="Tahoma"/>
                <a:cs typeface="Tahoma"/>
              </a:rPr>
              <a:t>Keep demo</a:t>
            </a:r>
            <a:r>
              <a:rPr sz="1750" spc="30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1750" spc="105" dirty="0">
                <a:solidFill>
                  <a:srgbClr val="161612"/>
                </a:solidFill>
                <a:latin typeface="Tahoma"/>
                <a:cs typeface="Tahoma"/>
              </a:rPr>
              <a:t>focused</a:t>
            </a:r>
            <a:r>
              <a:rPr sz="1750" spc="35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1750" spc="70" dirty="0">
                <a:solidFill>
                  <a:srgbClr val="161612"/>
                </a:solidFill>
                <a:latin typeface="Tahoma"/>
                <a:cs typeface="Tahoma"/>
              </a:rPr>
              <a:t>and</a:t>
            </a:r>
            <a:r>
              <a:rPr sz="1750" spc="30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1750" spc="65" dirty="0">
                <a:solidFill>
                  <a:srgbClr val="161612"/>
                </a:solidFill>
                <a:latin typeface="Tahoma"/>
                <a:cs typeface="Tahoma"/>
              </a:rPr>
              <a:t>timeboxed</a:t>
            </a:r>
            <a:r>
              <a:rPr sz="1750" spc="35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1750" dirty="0">
                <a:solidFill>
                  <a:srgbClr val="161612"/>
                </a:solidFill>
                <a:latin typeface="Tahoma"/>
                <a:cs typeface="Tahoma"/>
              </a:rPr>
              <a:t>to</a:t>
            </a:r>
            <a:r>
              <a:rPr sz="1750" spc="25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1750" dirty="0">
                <a:solidFill>
                  <a:srgbClr val="161612"/>
                </a:solidFill>
                <a:latin typeface="Tahoma"/>
                <a:cs typeface="Tahoma"/>
              </a:rPr>
              <a:t>highlight</a:t>
            </a:r>
            <a:r>
              <a:rPr sz="1750" spc="55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1750" spc="-10" dirty="0">
                <a:solidFill>
                  <a:srgbClr val="161612"/>
                </a:solidFill>
                <a:latin typeface="Tahoma"/>
                <a:cs typeface="Tahoma"/>
              </a:rPr>
              <a:t>value.</a:t>
            </a:r>
            <a:endParaRPr sz="1750">
              <a:latin typeface="Tahoma"/>
              <a:cs typeface="Tahoma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794004" y="3221735"/>
            <a:ext cx="7556500" cy="2834640"/>
            <a:chOff x="794004" y="3221735"/>
            <a:chExt cx="7556500" cy="2834640"/>
          </a:xfrm>
        </p:grpSpPr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94004" y="3221735"/>
              <a:ext cx="7555992" cy="2834640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7262747" y="4015655"/>
              <a:ext cx="358140" cy="247650"/>
            </a:xfrm>
            <a:custGeom>
              <a:avLst/>
              <a:gdLst/>
              <a:ahLst/>
              <a:cxnLst/>
              <a:rect l="l" t="t" r="r" b="b"/>
              <a:pathLst>
                <a:path w="358140" h="247650">
                  <a:moveTo>
                    <a:pt x="358060" y="0"/>
                  </a:moveTo>
                  <a:lnTo>
                    <a:pt x="110745" y="247182"/>
                  </a:lnTo>
                </a:path>
                <a:path w="358140" h="247650">
                  <a:moveTo>
                    <a:pt x="0" y="135959"/>
                  </a:moveTo>
                  <a:lnTo>
                    <a:pt x="110745" y="247182"/>
                  </a:lnTo>
                </a:path>
              </a:pathLst>
            </a:custGeom>
            <a:ln w="15857">
              <a:solidFill>
                <a:srgbClr val="16161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7113523" y="5236590"/>
            <a:ext cx="713105" cy="448945"/>
          </a:xfrm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12700" marR="5080">
              <a:lnSpc>
                <a:spcPct val="105200"/>
              </a:lnSpc>
              <a:spcBef>
                <a:spcPts val="20"/>
              </a:spcBef>
            </a:pPr>
            <a:r>
              <a:rPr sz="1350" spc="50" dirty="0">
                <a:solidFill>
                  <a:srgbClr val="161612"/>
                </a:solidFill>
                <a:latin typeface="Tahoma"/>
                <a:cs typeface="Tahoma"/>
              </a:rPr>
              <a:t>Approve </a:t>
            </a:r>
            <a:r>
              <a:rPr sz="1350" spc="-10" dirty="0">
                <a:solidFill>
                  <a:srgbClr val="161612"/>
                </a:solidFill>
                <a:latin typeface="Tahoma"/>
                <a:cs typeface="Tahoma"/>
              </a:rPr>
              <a:t>Manager</a:t>
            </a:r>
            <a:endParaRPr sz="1350">
              <a:latin typeface="Tahoma"/>
              <a:cs typeface="Tahoma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1532130" y="3952350"/>
            <a:ext cx="4669155" cy="374015"/>
            <a:chOff x="1532130" y="3952350"/>
            <a:chExt cx="4669155" cy="374015"/>
          </a:xfrm>
        </p:grpSpPr>
        <p:sp>
          <p:nvSpPr>
            <p:cNvPr id="10" name="object 10"/>
            <p:cNvSpPr/>
            <p:nvPr/>
          </p:nvSpPr>
          <p:spPr>
            <a:xfrm>
              <a:off x="5834759" y="3967159"/>
              <a:ext cx="358140" cy="344805"/>
            </a:xfrm>
            <a:custGeom>
              <a:avLst/>
              <a:gdLst/>
              <a:ahLst/>
              <a:cxnLst/>
              <a:rect l="l" t="t" r="r" b="b"/>
              <a:pathLst>
                <a:path w="358139" h="344804">
                  <a:moveTo>
                    <a:pt x="10478" y="1046"/>
                  </a:moveTo>
                  <a:lnTo>
                    <a:pt x="91" y="14589"/>
                  </a:lnTo>
                  <a:lnTo>
                    <a:pt x="0" y="27720"/>
                  </a:lnTo>
                </a:path>
                <a:path w="358139" h="344804">
                  <a:moveTo>
                    <a:pt x="61" y="328680"/>
                  </a:moveTo>
                  <a:lnTo>
                    <a:pt x="17421" y="344158"/>
                  </a:lnTo>
                  <a:lnTo>
                    <a:pt x="20133" y="344182"/>
                  </a:lnTo>
                </a:path>
                <a:path w="358139" h="344804">
                  <a:moveTo>
                    <a:pt x="255434" y="344118"/>
                  </a:moveTo>
                  <a:lnTo>
                    <a:pt x="271271" y="328128"/>
                  </a:lnTo>
                  <a:lnTo>
                    <a:pt x="271284" y="316142"/>
                  </a:lnTo>
                </a:path>
                <a:path w="358139" h="344804">
                  <a:moveTo>
                    <a:pt x="328625" y="83394"/>
                  </a:moveTo>
                  <a:lnTo>
                    <a:pt x="323880" y="89278"/>
                  </a:lnTo>
                  <a:lnTo>
                    <a:pt x="316072" y="99175"/>
                  </a:lnTo>
                  <a:lnTo>
                    <a:pt x="305208" y="113084"/>
                  </a:lnTo>
                  <a:lnTo>
                    <a:pt x="291292" y="131005"/>
                  </a:lnTo>
                </a:path>
                <a:path w="358139" h="344804">
                  <a:moveTo>
                    <a:pt x="229570" y="210758"/>
                  </a:moveTo>
                  <a:lnTo>
                    <a:pt x="226950" y="214884"/>
                  </a:lnTo>
                  <a:lnTo>
                    <a:pt x="223247" y="222578"/>
                  </a:lnTo>
                  <a:lnTo>
                    <a:pt x="217081" y="237401"/>
                  </a:lnTo>
                  <a:lnTo>
                    <a:pt x="207069" y="262911"/>
                  </a:lnTo>
                </a:path>
                <a:path w="358139" h="344804">
                  <a:moveTo>
                    <a:pt x="157102" y="261797"/>
                  </a:moveTo>
                  <a:lnTo>
                    <a:pt x="160287" y="260979"/>
                  </a:lnTo>
                  <a:lnTo>
                    <a:pt x="163436" y="259720"/>
                  </a:lnTo>
                  <a:lnTo>
                    <a:pt x="173726" y="253887"/>
                  </a:lnTo>
                  <a:lnTo>
                    <a:pt x="178395" y="251673"/>
                  </a:lnTo>
                  <a:lnTo>
                    <a:pt x="181722" y="250671"/>
                  </a:lnTo>
                  <a:lnTo>
                    <a:pt x="185554" y="250341"/>
                  </a:lnTo>
                  <a:lnTo>
                    <a:pt x="187955" y="250579"/>
                  </a:lnTo>
                  <a:lnTo>
                    <a:pt x="190442" y="251242"/>
                  </a:lnTo>
                  <a:lnTo>
                    <a:pt x="195044" y="253450"/>
                  </a:lnTo>
                  <a:lnTo>
                    <a:pt x="197816" y="255422"/>
                  </a:lnTo>
                  <a:lnTo>
                    <a:pt x="201826" y="258578"/>
                  </a:lnTo>
                  <a:lnTo>
                    <a:pt x="207069" y="262911"/>
                  </a:lnTo>
                </a:path>
                <a:path w="358139" h="344804">
                  <a:moveTo>
                    <a:pt x="51354" y="250994"/>
                  </a:moveTo>
                  <a:lnTo>
                    <a:pt x="68076" y="215307"/>
                  </a:lnTo>
                  <a:lnTo>
                    <a:pt x="91938" y="189688"/>
                  </a:lnTo>
                  <a:lnTo>
                    <a:pt x="94263" y="189152"/>
                  </a:lnTo>
                </a:path>
                <a:path w="358139" h="344804">
                  <a:moveTo>
                    <a:pt x="103548" y="194370"/>
                  </a:moveTo>
                  <a:lnTo>
                    <a:pt x="104499" y="197671"/>
                  </a:lnTo>
                  <a:lnTo>
                    <a:pt x="104750" y="200228"/>
                  </a:lnTo>
                  <a:lnTo>
                    <a:pt x="104436" y="203498"/>
                  </a:lnTo>
                  <a:lnTo>
                    <a:pt x="103548" y="207450"/>
                  </a:lnTo>
                  <a:lnTo>
                    <a:pt x="101914" y="212299"/>
                  </a:lnTo>
                  <a:lnTo>
                    <a:pt x="100125" y="216502"/>
                  </a:lnTo>
                  <a:lnTo>
                    <a:pt x="93313" y="230171"/>
                  </a:lnTo>
                  <a:lnTo>
                    <a:pt x="89108" y="238991"/>
                  </a:lnTo>
                  <a:lnTo>
                    <a:pt x="86663" y="244688"/>
                  </a:lnTo>
                  <a:lnTo>
                    <a:pt x="85132" y="248993"/>
                  </a:lnTo>
                  <a:lnTo>
                    <a:pt x="84662" y="251312"/>
                  </a:lnTo>
                  <a:lnTo>
                    <a:pt x="84748" y="254854"/>
                  </a:lnTo>
                  <a:lnTo>
                    <a:pt x="85452" y="259079"/>
                  </a:lnTo>
                </a:path>
                <a:path w="358139" h="344804">
                  <a:moveTo>
                    <a:pt x="271464" y="70663"/>
                  </a:moveTo>
                  <a:lnTo>
                    <a:pt x="201327" y="0"/>
                  </a:lnTo>
                </a:path>
                <a:path w="358139" h="344804">
                  <a:moveTo>
                    <a:pt x="201673" y="60348"/>
                  </a:moveTo>
                  <a:lnTo>
                    <a:pt x="201327" y="0"/>
                  </a:lnTo>
                </a:path>
                <a:path w="358139" h="344804">
                  <a:moveTo>
                    <a:pt x="201673" y="60348"/>
                  </a:moveTo>
                  <a:lnTo>
                    <a:pt x="213301" y="70472"/>
                  </a:lnTo>
                  <a:lnTo>
                    <a:pt x="271464" y="70663"/>
                  </a:lnTo>
                </a:path>
                <a:path w="358139" h="344804">
                  <a:moveTo>
                    <a:pt x="10478" y="1046"/>
                  </a:moveTo>
                  <a:lnTo>
                    <a:pt x="201327" y="0"/>
                  </a:lnTo>
                </a:path>
                <a:path w="358139" h="344804">
                  <a:moveTo>
                    <a:pt x="271430" y="122631"/>
                  </a:moveTo>
                  <a:lnTo>
                    <a:pt x="271464" y="70663"/>
                  </a:lnTo>
                </a:path>
                <a:path w="358139" h="344804">
                  <a:moveTo>
                    <a:pt x="328625" y="83394"/>
                  </a:moveTo>
                  <a:lnTo>
                    <a:pt x="341218" y="78211"/>
                  </a:lnTo>
                  <a:lnTo>
                    <a:pt x="342296" y="78288"/>
                  </a:lnTo>
                  <a:lnTo>
                    <a:pt x="358060" y="96607"/>
                  </a:lnTo>
                  <a:lnTo>
                    <a:pt x="358029" y="97702"/>
                  </a:lnTo>
                  <a:lnTo>
                    <a:pt x="251992" y="237334"/>
                  </a:lnTo>
                  <a:lnTo>
                    <a:pt x="207415" y="263199"/>
                  </a:lnTo>
                </a:path>
                <a:path w="358139" h="344804">
                  <a:moveTo>
                    <a:pt x="153058" y="262216"/>
                  </a:moveTo>
                  <a:lnTo>
                    <a:pt x="157102" y="261797"/>
                  </a:lnTo>
                </a:path>
                <a:path w="358139" h="344804">
                  <a:moveTo>
                    <a:pt x="148957" y="255968"/>
                  </a:moveTo>
                  <a:lnTo>
                    <a:pt x="148103" y="233785"/>
                  </a:lnTo>
                </a:path>
                <a:path w="358139" h="344804">
                  <a:moveTo>
                    <a:pt x="148957" y="255968"/>
                  </a:moveTo>
                  <a:lnTo>
                    <a:pt x="150755" y="259606"/>
                  </a:lnTo>
                  <a:lnTo>
                    <a:pt x="153058" y="262216"/>
                  </a:lnTo>
                </a:path>
                <a:path w="358139" h="344804">
                  <a:moveTo>
                    <a:pt x="91596" y="260456"/>
                  </a:moveTo>
                  <a:lnTo>
                    <a:pt x="85452" y="259079"/>
                  </a:lnTo>
                </a:path>
                <a:path w="358139" h="344804">
                  <a:moveTo>
                    <a:pt x="91596" y="260456"/>
                  </a:moveTo>
                  <a:lnTo>
                    <a:pt x="141074" y="232145"/>
                  </a:lnTo>
                  <a:lnTo>
                    <a:pt x="141648" y="232094"/>
                  </a:lnTo>
                  <a:lnTo>
                    <a:pt x="142223" y="232085"/>
                  </a:lnTo>
                  <a:lnTo>
                    <a:pt x="142797" y="232110"/>
                  </a:lnTo>
                  <a:lnTo>
                    <a:pt x="143723" y="232218"/>
                  </a:lnTo>
                  <a:lnTo>
                    <a:pt x="144262" y="232338"/>
                  </a:lnTo>
                  <a:lnTo>
                    <a:pt x="144744" y="232465"/>
                  </a:lnTo>
                  <a:lnTo>
                    <a:pt x="145176" y="232598"/>
                  </a:lnTo>
                  <a:lnTo>
                    <a:pt x="148103" y="233785"/>
                  </a:lnTo>
                </a:path>
                <a:path w="358139" h="344804">
                  <a:moveTo>
                    <a:pt x="94263" y="189152"/>
                  </a:moveTo>
                  <a:lnTo>
                    <a:pt x="95114" y="189095"/>
                  </a:lnTo>
                </a:path>
                <a:path w="358139" h="344804">
                  <a:moveTo>
                    <a:pt x="0" y="27720"/>
                  </a:moveTo>
                  <a:lnTo>
                    <a:pt x="61" y="328680"/>
                  </a:lnTo>
                </a:path>
                <a:path w="358139" h="344804">
                  <a:moveTo>
                    <a:pt x="95114" y="189095"/>
                  </a:moveTo>
                  <a:lnTo>
                    <a:pt x="95688" y="189098"/>
                  </a:lnTo>
                  <a:lnTo>
                    <a:pt x="96344" y="189165"/>
                  </a:lnTo>
                  <a:lnTo>
                    <a:pt x="97080" y="189292"/>
                  </a:lnTo>
                </a:path>
                <a:path w="358139" h="344804">
                  <a:moveTo>
                    <a:pt x="20133" y="344182"/>
                  </a:moveTo>
                  <a:lnTo>
                    <a:pt x="255434" y="344118"/>
                  </a:lnTo>
                </a:path>
                <a:path w="358139" h="344804">
                  <a:moveTo>
                    <a:pt x="97080" y="189292"/>
                  </a:moveTo>
                  <a:lnTo>
                    <a:pt x="101537" y="191528"/>
                  </a:lnTo>
                  <a:lnTo>
                    <a:pt x="102130" y="192149"/>
                  </a:lnTo>
                </a:path>
                <a:path w="358139" h="344804">
                  <a:moveTo>
                    <a:pt x="271284" y="316142"/>
                  </a:moveTo>
                  <a:lnTo>
                    <a:pt x="271319" y="244011"/>
                  </a:lnTo>
                </a:path>
                <a:path w="358139" h="344804">
                  <a:moveTo>
                    <a:pt x="102130" y="192149"/>
                  </a:moveTo>
                  <a:lnTo>
                    <a:pt x="102954" y="193272"/>
                  </a:lnTo>
                  <a:lnTo>
                    <a:pt x="103548" y="194370"/>
                  </a:lnTo>
                </a:path>
                <a:path w="358139" h="344804">
                  <a:moveTo>
                    <a:pt x="291292" y="131005"/>
                  </a:moveTo>
                  <a:lnTo>
                    <a:pt x="229570" y="210758"/>
                  </a:lnTo>
                </a:path>
              </a:pathLst>
            </a:custGeom>
            <a:ln w="15857">
              <a:solidFill>
                <a:srgbClr val="16161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397318" y="3963766"/>
              <a:ext cx="373918" cy="350952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045173" y="4143641"/>
              <a:ext cx="74099" cy="92215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2988952" y="3960308"/>
              <a:ext cx="335280" cy="358140"/>
            </a:xfrm>
            <a:custGeom>
              <a:avLst/>
              <a:gdLst/>
              <a:ahLst/>
              <a:cxnLst/>
              <a:rect l="l" t="t" r="r" b="b"/>
              <a:pathLst>
                <a:path w="335279" h="358139">
                  <a:moveTo>
                    <a:pt x="325116" y="234756"/>
                  </a:moveTo>
                  <a:lnTo>
                    <a:pt x="304181" y="234115"/>
                  </a:lnTo>
                </a:path>
                <a:path w="335279" h="358139">
                  <a:moveTo>
                    <a:pt x="325116" y="234756"/>
                  </a:moveTo>
                  <a:lnTo>
                    <a:pt x="334663" y="286981"/>
                  </a:lnTo>
                  <a:lnTo>
                    <a:pt x="334346" y="288666"/>
                  </a:lnTo>
                  <a:lnTo>
                    <a:pt x="325687" y="297448"/>
                  </a:lnTo>
                  <a:lnTo>
                    <a:pt x="304181" y="297917"/>
                  </a:lnTo>
                </a:path>
                <a:path w="335279" h="358139">
                  <a:moveTo>
                    <a:pt x="303356" y="350000"/>
                  </a:moveTo>
                  <a:lnTo>
                    <a:pt x="304149" y="197044"/>
                  </a:lnTo>
                </a:path>
                <a:path w="335279" h="358139">
                  <a:moveTo>
                    <a:pt x="329112" y="142293"/>
                  </a:moveTo>
                  <a:lnTo>
                    <a:pt x="304181" y="139933"/>
                  </a:lnTo>
                </a:path>
                <a:path w="335279" h="358139">
                  <a:moveTo>
                    <a:pt x="329112" y="142293"/>
                  </a:moveTo>
                  <a:lnTo>
                    <a:pt x="334219" y="149049"/>
                  </a:lnTo>
                  <a:lnTo>
                    <a:pt x="333172" y="198630"/>
                  </a:lnTo>
                  <a:lnTo>
                    <a:pt x="325464" y="203844"/>
                  </a:lnTo>
                  <a:lnTo>
                    <a:pt x="304149" y="204361"/>
                  </a:lnTo>
                </a:path>
                <a:path w="335279" h="358139">
                  <a:moveTo>
                    <a:pt x="304149" y="197044"/>
                  </a:moveTo>
                  <a:lnTo>
                    <a:pt x="302722" y="5836"/>
                  </a:lnTo>
                </a:path>
                <a:path w="335279" h="358139">
                  <a:moveTo>
                    <a:pt x="331047" y="48559"/>
                  </a:moveTo>
                  <a:lnTo>
                    <a:pt x="304181" y="45229"/>
                  </a:lnTo>
                </a:path>
                <a:path w="335279" h="358139">
                  <a:moveTo>
                    <a:pt x="331047" y="48559"/>
                  </a:moveTo>
                  <a:lnTo>
                    <a:pt x="334124" y="53729"/>
                  </a:lnTo>
                  <a:lnTo>
                    <a:pt x="334092" y="102323"/>
                  </a:lnTo>
                  <a:lnTo>
                    <a:pt x="328985" y="108578"/>
                  </a:lnTo>
                  <a:lnTo>
                    <a:pt x="304181" y="110379"/>
                  </a:lnTo>
                </a:path>
                <a:path w="335279" h="358139">
                  <a:moveTo>
                    <a:pt x="302722" y="5836"/>
                  </a:moveTo>
                  <a:lnTo>
                    <a:pt x="6889" y="0"/>
                  </a:lnTo>
                  <a:lnTo>
                    <a:pt x="5671" y="444"/>
                  </a:lnTo>
                  <a:lnTo>
                    <a:pt x="0" y="348901"/>
                  </a:lnTo>
                  <a:lnTo>
                    <a:pt x="271" y="349935"/>
                  </a:lnTo>
                  <a:lnTo>
                    <a:pt x="294412" y="357897"/>
                  </a:lnTo>
                  <a:lnTo>
                    <a:pt x="296029" y="357406"/>
                  </a:lnTo>
                  <a:lnTo>
                    <a:pt x="303008" y="350895"/>
                  </a:lnTo>
                  <a:lnTo>
                    <a:pt x="303356" y="350000"/>
                  </a:lnTo>
                </a:path>
              </a:pathLst>
            </a:custGeom>
            <a:ln w="15916">
              <a:solidFill>
                <a:srgbClr val="16161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045285" y="4028374"/>
              <a:ext cx="194146" cy="217248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634531" y="4138418"/>
              <a:ext cx="118946" cy="146840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532130" y="4150956"/>
              <a:ext cx="74390" cy="134295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1561290" y="3976009"/>
              <a:ext cx="338455" cy="327025"/>
            </a:xfrm>
            <a:custGeom>
              <a:avLst/>
              <a:gdLst/>
              <a:ahLst/>
              <a:cxnLst/>
              <a:rect l="l" t="t" r="r" b="b"/>
              <a:pathLst>
                <a:path w="338455" h="327025">
                  <a:moveTo>
                    <a:pt x="195448" y="507"/>
                  </a:moveTo>
                  <a:lnTo>
                    <a:pt x="337971" y="0"/>
                  </a:lnTo>
                </a:path>
                <a:path w="338455" h="327025">
                  <a:moveTo>
                    <a:pt x="338321" y="326155"/>
                  </a:moveTo>
                  <a:lnTo>
                    <a:pt x="337971" y="0"/>
                  </a:lnTo>
                </a:path>
                <a:path w="338455" h="327025">
                  <a:moveTo>
                    <a:pt x="220734" y="326469"/>
                  </a:moveTo>
                  <a:lnTo>
                    <a:pt x="338321" y="326155"/>
                  </a:lnTo>
                </a:path>
                <a:path w="338455" h="327025">
                  <a:moveTo>
                    <a:pt x="149057" y="97717"/>
                  </a:moveTo>
                  <a:lnTo>
                    <a:pt x="143688" y="124207"/>
                  </a:lnTo>
                  <a:lnTo>
                    <a:pt x="129046" y="145838"/>
                  </a:lnTo>
                  <a:lnTo>
                    <a:pt x="107330" y="160422"/>
                  </a:lnTo>
                  <a:lnTo>
                    <a:pt x="80736" y="165770"/>
                  </a:lnTo>
                  <a:lnTo>
                    <a:pt x="54142" y="160422"/>
                  </a:lnTo>
                  <a:lnTo>
                    <a:pt x="32425" y="145838"/>
                  </a:lnTo>
                  <a:lnTo>
                    <a:pt x="17784" y="124207"/>
                  </a:lnTo>
                  <a:lnTo>
                    <a:pt x="12415" y="97717"/>
                  </a:lnTo>
                  <a:lnTo>
                    <a:pt x="17784" y="71226"/>
                  </a:lnTo>
                  <a:lnTo>
                    <a:pt x="32425" y="49592"/>
                  </a:lnTo>
                  <a:lnTo>
                    <a:pt x="54142" y="35004"/>
                  </a:lnTo>
                  <a:lnTo>
                    <a:pt x="80736" y="29655"/>
                  </a:lnTo>
                  <a:lnTo>
                    <a:pt x="107330" y="35004"/>
                  </a:lnTo>
                  <a:lnTo>
                    <a:pt x="129046" y="49592"/>
                  </a:lnTo>
                  <a:lnTo>
                    <a:pt x="143688" y="71226"/>
                  </a:lnTo>
                  <a:lnTo>
                    <a:pt x="149057" y="97717"/>
                  </a:lnTo>
                  <a:close/>
                </a:path>
                <a:path w="338455" h="327025">
                  <a:moveTo>
                    <a:pt x="162857" y="301298"/>
                  </a:moveTo>
                  <a:lnTo>
                    <a:pt x="0" y="301285"/>
                  </a:lnTo>
                </a:path>
                <a:path w="338455" h="327025">
                  <a:moveTo>
                    <a:pt x="253598" y="97315"/>
                  </a:moveTo>
                  <a:lnTo>
                    <a:pt x="303963" y="149141"/>
                  </a:lnTo>
                </a:path>
                <a:path w="338455" h="327025">
                  <a:moveTo>
                    <a:pt x="179791" y="148785"/>
                  </a:moveTo>
                  <a:lnTo>
                    <a:pt x="303963" y="149141"/>
                  </a:lnTo>
                </a:path>
                <a:path w="338455" h="327025">
                  <a:moveTo>
                    <a:pt x="253879" y="199102"/>
                  </a:moveTo>
                  <a:lnTo>
                    <a:pt x="303963" y="149141"/>
                  </a:lnTo>
                </a:path>
                <a:path w="338455" h="327025">
                  <a:moveTo>
                    <a:pt x="37274" y="182904"/>
                  </a:moveTo>
                  <a:lnTo>
                    <a:pt x="79217" y="170185"/>
                  </a:lnTo>
                </a:path>
              </a:pathLst>
            </a:custGeom>
            <a:ln w="15894">
              <a:solidFill>
                <a:srgbClr val="16161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5664834" y="5236590"/>
            <a:ext cx="737235" cy="448945"/>
          </a:xfrm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82550" marR="5080" indent="-70485">
              <a:lnSpc>
                <a:spcPct val="105200"/>
              </a:lnSpc>
              <a:spcBef>
                <a:spcPts val="20"/>
              </a:spcBef>
            </a:pPr>
            <a:r>
              <a:rPr sz="1350" spc="60" dirty="0">
                <a:solidFill>
                  <a:srgbClr val="161612"/>
                </a:solidFill>
                <a:latin typeface="Tahoma"/>
                <a:cs typeface="Tahoma"/>
              </a:rPr>
              <a:t>Create</a:t>
            </a:r>
            <a:r>
              <a:rPr sz="1350" spc="-95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1350" spc="30" dirty="0">
                <a:solidFill>
                  <a:srgbClr val="161612"/>
                </a:solidFill>
                <a:latin typeface="Tahoma"/>
                <a:cs typeface="Tahoma"/>
              </a:rPr>
              <a:t>&amp; </a:t>
            </a:r>
            <a:r>
              <a:rPr sz="1350" spc="40" dirty="0">
                <a:solidFill>
                  <a:srgbClr val="161612"/>
                </a:solidFill>
                <a:latin typeface="Tahoma"/>
                <a:cs typeface="Tahoma"/>
              </a:rPr>
              <a:t>Submit</a:t>
            </a:r>
            <a:endParaRPr sz="1350">
              <a:latin typeface="Tahoma"/>
              <a:cs typeface="Tahoma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4298696" y="5236590"/>
            <a:ext cx="612140" cy="448945"/>
          </a:xfrm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12700" marR="5080" indent="20955">
              <a:lnSpc>
                <a:spcPct val="105200"/>
              </a:lnSpc>
              <a:spcBef>
                <a:spcPts val="20"/>
              </a:spcBef>
            </a:pPr>
            <a:r>
              <a:rPr sz="1350" spc="50" dirty="0">
                <a:solidFill>
                  <a:srgbClr val="161612"/>
                </a:solidFill>
                <a:latin typeface="Tahoma"/>
                <a:cs typeface="Tahoma"/>
              </a:rPr>
              <a:t>Create </a:t>
            </a:r>
            <a:r>
              <a:rPr sz="1350" spc="45" dirty="0">
                <a:solidFill>
                  <a:srgbClr val="161612"/>
                </a:solidFill>
                <a:latin typeface="Tahoma"/>
                <a:cs typeface="Tahoma"/>
              </a:rPr>
              <a:t>Vendor</a:t>
            </a:r>
            <a:endParaRPr sz="1350">
              <a:latin typeface="Tahoma"/>
              <a:cs typeface="Tahoma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2838069" y="5236590"/>
            <a:ext cx="676275" cy="448945"/>
          </a:xfrm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12700" marR="5080" indent="31750">
              <a:lnSpc>
                <a:spcPct val="105200"/>
              </a:lnSpc>
              <a:spcBef>
                <a:spcPts val="20"/>
              </a:spcBef>
            </a:pPr>
            <a:r>
              <a:rPr sz="1350" spc="45" dirty="0">
                <a:solidFill>
                  <a:srgbClr val="161612"/>
                </a:solidFill>
                <a:latin typeface="Tahoma"/>
                <a:cs typeface="Tahoma"/>
              </a:rPr>
              <a:t>Vendor </a:t>
            </a:r>
            <a:r>
              <a:rPr sz="1350" spc="-10" dirty="0">
                <a:solidFill>
                  <a:srgbClr val="161612"/>
                </a:solidFill>
                <a:latin typeface="Tahoma"/>
                <a:cs typeface="Tahoma"/>
              </a:rPr>
              <a:t>Registry</a:t>
            </a:r>
            <a:endParaRPr sz="1350">
              <a:latin typeface="Tahoma"/>
              <a:cs typeface="Tahoma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208938" y="5346319"/>
            <a:ext cx="1014094" cy="2324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350" dirty="0">
                <a:solidFill>
                  <a:srgbClr val="161612"/>
                </a:solidFill>
                <a:latin typeface="Tahoma"/>
                <a:cs typeface="Tahoma"/>
              </a:rPr>
              <a:t>Login</a:t>
            </a:r>
            <a:r>
              <a:rPr sz="1350" spc="45" dirty="0">
                <a:solidFill>
                  <a:srgbClr val="161612"/>
                </a:solidFill>
                <a:latin typeface="Tahoma"/>
                <a:cs typeface="Tahoma"/>
              </a:rPr>
              <a:t> Admin</a:t>
            </a:r>
            <a:endParaRPr sz="1350">
              <a:latin typeface="Tahoma"/>
              <a:cs typeface="Tahoma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781304" y="6252133"/>
            <a:ext cx="7463790" cy="7632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38300"/>
              </a:lnSpc>
              <a:spcBef>
                <a:spcPts val="100"/>
              </a:spcBef>
            </a:pPr>
            <a:r>
              <a:rPr sz="1750" spc="75" dirty="0">
                <a:solidFill>
                  <a:srgbClr val="161612"/>
                </a:solidFill>
                <a:latin typeface="Tahoma"/>
                <a:cs typeface="Tahoma"/>
              </a:rPr>
              <a:t>Follow</a:t>
            </a:r>
            <a:r>
              <a:rPr sz="1750" spc="20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1750" spc="50" dirty="0">
                <a:solidFill>
                  <a:srgbClr val="161612"/>
                </a:solidFill>
                <a:latin typeface="Tahoma"/>
                <a:cs typeface="Tahoma"/>
              </a:rPr>
              <a:t>this</a:t>
            </a:r>
            <a:r>
              <a:rPr sz="1750" spc="15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1750" spc="95" dirty="0">
                <a:solidFill>
                  <a:srgbClr val="161612"/>
                </a:solidFill>
                <a:latin typeface="Tahoma"/>
                <a:cs typeface="Tahoma"/>
              </a:rPr>
              <a:t>sequence</a:t>
            </a:r>
            <a:r>
              <a:rPr sz="1750" spc="45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1750" spc="20" dirty="0">
                <a:solidFill>
                  <a:srgbClr val="161612"/>
                </a:solidFill>
                <a:latin typeface="Tahoma"/>
                <a:cs typeface="Tahoma"/>
              </a:rPr>
              <a:t>to</a:t>
            </a:r>
            <a:r>
              <a:rPr sz="1750" spc="15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1750" spc="60" dirty="0">
                <a:solidFill>
                  <a:srgbClr val="161612"/>
                </a:solidFill>
                <a:latin typeface="Tahoma"/>
                <a:cs typeface="Tahoma"/>
              </a:rPr>
              <a:t>demonstrate</a:t>
            </a:r>
            <a:r>
              <a:rPr sz="1750" spc="40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1750" spc="20" dirty="0">
                <a:solidFill>
                  <a:srgbClr val="161612"/>
                </a:solidFill>
                <a:latin typeface="Tahoma"/>
                <a:cs typeface="Tahoma"/>
              </a:rPr>
              <a:t>authentication,</a:t>
            </a:r>
            <a:r>
              <a:rPr sz="1750" spc="45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1750" spc="114" dirty="0">
                <a:solidFill>
                  <a:srgbClr val="161612"/>
                </a:solidFill>
                <a:latin typeface="Tahoma"/>
                <a:cs typeface="Tahoma"/>
              </a:rPr>
              <a:t>CRUD</a:t>
            </a:r>
            <a:r>
              <a:rPr sz="1750" spc="-20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1750" spc="45" dirty="0">
                <a:solidFill>
                  <a:srgbClr val="161612"/>
                </a:solidFill>
                <a:latin typeface="Tahoma"/>
                <a:cs typeface="Tahoma"/>
              </a:rPr>
              <a:t>operations, </a:t>
            </a:r>
            <a:r>
              <a:rPr sz="1750" spc="70" dirty="0">
                <a:solidFill>
                  <a:srgbClr val="161612"/>
                </a:solidFill>
                <a:latin typeface="Tahoma"/>
                <a:cs typeface="Tahoma"/>
              </a:rPr>
              <a:t>approval</a:t>
            </a:r>
            <a:r>
              <a:rPr sz="1750" spc="-35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1750" spc="70" dirty="0">
                <a:solidFill>
                  <a:srgbClr val="161612"/>
                </a:solidFill>
                <a:latin typeface="Tahoma"/>
                <a:cs typeface="Tahoma"/>
              </a:rPr>
              <a:t>workflow,</a:t>
            </a:r>
            <a:r>
              <a:rPr sz="1750" spc="-45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1750" spc="120" dirty="0">
                <a:solidFill>
                  <a:srgbClr val="161612"/>
                </a:solidFill>
                <a:latin typeface="Tahoma"/>
                <a:cs typeface="Tahoma"/>
              </a:rPr>
              <a:t>PO</a:t>
            </a:r>
            <a:r>
              <a:rPr sz="1750" spc="-75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1750" spc="75" dirty="0">
                <a:solidFill>
                  <a:srgbClr val="161612"/>
                </a:solidFill>
                <a:latin typeface="Tahoma"/>
                <a:cs typeface="Tahoma"/>
              </a:rPr>
              <a:t>conversion,</a:t>
            </a:r>
            <a:r>
              <a:rPr sz="1750" spc="-40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1750" spc="70" dirty="0">
                <a:solidFill>
                  <a:srgbClr val="161612"/>
                </a:solidFill>
                <a:latin typeface="Tahoma"/>
                <a:cs typeface="Tahoma"/>
              </a:rPr>
              <a:t>and</a:t>
            </a:r>
            <a:r>
              <a:rPr sz="1750" spc="-50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1750" spc="50" dirty="0">
                <a:solidFill>
                  <a:srgbClr val="161612"/>
                </a:solidFill>
                <a:latin typeface="Tahoma"/>
                <a:cs typeface="Tahoma"/>
              </a:rPr>
              <a:t>reporting</a:t>
            </a:r>
            <a:r>
              <a:rPr sz="1750" spc="-40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1750" spc="50" dirty="0">
                <a:solidFill>
                  <a:srgbClr val="161612"/>
                </a:solidFill>
                <a:latin typeface="Tahoma"/>
                <a:cs typeface="Tahoma"/>
              </a:rPr>
              <a:t>exports.</a:t>
            </a:r>
            <a:endParaRPr sz="175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144000" y="-1"/>
            <a:ext cx="5486400" cy="8229599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52983" y="782192"/>
            <a:ext cx="2449830" cy="5892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700" spc="130" dirty="0"/>
              <a:t>Conclusion</a:t>
            </a:r>
            <a:endParaRPr sz="3700"/>
          </a:p>
        </p:txBody>
      </p:sp>
      <p:sp>
        <p:nvSpPr>
          <p:cNvPr id="4" name="object 4"/>
          <p:cNvSpPr/>
          <p:nvPr/>
        </p:nvSpPr>
        <p:spPr>
          <a:xfrm>
            <a:off x="665987" y="1648967"/>
            <a:ext cx="428625" cy="428625"/>
          </a:xfrm>
          <a:custGeom>
            <a:avLst/>
            <a:gdLst/>
            <a:ahLst/>
            <a:cxnLst/>
            <a:rect l="l" t="t" r="r" b="b"/>
            <a:pathLst>
              <a:path w="428625" h="428625">
                <a:moveTo>
                  <a:pt x="399694" y="0"/>
                </a:moveTo>
                <a:lnTo>
                  <a:pt x="28549" y="0"/>
                </a:lnTo>
                <a:lnTo>
                  <a:pt x="17439" y="2250"/>
                </a:lnTo>
                <a:lnTo>
                  <a:pt x="8364" y="8381"/>
                </a:lnTo>
                <a:lnTo>
                  <a:pt x="2244" y="17466"/>
                </a:lnTo>
                <a:lnTo>
                  <a:pt x="0" y="28575"/>
                </a:lnTo>
                <a:lnTo>
                  <a:pt x="0" y="399668"/>
                </a:lnTo>
                <a:lnTo>
                  <a:pt x="2244" y="410777"/>
                </a:lnTo>
                <a:lnTo>
                  <a:pt x="8364" y="419861"/>
                </a:lnTo>
                <a:lnTo>
                  <a:pt x="17439" y="425993"/>
                </a:lnTo>
                <a:lnTo>
                  <a:pt x="28549" y="428243"/>
                </a:lnTo>
                <a:lnTo>
                  <a:pt x="399694" y="428243"/>
                </a:lnTo>
                <a:lnTo>
                  <a:pt x="410804" y="425993"/>
                </a:lnTo>
                <a:lnTo>
                  <a:pt x="419879" y="419861"/>
                </a:lnTo>
                <a:lnTo>
                  <a:pt x="425999" y="410777"/>
                </a:lnTo>
                <a:lnTo>
                  <a:pt x="428244" y="399668"/>
                </a:lnTo>
                <a:lnTo>
                  <a:pt x="428244" y="28575"/>
                </a:lnTo>
                <a:lnTo>
                  <a:pt x="425999" y="17466"/>
                </a:lnTo>
                <a:lnTo>
                  <a:pt x="419879" y="8381"/>
                </a:lnTo>
                <a:lnTo>
                  <a:pt x="410804" y="2250"/>
                </a:lnTo>
                <a:lnTo>
                  <a:pt x="399694" y="0"/>
                </a:lnTo>
                <a:close/>
              </a:path>
            </a:pathLst>
          </a:custGeom>
          <a:solidFill>
            <a:srgbClr val="ECEBE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665987" y="2985516"/>
            <a:ext cx="428625" cy="428625"/>
          </a:xfrm>
          <a:custGeom>
            <a:avLst/>
            <a:gdLst/>
            <a:ahLst/>
            <a:cxnLst/>
            <a:rect l="l" t="t" r="r" b="b"/>
            <a:pathLst>
              <a:path w="428625" h="428625">
                <a:moveTo>
                  <a:pt x="399694" y="0"/>
                </a:moveTo>
                <a:lnTo>
                  <a:pt x="28549" y="0"/>
                </a:lnTo>
                <a:lnTo>
                  <a:pt x="17439" y="2250"/>
                </a:lnTo>
                <a:lnTo>
                  <a:pt x="8364" y="8382"/>
                </a:lnTo>
                <a:lnTo>
                  <a:pt x="2244" y="17466"/>
                </a:lnTo>
                <a:lnTo>
                  <a:pt x="0" y="28575"/>
                </a:lnTo>
                <a:lnTo>
                  <a:pt x="0" y="399669"/>
                </a:lnTo>
                <a:lnTo>
                  <a:pt x="2244" y="410777"/>
                </a:lnTo>
                <a:lnTo>
                  <a:pt x="8364" y="419862"/>
                </a:lnTo>
                <a:lnTo>
                  <a:pt x="17439" y="425993"/>
                </a:lnTo>
                <a:lnTo>
                  <a:pt x="28549" y="428244"/>
                </a:lnTo>
                <a:lnTo>
                  <a:pt x="399694" y="428244"/>
                </a:lnTo>
                <a:lnTo>
                  <a:pt x="410804" y="425993"/>
                </a:lnTo>
                <a:lnTo>
                  <a:pt x="419879" y="419862"/>
                </a:lnTo>
                <a:lnTo>
                  <a:pt x="425999" y="410777"/>
                </a:lnTo>
                <a:lnTo>
                  <a:pt x="428244" y="399669"/>
                </a:lnTo>
                <a:lnTo>
                  <a:pt x="428244" y="28575"/>
                </a:lnTo>
                <a:lnTo>
                  <a:pt x="425999" y="17466"/>
                </a:lnTo>
                <a:lnTo>
                  <a:pt x="419879" y="8382"/>
                </a:lnTo>
                <a:lnTo>
                  <a:pt x="410804" y="2250"/>
                </a:lnTo>
                <a:lnTo>
                  <a:pt x="399694" y="0"/>
                </a:lnTo>
                <a:close/>
              </a:path>
            </a:pathLst>
          </a:custGeom>
          <a:solidFill>
            <a:srgbClr val="ECEBE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665987" y="4322064"/>
            <a:ext cx="428625" cy="428625"/>
          </a:xfrm>
          <a:custGeom>
            <a:avLst/>
            <a:gdLst/>
            <a:ahLst/>
            <a:cxnLst/>
            <a:rect l="l" t="t" r="r" b="b"/>
            <a:pathLst>
              <a:path w="428625" h="428625">
                <a:moveTo>
                  <a:pt x="399694" y="0"/>
                </a:moveTo>
                <a:lnTo>
                  <a:pt x="28549" y="0"/>
                </a:lnTo>
                <a:lnTo>
                  <a:pt x="17439" y="2250"/>
                </a:lnTo>
                <a:lnTo>
                  <a:pt x="8364" y="8382"/>
                </a:lnTo>
                <a:lnTo>
                  <a:pt x="2244" y="17466"/>
                </a:lnTo>
                <a:lnTo>
                  <a:pt x="0" y="28575"/>
                </a:lnTo>
                <a:lnTo>
                  <a:pt x="0" y="399669"/>
                </a:lnTo>
                <a:lnTo>
                  <a:pt x="2244" y="410777"/>
                </a:lnTo>
                <a:lnTo>
                  <a:pt x="8364" y="419862"/>
                </a:lnTo>
                <a:lnTo>
                  <a:pt x="17439" y="425993"/>
                </a:lnTo>
                <a:lnTo>
                  <a:pt x="28549" y="428244"/>
                </a:lnTo>
                <a:lnTo>
                  <a:pt x="399694" y="428244"/>
                </a:lnTo>
                <a:lnTo>
                  <a:pt x="410804" y="425993"/>
                </a:lnTo>
                <a:lnTo>
                  <a:pt x="419879" y="419862"/>
                </a:lnTo>
                <a:lnTo>
                  <a:pt x="425999" y="410777"/>
                </a:lnTo>
                <a:lnTo>
                  <a:pt x="428244" y="399669"/>
                </a:lnTo>
                <a:lnTo>
                  <a:pt x="428244" y="28575"/>
                </a:lnTo>
                <a:lnTo>
                  <a:pt x="425999" y="17466"/>
                </a:lnTo>
                <a:lnTo>
                  <a:pt x="419879" y="8382"/>
                </a:lnTo>
                <a:lnTo>
                  <a:pt x="410804" y="2250"/>
                </a:lnTo>
                <a:lnTo>
                  <a:pt x="399694" y="0"/>
                </a:lnTo>
                <a:close/>
              </a:path>
            </a:pathLst>
          </a:custGeom>
          <a:solidFill>
            <a:srgbClr val="ECEBE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665987" y="5658611"/>
            <a:ext cx="428625" cy="426720"/>
          </a:xfrm>
          <a:custGeom>
            <a:avLst/>
            <a:gdLst/>
            <a:ahLst/>
            <a:cxnLst/>
            <a:rect l="l" t="t" r="r" b="b"/>
            <a:pathLst>
              <a:path w="428625" h="426720">
                <a:moveTo>
                  <a:pt x="399796" y="0"/>
                </a:moveTo>
                <a:lnTo>
                  <a:pt x="28448" y="0"/>
                </a:lnTo>
                <a:lnTo>
                  <a:pt x="17375" y="2230"/>
                </a:lnTo>
                <a:lnTo>
                  <a:pt x="8332" y="8318"/>
                </a:lnTo>
                <a:lnTo>
                  <a:pt x="2235" y="17359"/>
                </a:lnTo>
                <a:lnTo>
                  <a:pt x="0" y="28448"/>
                </a:lnTo>
                <a:lnTo>
                  <a:pt x="0" y="398271"/>
                </a:lnTo>
                <a:lnTo>
                  <a:pt x="2235" y="409360"/>
                </a:lnTo>
                <a:lnTo>
                  <a:pt x="8332" y="418401"/>
                </a:lnTo>
                <a:lnTo>
                  <a:pt x="17375" y="424489"/>
                </a:lnTo>
                <a:lnTo>
                  <a:pt x="28448" y="426719"/>
                </a:lnTo>
                <a:lnTo>
                  <a:pt x="399796" y="426719"/>
                </a:lnTo>
                <a:lnTo>
                  <a:pt x="410868" y="424489"/>
                </a:lnTo>
                <a:lnTo>
                  <a:pt x="419911" y="418401"/>
                </a:lnTo>
                <a:lnTo>
                  <a:pt x="426008" y="409360"/>
                </a:lnTo>
                <a:lnTo>
                  <a:pt x="428244" y="398271"/>
                </a:lnTo>
                <a:lnTo>
                  <a:pt x="428244" y="28448"/>
                </a:lnTo>
                <a:lnTo>
                  <a:pt x="426008" y="17359"/>
                </a:lnTo>
                <a:lnTo>
                  <a:pt x="419911" y="8318"/>
                </a:lnTo>
                <a:lnTo>
                  <a:pt x="410868" y="2230"/>
                </a:lnTo>
                <a:lnTo>
                  <a:pt x="399796" y="0"/>
                </a:lnTo>
                <a:close/>
              </a:path>
            </a:pathLst>
          </a:custGeom>
          <a:solidFill>
            <a:srgbClr val="ECEBE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652983" y="1686890"/>
            <a:ext cx="7774940" cy="57080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99440">
              <a:lnSpc>
                <a:spcPct val="100000"/>
              </a:lnSpc>
              <a:spcBef>
                <a:spcPts val="100"/>
              </a:spcBef>
            </a:pPr>
            <a:r>
              <a:rPr sz="1850" dirty="0">
                <a:solidFill>
                  <a:srgbClr val="161612"/>
                </a:solidFill>
                <a:latin typeface="Tahoma"/>
                <a:cs typeface="Tahoma"/>
              </a:rPr>
              <a:t>Digitization</a:t>
            </a:r>
            <a:r>
              <a:rPr sz="1850" spc="185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1850" spc="100" dirty="0">
                <a:solidFill>
                  <a:srgbClr val="161612"/>
                </a:solidFill>
                <a:latin typeface="Tahoma"/>
                <a:cs typeface="Tahoma"/>
              </a:rPr>
              <a:t>&amp;</a:t>
            </a:r>
            <a:r>
              <a:rPr sz="1850" spc="105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1850" spc="55" dirty="0">
                <a:solidFill>
                  <a:srgbClr val="161612"/>
                </a:solidFill>
                <a:latin typeface="Tahoma"/>
                <a:cs typeface="Tahoma"/>
              </a:rPr>
              <a:t>Efficiency</a:t>
            </a:r>
            <a:endParaRPr sz="1850">
              <a:latin typeface="Tahoma"/>
              <a:cs typeface="Tahoma"/>
            </a:endParaRPr>
          </a:p>
          <a:p>
            <a:pPr marL="599440">
              <a:lnSpc>
                <a:spcPct val="100000"/>
              </a:lnSpc>
              <a:spcBef>
                <a:spcPts val="1200"/>
              </a:spcBef>
            </a:pPr>
            <a:r>
              <a:rPr sz="1450" spc="70" dirty="0">
                <a:solidFill>
                  <a:srgbClr val="161612"/>
                </a:solidFill>
                <a:latin typeface="Tahoma"/>
                <a:cs typeface="Tahoma"/>
              </a:rPr>
              <a:t>Replaces</a:t>
            </a:r>
            <a:r>
              <a:rPr sz="1450" spc="15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1450" spc="60" dirty="0">
                <a:solidFill>
                  <a:srgbClr val="161612"/>
                </a:solidFill>
                <a:latin typeface="Tahoma"/>
                <a:cs typeface="Tahoma"/>
              </a:rPr>
              <a:t>paper</a:t>
            </a:r>
            <a:r>
              <a:rPr sz="1450" spc="35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1450" spc="90" dirty="0">
                <a:solidFill>
                  <a:srgbClr val="161612"/>
                </a:solidFill>
                <a:latin typeface="Tahoma"/>
                <a:cs typeface="Tahoma"/>
              </a:rPr>
              <a:t>processes</a:t>
            </a:r>
            <a:r>
              <a:rPr sz="1450" dirty="0">
                <a:solidFill>
                  <a:srgbClr val="161612"/>
                </a:solidFill>
                <a:latin typeface="Tahoma"/>
                <a:cs typeface="Tahoma"/>
              </a:rPr>
              <a:t> with</a:t>
            </a:r>
            <a:r>
              <a:rPr sz="1450" spc="35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1450" dirty="0">
                <a:solidFill>
                  <a:srgbClr val="161612"/>
                </a:solidFill>
                <a:latin typeface="Tahoma"/>
                <a:cs typeface="Tahoma"/>
              </a:rPr>
              <a:t>auditable,</a:t>
            </a:r>
            <a:r>
              <a:rPr sz="1450" spc="20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1450" spc="70" dirty="0">
                <a:solidFill>
                  <a:srgbClr val="161612"/>
                </a:solidFill>
                <a:latin typeface="Tahoma"/>
                <a:cs typeface="Tahoma"/>
              </a:rPr>
              <a:t>role-</a:t>
            </a:r>
            <a:r>
              <a:rPr sz="1450" spc="80" dirty="0">
                <a:solidFill>
                  <a:srgbClr val="161612"/>
                </a:solidFill>
                <a:latin typeface="Tahoma"/>
                <a:cs typeface="Tahoma"/>
              </a:rPr>
              <a:t>based</a:t>
            </a:r>
            <a:r>
              <a:rPr sz="1450" spc="-5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1450" spc="65" dirty="0">
                <a:solidFill>
                  <a:srgbClr val="161612"/>
                </a:solidFill>
                <a:latin typeface="Tahoma"/>
                <a:cs typeface="Tahoma"/>
              </a:rPr>
              <a:t>workflows</a:t>
            </a:r>
            <a:r>
              <a:rPr sz="1450" spc="30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1450" dirty="0">
                <a:solidFill>
                  <a:srgbClr val="161612"/>
                </a:solidFill>
                <a:latin typeface="Tahoma"/>
                <a:cs typeface="Tahoma"/>
              </a:rPr>
              <a:t>that</a:t>
            </a:r>
            <a:r>
              <a:rPr sz="1450" spc="15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1450" spc="75" dirty="0">
                <a:solidFill>
                  <a:srgbClr val="161612"/>
                </a:solidFill>
                <a:latin typeface="Tahoma"/>
                <a:cs typeface="Tahoma"/>
              </a:rPr>
              <a:t>reduce</a:t>
            </a:r>
            <a:r>
              <a:rPr sz="1450" spc="30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1450" spc="80" dirty="0">
                <a:solidFill>
                  <a:srgbClr val="161612"/>
                </a:solidFill>
                <a:latin typeface="Tahoma"/>
                <a:cs typeface="Tahoma"/>
              </a:rPr>
              <a:t>cycle</a:t>
            </a:r>
            <a:endParaRPr sz="1450">
              <a:latin typeface="Tahoma"/>
              <a:cs typeface="Tahoma"/>
            </a:endParaRPr>
          </a:p>
          <a:p>
            <a:pPr marL="599440">
              <a:lnSpc>
                <a:spcPct val="100000"/>
              </a:lnSpc>
              <a:spcBef>
                <a:spcPts val="455"/>
              </a:spcBef>
            </a:pPr>
            <a:r>
              <a:rPr sz="1450" spc="-20" dirty="0">
                <a:solidFill>
                  <a:srgbClr val="161612"/>
                </a:solidFill>
                <a:latin typeface="Tahoma"/>
                <a:cs typeface="Tahoma"/>
              </a:rPr>
              <a:t>time.</a:t>
            </a:r>
            <a:endParaRPr sz="145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415"/>
              </a:spcBef>
            </a:pPr>
            <a:endParaRPr sz="1450">
              <a:latin typeface="Tahoma"/>
              <a:cs typeface="Tahoma"/>
            </a:endParaRPr>
          </a:p>
          <a:p>
            <a:pPr marL="599440">
              <a:lnSpc>
                <a:spcPct val="100000"/>
              </a:lnSpc>
              <a:spcBef>
                <a:spcPts val="5"/>
              </a:spcBef>
            </a:pPr>
            <a:r>
              <a:rPr sz="1850" spc="70" dirty="0">
                <a:solidFill>
                  <a:srgbClr val="161612"/>
                </a:solidFill>
                <a:latin typeface="Tahoma"/>
                <a:cs typeface="Tahoma"/>
              </a:rPr>
              <a:t>Security</a:t>
            </a:r>
            <a:r>
              <a:rPr sz="1850" spc="-60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1850" spc="100" dirty="0">
                <a:solidFill>
                  <a:srgbClr val="161612"/>
                </a:solidFill>
                <a:latin typeface="Tahoma"/>
                <a:cs typeface="Tahoma"/>
              </a:rPr>
              <a:t>&amp;</a:t>
            </a:r>
            <a:r>
              <a:rPr sz="1850" spc="-80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1850" spc="125" dirty="0">
                <a:solidFill>
                  <a:srgbClr val="161612"/>
                </a:solidFill>
                <a:latin typeface="Tahoma"/>
                <a:cs typeface="Tahoma"/>
              </a:rPr>
              <a:t>Access</a:t>
            </a:r>
            <a:r>
              <a:rPr sz="1850" spc="-85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1850" spc="55" dirty="0">
                <a:solidFill>
                  <a:srgbClr val="161612"/>
                </a:solidFill>
                <a:latin typeface="Tahoma"/>
                <a:cs typeface="Tahoma"/>
              </a:rPr>
              <a:t>Control</a:t>
            </a:r>
            <a:endParaRPr sz="1850">
              <a:latin typeface="Tahoma"/>
              <a:cs typeface="Tahoma"/>
            </a:endParaRPr>
          </a:p>
          <a:p>
            <a:pPr marL="599440" marR="268605">
              <a:lnSpc>
                <a:spcPct val="126200"/>
              </a:lnSpc>
              <a:spcBef>
                <a:spcPts val="745"/>
              </a:spcBef>
            </a:pPr>
            <a:r>
              <a:rPr sz="1450" spc="80" dirty="0">
                <a:solidFill>
                  <a:srgbClr val="161612"/>
                </a:solidFill>
                <a:latin typeface="Tahoma"/>
                <a:cs typeface="Tahoma"/>
              </a:rPr>
              <a:t>Token-based</a:t>
            </a:r>
            <a:r>
              <a:rPr sz="1450" spc="5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1450" dirty="0">
                <a:solidFill>
                  <a:srgbClr val="161612"/>
                </a:solidFill>
                <a:latin typeface="Tahoma"/>
                <a:cs typeface="Tahoma"/>
              </a:rPr>
              <a:t>auth </a:t>
            </a:r>
            <a:r>
              <a:rPr sz="1450" spc="55" dirty="0">
                <a:solidFill>
                  <a:srgbClr val="161612"/>
                </a:solidFill>
                <a:latin typeface="Tahoma"/>
                <a:cs typeface="Tahoma"/>
              </a:rPr>
              <a:t>and</a:t>
            </a:r>
            <a:r>
              <a:rPr sz="1450" spc="15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1450" dirty="0">
                <a:solidFill>
                  <a:srgbClr val="161612"/>
                </a:solidFill>
                <a:latin typeface="Tahoma"/>
                <a:cs typeface="Tahoma"/>
              </a:rPr>
              <a:t>role</a:t>
            </a:r>
            <a:r>
              <a:rPr sz="1450" spc="10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1450" spc="60" dirty="0">
                <a:solidFill>
                  <a:srgbClr val="161612"/>
                </a:solidFill>
                <a:latin typeface="Tahoma"/>
                <a:cs typeface="Tahoma"/>
              </a:rPr>
              <a:t>enforcement</a:t>
            </a:r>
            <a:r>
              <a:rPr sz="1450" spc="20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1450" spc="50" dirty="0">
                <a:solidFill>
                  <a:srgbClr val="161612"/>
                </a:solidFill>
                <a:latin typeface="Tahoma"/>
                <a:cs typeface="Tahoma"/>
              </a:rPr>
              <a:t>protect</a:t>
            </a:r>
            <a:r>
              <a:rPr sz="1450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1450" spc="55" dirty="0">
                <a:solidFill>
                  <a:srgbClr val="161612"/>
                </a:solidFill>
                <a:latin typeface="Tahoma"/>
                <a:cs typeface="Tahoma"/>
              </a:rPr>
              <a:t>sensitive</a:t>
            </a:r>
            <a:r>
              <a:rPr sz="1450" spc="15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1450" spc="55" dirty="0">
                <a:solidFill>
                  <a:srgbClr val="161612"/>
                </a:solidFill>
                <a:latin typeface="Tahoma"/>
                <a:cs typeface="Tahoma"/>
              </a:rPr>
              <a:t>procurement</a:t>
            </a:r>
            <a:r>
              <a:rPr sz="1450" spc="10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1450" spc="45" dirty="0">
                <a:solidFill>
                  <a:srgbClr val="161612"/>
                </a:solidFill>
                <a:latin typeface="Tahoma"/>
                <a:cs typeface="Tahoma"/>
              </a:rPr>
              <a:t>actions </a:t>
            </a:r>
            <a:r>
              <a:rPr sz="1450" spc="55" dirty="0">
                <a:solidFill>
                  <a:srgbClr val="161612"/>
                </a:solidFill>
                <a:latin typeface="Tahoma"/>
                <a:cs typeface="Tahoma"/>
              </a:rPr>
              <a:t>and</a:t>
            </a:r>
            <a:r>
              <a:rPr sz="1450" spc="-35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1450" spc="-20" dirty="0">
                <a:solidFill>
                  <a:srgbClr val="161612"/>
                </a:solidFill>
                <a:latin typeface="Tahoma"/>
                <a:cs typeface="Tahoma"/>
              </a:rPr>
              <a:t>data.</a:t>
            </a:r>
            <a:endParaRPr sz="145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410"/>
              </a:spcBef>
            </a:pPr>
            <a:endParaRPr sz="1450">
              <a:latin typeface="Tahoma"/>
              <a:cs typeface="Tahoma"/>
            </a:endParaRPr>
          </a:p>
          <a:p>
            <a:pPr marL="599440">
              <a:lnSpc>
                <a:spcPct val="100000"/>
              </a:lnSpc>
            </a:pPr>
            <a:r>
              <a:rPr sz="1850" dirty="0">
                <a:solidFill>
                  <a:srgbClr val="161612"/>
                </a:solidFill>
                <a:latin typeface="Tahoma"/>
                <a:cs typeface="Tahoma"/>
              </a:rPr>
              <a:t>Reporting</a:t>
            </a:r>
            <a:r>
              <a:rPr sz="1850" spc="150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1850" spc="100" dirty="0">
                <a:solidFill>
                  <a:srgbClr val="161612"/>
                </a:solidFill>
                <a:latin typeface="Tahoma"/>
                <a:cs typeface="Tahoma"/>
              </a:rPr>
              <a:t>&amp;</a:t>
            </a:r>
            <a:r>
              <a:rPr sz="1850" spc="80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1850" spc="65" dirty="0">
                <a:solidFill>
                  <a:srgbClr val="161612"/>
                </a:solidFill>
                <a:latin typeface="Tahoma"/>
                <a:cs typeface="Tahoma"/>
              </a:rPr>
              <a:t>Compliance</a:t>
            </a:r>
            <a:endParaRPr sz="1850">
              <a:latin typeface="Tahoma"/>
              <a:cs typeface="Tahoma"/>
            </a:endParaRPr>
          </a:p>
          <a:p>
            <a:pPr marL="599440" marR="552450">
              <a:lnSpc>
                <a:spcPct val="126200"/>
              </a:lnSpc>
              <a:spcBef>
                <a:spcPts val="750"/>
              </a:spcBef>
            </a:pPr>
            <a:r>
              <a:rPr sz="1450" spc="55" dirty="0">
                <a:solidFill>
                  <a:srgbClr val="161612"/>
                </a:solidFill>
                <a:latin typeface="Tahoma"/>
                <a:cs typeface="Tahoma"/>
              </a:rPr>
              <a:t>Exportable</a:t>
            </a:r>
            <a:r>
              <a:rPr sz="1450" spc="-35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1450" spc="55" dirty="0">
                <a:solidFill>
                  <a:srgbClr val="161612"/>
                </a:solidFill>
                <a:latin typeface="Tahoma"/>
                <a:cs typeface="Tahoma"/>
              </a:rPr>
              <a:t>reports</a:t>
            </a:r>
            <a:r>
              <a:rPr sz="1450" spc="-30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1450" spc="55" dirty="0">
                <a:solidFill>
                  <a:srgbClr val="161612"/>
                </a:solidFill>
                <a:latin typeface="Tahoma"/>
                <a:cs typeface="Tahoma"/>
              </a:rPr>
              <a:t>and</a:t>
            </a:r>
            <a:r>
              <a:rPr sz="1450" spc="-15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1450" spc="45" dirty="0">
                <a:solidFill>
                  <a:srgbClr val="161612"/>
                </a:solidFill>
                <a:latin typeface="Tahoma"/>
                <a:cs typeface="Tahoma"/>
              </a:rPr>
              <a:t>detailed</a:t>
            </a:r>
            <a:r>
              <a:rPr sz="1450" spc="-35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1450" dirty="0">
                <a:solidFill>
                  <a:srgbClr val="161612"/>
                </a:solidFill>
                <a:latin typeface="Tahoma"/>
                <a:cs typeface="Tahoma"/>
              </a:rPr>
              <a:t>audit</a:t>
            </a:r>
            <a:r>
              <a:rPr sz="1450" spc="-25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1450" spc="70" dirty="0">
                <a:solidFill>
                  <a:srgbClr val="161612"/>
                </a:solidFill>
                <a:latin typeface="Tahoma"/>
                <a:cs typeface="Tahoma"/>
              </a:rPr>
              <a:t>logs</a:t>
            </a:r>
            <a:r>
              <a:rPr sz="1450" spc="-15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1450" spc="55" dirty="0">
                <a:solidFill>
                  <a:srgbClr val="161612"/>
                </a:solidFill>
                <a:latin typeface="Tahoma"/>
                <a:cs typeface="Tahoma"/>
              </a:rPr>
              <a:t>support</a:t>
            </a:r>
            <a:r>
              <a:rPr sz="1450" spc="-30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1450" spc="70" dirty="0">
                <a:solidFill>
                  <a:srgbClr val="161612"/>
                </a:solidFill>
                <a:latin typeface="Tahoma"/>
                <a:cs typeface="Tahoma"/>
              </a:rPr>
              <a:t>governance</a:t>
            </a:r>
            <a:r>
              <a:rPr sz="1450" spc="-10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1450" spc="55" dirty="0">
                <a:solidFill>
                  <a:srgbClr val="161612"/>
                </a:solidFill>
                <a:latin typeface="Tahoma"/>
                <a:cs typeface="Tahoma"/>
              </a:rPr>
              <a:t>and</a:t>
            </a:r>
            <a:r>
              <a:rPr sz="1450" spc="-10" dirty="0">
                <a:solidFill>
                  <a:srgbClr val="161612"/>
                </a:solidFill>
                <a:latin typeface="Tahoma"/>
                <a:cs typeface="Tahoma"/>
              </a:rPr>
              <a:t> financial reconciliation.</a:t>
            </a:r>
            <a:endParaRPr sz="145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415"/>
              </a:spcBef>
            </a:pPr>
            <a:endParaRPr sz="1450">
              <a:latin typeface="Tahoma"/>
              <a:cs typeface="Tahoma"/>
            </a:endParaRPr>
          </a:p>
          <a:p>
            <a:pPr marL="599440">
              <a:lnSpc>
                <a:spcPct val="100000"/>
              </a:lnSpc>
            </a:pPr>
            <a:r>
              <a:rPr sz="1850" spc="55" dirty="0">
                <a:solidFill>
                  <a:srgbClr val="161612"/>
                </a:solidFill>
                <a:latin typeface="Tahoma"/>
                <a:cs typeface="Tahoma"/>
              </a:rPr>
              <a:t>Scalable</a:t>
            </a:r>
            <a:r>
              <a:rPr sz="1850" spc="-35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1850" spc="65" dirty="0">
                <a:solidFill>
                  <a:srgbClr val="161612"/>
                </a:solidFill>
                <a:latin typeface="Tahoma"/>
                <a:cs typeface="Tahoma"/>
              </a:rPr>
              <a:t>Architecture</a:t>
            </a:r>
            <a:endParaRPr sz="1850">
              <a:latin typeface="Tahoma"/>
              <a:cs typeface="Tahoma"/>
            </a:endParaRPr>
          </a:p>
          <a:p>
            <a:pPr marL="599440" marR="225425">
              <a:lnSpc>
                <a:spcPct val="126200"/>
              </a:lnSpc>
              <a:spcBef>
                <a:spcPts val="745"/>
              </a:spcBef>
            </a:pPr>
            <a:r>
              <a:rPr sz="1450" spc="65" dirty="0">
                <a:solidFill>
                  <a:srgbClr val="161612"/>
                </a:solidFill>
                <a:latin typeface="Tahoma"/>
                <a:cs typeface="Tahoma"/>
              </a:rPr>
              <a:t>Designed</a:t>
            </a:r>
            <a:r>
              <a:rPr sz="1450" spc="20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1450" spc="55" dirty="0">
                <a:solidFill>
                  <a:srgbClr val="161612"/>
                </a:solidFill>
                <a:latin typeface="Tahoma"/>
                <a:cs typeface="Tahoma"/>
              </a:rPr>
              <a:t>for</a:t>
            </a:r>
            <a:r>
              <a:rPr sz="1450" spc="20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1450" spc="45" dirty="0">
                <a:solidFill>
                  <a:srgbClr val="161612"/>
                </a:solidFill>
                <a:latin typeface="Tahoma"/>
                <a:cs typeface="Tahoma"/>
              </a:rPr>
              <a:t>modular</a:t>
            </a:r>
            <a:r>
              <a:rPr sz="1450" spc="10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1450" dirty="0">
                <a:solidFill>
                  <a:srgbClr val="161612"/>
                </a:solidFill>
                <a:latin typeface="Tahoma"/>
                <a:cs typeface="Tahoma"/>
              </a:rPr>
              <a:t>growth;</a:t>
            </a:r>
            <a:r>
              <a:rPr sz="1450" spc="5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1450" spc="50" dirty="0">
                <a:solidFill>
                  <a:srgbClr val="161612"/>
                </a:solidFill>
                <a:latin typeface="Tahoma"/>
                <a:cs typeface="Tahoma"/>
              </a:rPr>
              <a:t>roadmap</a:t>
            </a:r>
            <a:r>
              <a:rPr sz="1450" spc="15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1450" spc="80" dirty="0">
                <a:solidFill>
                  <a:srgbClr val="161612"/>
                </a:solidFill>
                <a:latin typeface="Tahoma"/>
                <a:cs typeface="Tahoma"/>
              </a:rPr>
              <a:t>addresses</a:t>
            </a:r>
            <a:r>
              <a:rPr sz="1450" spc="-10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1450" spc="50" dirty="0">
                <a:solidFill>
                  <a:srgbClr val="161612"/>
                </a:solidFill>
                <a:latin typeface="Tahoma"/>
                <a:cs typeface="Tahoma"/>
              </a:rPr>
              <a:t>enterprise</a:t>
            </a:r>
            <a:r>
              <a:rPr sz="1450" spc="10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1450" spc="80" dirty="0">
                <a:solidFill>
                  <a:srgbClr val="161612"/>
                </a:solidFill>
                <a:latin typeface="Tahoma"/>
                <a:cs typeface="Tahoma"/>
              </a:rPr>
              <a:t>needs</a:t>
            </a:r>
            <a:r>
              <a:rPr sz="1450" spc="15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1450" dirty="0">
                <a:solidFill>
                  <a:srgbClr val="161612"/>
                </a:solidFill>
                <a:latin typeface="Tahoma"/>
                <a:cs typeface="Tahoma"/>
              </a:rPr>
              <a:t>like</a:t>
            </a:r>
            <a:r>
              <a:rPr sz="1450" spc="30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1450" spc="50" dirty="0">
                <a:solidFill>
                  <a:srgbClr val="161612"/>
                </a:solidFill>
                <a:latin typeface="Tahoma"/>
                <a:cs typeface="Tahoma"/>
              </a:rPr>
              <a:t>scaling </a:t>
            </a:r>
            <a:r>
              <a:rPr sz="1450" spc="55" dirty="0">
                <a:solidFill>
                  <a:srgbClr val="161612"/>
                </a:solidFill>
                <a:latin typeface="Tahoma"/>
                <a:cs typeface="Tahoma"/>
              </a:rPr>
              <a:t>and</a:t>
            </a:r>
            <a:r>
              <a:rPr sz="1450" spc="-35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1450" spc="-10" dirty="0">
                <a:solidFill>
                  <a:srgbClr val="161612"/>
                </a:solidFill>
                <a:latin typeface="Tahoma"/>
                <a:cs typeface="Tahoma"/>
              </a:rPr>
              <a:t>integrations.</a:t>
            </a:r>
            <a:endParaRPr sz="1450">
              <a:latin typeface="Tahoma"/>
              <a:cs typeface="Tahoma"/>
            </a:endParaRPr>
          </a:p>
          <a:p>
            <a:pPr marL="12700" marR="123825">
              <a:lnSpc>
                <a:spcPct val="126200"/>
              </a:lnSpc>
              <a:spcBef>
                <a:spcPts val="1425"/>
              </a:spcBef>
            </a:pPr>
            <a:r>
              <a:rPr sz="1450" spc="60" dirty="0">
                <a:solidFill>
                  <a:srgbClr val="161612"/>
                </a:solidFill>
                <a:latin typeface="Tahoma"/>
                <a:cs typeface="Tahoma"/>
              </a:rPr>
              <a:t>The</a:t>
            </a:r>
            <a:r>
              <a:rPr sz="1450" spc="45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1450" spc="70" dirty="0">
                <a:solidFill>
                  <a:srgbClr val="161612"/>
                </a:solidFill>
                <a:latin typeface="Tahoma"/>
                <a:cs typeface="Tahoma"/>
              </a:rPr>
              <a:t>system</a:t>
            </a:r>
            <a:r>
              <a:rPr sz="1450" spc="25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1450" spc="55" dirty="0">
                <a:solidFill>
                  <a:srgbClr val="161612"/>
                </a:solidFill>
                <a:latin typeface="Tahoma"/>
                <a:cs typeface="Tahoma"/>
              </a:rPr>
              <a:t>delivers</a:t>
            </a:r>
            <a:r>
              <a:rPr sz="1450" spc="30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1450" spc="10" dirty="0">
                <a:solidFill>
                  <a:srgbClr val="161612"/>
                </a:solidFill>
                <a:latin typeface="Tahoma"/>
                <a:cs typeface="Tahoma"/>
              </a:rPr>
              <a:t>a</a:t>
            </a:r>
            <a:r>
              <a:rPr sz="1450" spc="55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1450" spc="10" dirty="0">
                <a:solidFill>
                  <a:srgbClr val="161612"/>
                </a:solidFill>
                <a:latin typeface="Tahoma"/>
                <a:cs typeface="Tahoma"/>
              </a:rPr>
              <a:t>pragmatic,</a:t>
            </a:r>
            <a:r>
              <a:rPr sz="1450" spc="15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1450" spc="80" dirty="0">
                <a:solidFill>
                  <a:srgbClr val="161612"/>
                </a:solidFill>
                <a:latin typeface="Tahoma"/>
                <a:cs typeface="Tahoma"/>
              </a:rPr>
              <a:t>secure</a:t>
            </a:r>
            <a:r>
              <a:rPr sz="1450" spc="30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1450" spc="10" dirty="0">
                <a:solidFill>
                  <a:srgbClr val="161612"/>
                </a:solidFill>
                <a:latin typeface="Tahoma"/>
                <a:cs typeface="Tahoma"/>
              </a:rPr>
              <a:t>foundation</a:t>
            </a:r>
            <a:r>
              <a:rPr sz="1450" spc="50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1450" spc="55" dirty="0">
                <a:solidFill>
                  <a:srgbClr val="161612"/>
                </a:solidFill>
                <a:latin typeface="Tahoma"/>
                <a:cs typeface="Tahoma"/>
              </a:rPr>
              <a:t>for</a:t>
            </a:r>
            <a:r>
              <a:rPr sz="1450" spc="45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1450" spc="60" dirty="0">
                <a:solidFill>
                  <a:srgbClr val="161612"/>
                </a:solidFill>
                <a:latin typeface="Tahoma"/>
                <a:cs typeface="Tahoma"/>
              </a:rPr>
              <a:t>modern</a:t>
            </a:r>
            <a:r>
              <a:rPr sz="1450" spc="40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1450" spc="55" dirty="0">
                <a:solidFill>
                  <a:srgbClr val="161612"/>
                </a:solidFill>
                <a:latin typeface="Tahoma"/>
                <a:cs typeface="Tahoma"/>
              </a:rPr>
              <a:t>procurement</a:t>
            </a:r>
            <a:r>
              <a:rPr sz="1450" spc="45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1450" spc="10" dirty="0">
                <a:solidFill>
                  <a:srgbClr val="161612"/>
                </a:solidFill>
                <a:latin typeface="Tahoma"/>
                <a:cs typeface="Tahoma"/>
              </a:rPr>
              <a:t>with</a:t>
            </a:r>
            <a:r>
              <a:rPr sz="1450" spc="50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1450" spc="45" dirty="0">
                <a:solidFill>
                  <a:srgbClr val="161612"/>
                </a:solidFill>
                <a:latin typeface="Tahoma"/>
                <a:cs typeface="Tahoma"/>
              </a:rPr>
              <a:t>clear </a:t>
            </a:r>
            <a:r>
              <a:rPr sz="1450" spc="60" dirty="0">
                <a:solidFill>
                  <a:srgbClr val="161612"/>
                </a:solidFill>
                <a:latin typeface="Tahoma"/>
                <a:cs typeface="Tahoma"/>
              </a:rPr>
              <a:t>upgrade</a:t>
            </a:r>
            <a:r>
              <a:rPr sz="1450" spc="-35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1450" spc="50" dirty="0">
                <a:solidFill>
                  <a:srgbClr val="161612"/>
                </a:solidFill>
                <a:latin typeface="Tahoma"/>
                <a:cs typeface="Tahoma"/>
              </a:rPr>
              <a:t>paths</a:t>
            </a:r>
            <a:r>
              <a:rPr sz="1450" spc="-30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1450" spc="55" dirty="0">
                <a:solidFill>
                  <a:srgbClr val="161612"/>
                </a:solidFill>
                <a:latin typeface="Tahoma"/>
                <a:cs typeface="Tahoma"/>
              </a:rPr>
              <a:t>for</a:t>
            </a:r>
            <a:r>
              <a:rPr sz="1450" spc="-40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1450" spc="50" dirty="0">
                <a:solidFill>
                  <a:srgbClr val="161612"/>
                </a:solidFill>
                <a:latin typeface="Tahoma"/>
                <a:cs typeface="Tahoma"/>
              </a:rPr>
              <a:t>enterprise</a:t>
            </a:r>
            <a:r>
              <a:rPr sz="1450" spc="-35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1450" spc="-10" dirty="0">
                <a:solidFill>
                  <a:srgbClr val="161612"/>
                </a:solidFill>
                <a:latin typeface="Tahoma"/>
                <a:cs typeface="Tahoma"/>
              </a:rPr>
              <a:t>adoption.</a:t>
            </a:r>
            <a:endParaRPr sz="145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81304" y="1203147"/>
            <a:ext cx="2724150" cy="7048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50" dirty="0"/>
              <a:t>Thank</a:t>
            </a:r>
            <a:r>
              <a:rPr sz="4450" spc="-90" dirty="0"/>
              <a:t> </a:t>
            </a:r>
            <a:r>
              <a:rPr sz="4450" spc="70" dirty="0"/>
              <a:t>You</a:t>
            </a:r>
            <a:endParaRPr sz="4450"/>
          </a:p>
        </p:txBody>
      </p:sp>
      <p:sp>
        <p:nvSpPr>
          <p:cNvPr id="3" name="object 3"/>
          <p:cNvSpPr txBox="1"/>
          <p:nvPr/>
        </p:nvSpPr>
        <p:spPr>
          <a:xfrm>
            <a:off x="781304" y="2337942"/>
            <a:ext cx="2493645" cy="2927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50" spc="75" dirty="0">
                <a:solidFill>
                  <a:srgbClr val="161612"/>
                </a:solidFill>
                <a:latin typeface="Tahoma"/>
                <a:cs typeface="Tahoma"/>
              </a:rPr>
              <a:t>Questions</a:t>
            </a:r>
            <a:r>
              <a:rPr sz="1750" spc="-75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1750" dirty="0">
                <a:solidFill>
                  <a:srgbClr val="161612"/>
                </a:solidFill>
                <a:latin typeface="Tahoma"/>
                <a:cs typeface="Tahoma"/>
              </a:rPr>
              <a:t>&amp;</a:t>
            </a:r>
            <a:r>
              <a:rPr sz="1750" spc="-75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1750" spc="80" dirty="0">
                <a:solidFill>
                  <a:srgbClr val="161612"/>
                </a:solidFill>
                <a:latin typeface="Tahoma"/>
                <a:cs typeface="Tahoma"/>
              </a:rPr>
              <a:t>Discussion</a:t>
            </a:r>
            <a:endParaRPr sz="1750">
              <a:latin typeface="Tahoma"/>
              <a:cs typeface="Tahoma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778763" y="2900172"/>
            <a:ext cx="3695700" cy="4097020"/>
            <a:chOff x="778763" y="2900172"/>
            <a:chExt cx="3695700" cy="4097020"/>
          </a:xfrm>
        </p:grpSpPr>
        <p:sp>
          <p:nvSpPr>
            <p:cNvPr id="5" name="object 5"/>
            <p:cNvSpPr/>
            <p:nvPr/>
          </p:nvSpPr>
          <p:spPr>
            <a:xfrm>
              <a:off x="794003" y="2915412"/>
              <a:ext cx="3665220" cy="4066540"/>
            </a:xfrm>
            <a:custGeom>
              <a:avLst/>
              <a:gdLst/>
              <a:ahLst/>
              <a:cxnLst/>
              <a:rect l="l" t="t" r="r" b="b"/>
              <a:pathLst>
                <a:path w="3665220" h="4066540">
                  <a:moveTo>
                    <a:pt x="3631184" y="0"/>
                  </a:moveTo>
                  <a:lnTo>
                    <a:pt x="34010" y="0"/>
                  </a:lnTo>
                  <a:lnTo>
                    <a:pt x="20772" y="2674"/>
                  </a:lnTo>
                  <a:lnTo>
                    <a:pt x="9961" y="9969"/>
                  </a:lnTo>
                  <a:lnTo>
                    <a:pt x="2672" y="20788"/>
                  </a:lnTo>
                  <a:lnTo>
                    <a:pt x="0" y="34036"/>
                  </a:lnTo>
                  <a:lnTo>
                    <a:pt x="0" y="4031996"/>
                  </a:lnTo>
                  <a:lnTo>
                    <a:pt x="2672" y="4045249"/>
                  </a:lnTo>
                  <a:lnTo>
                    <a:pt x="9961" y="4056067"/>
                  </a:lnTo>
                  <a:lnTo>
                    <a:pt x="20772" y="4063358"/>
                  </a:lnTo>
                  <a:lnTo>
                    <a:pt x="34010" y="4066031"/>
                  </a:lnTo>
                  <a:lnTo>
                    <a:pt x="3631184" y="4066031"/>
                  </a:lnTo>
                  <a:lnTo>
                    <a:pt x="3644431" y="4063358"/>
                  </a:lnTo>
                  <a:lnTo>
                    <a:pt x="3655250" y="4056067"/>
                  </a:lnTo>
                  <a:lnTo>
                    <a:pt x="3662545" y="4045249"/>
                  </a:lnTo>
                  <a:lnTo>
                    <a:pt x="3665220" y="4031996"/>
                  </a:lnTo>
                  <a:lnTo>
                    <a:pt x="3665220" y="34036"/>
                  </a:lnTo>
                  <a:lnTo>
                    <a:pt x="3662545" y="20788"/>
                  </a:lnTo>
                  <a:lnTo>
                    <a:pt x="3655250" y="9969"/>
                  </a:lnTo>
                  <a:lnTo>
                    <a:pt x="3644431" y="2674"/>
                  </a:lnTo>
                  <a:lnTo>
                    <a:pt x="3631184" y="0"/>
                  </a:lnTo>
                  <a:close/>
                </a:path>
              </a:pathLst>
            </a:custGeom>
            <a:solidFill>
              <a:srgbClr val="F8F8F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794003" y="2915412"/>
              <a:ext cx="3665220" cy="4066540"/>
            </a:xfrm>
            <a:custGeom>
              <a:avLst/>
              <a:gdLst/>
              <a:ahLst/>
              <a:cxnLst/>
              <a:rect l="l" t="t" r="r" b="b"/>
              <a:pathLst>
                <a:path w="3665220" h="4066540">
                  <a:moveTo>
                    <a:pt x="0" y="34036"/>
                  </a:moveTo>
                  <a:lnTo>
                    <a:pt x="2672" y="20788"/>
                  </a:lnTo>
                  <a:lnTo>
                    <a:pt x="9961" y="9969"/>
                  </a:lnTo>
                  <a:lnTo>
                    <a:pt x="20772" y="2674"/>
                  </a:lnTo>
                  <a:lnTo>
                    <a:pt x="34010" y="0"/>
                  </a:lnTo>
                  <a:lnTo>
                    <a:pt x="3631184" y="0"/>
                  </a:lnTo>
                  <a:lnTo>
                    <a:pt x="3644431" y="2674"/>
                  </a:lnTo>
                  <a:lnTo>
                    <a:pt x="3655250" y="9969"/>
                  </a:lnTo>
                  <a:lnTo>
                    <a:pt x="3662545" y="20788"/>
                  </a:lnTo>
                  <a:lnTo>
                    <a:pt x="3665220" y="34036"/>
                  </a:lnTo>
                  <a:lnTo>
                    <a:pt x="3665220" y="4031996"/>
                  </a:lnTo>
                  <a:lnTo>
                    <a:pt x="3662545" y="4045249"/>
                  </a:lnTo>
                  <a:lnTo>
                    <a:pt x="3655250" y="4056067"/>
                  </a:lnTo>
                  <a:lnTo>
                    <a:pt x="3644431" y="4063358"/>
                  </a:lnTo>
                  <a:lnTo>
                    <a:pt x="3631184" y="4066031"/>
                  </a:lnTo>
                  <a:lnTo>
                    <a:pt x="34010" y="4066031"/>
                  </a:lnTo>
                  <a:lnTo>
                    <a:pt x="20772" y="4063358"/>
                  </a:lnTo>
                  <a:lnTo>
                    <a:pt x="9961" y="4056067"/>
                  </a:lnTo>
                  <a:lnTo>
                    <a:pt x="2672" y="4045249"/>
                  </a:lnTo>
                  <a:lnTo>
                    <a:pt x="0" y="4031996"/>
                  </a:lnTo>
                  <a:lnTo>
                    <a:pt x="0" y="34036"/>
                  </a:lnTo>
                  <a:close/>
                </a:path>
              </a:pathLst>
            </a:custGeom>
            <a:ln w="30480">
              <a:solidFill>
                <a:srgbClr val="D2D1C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1038555" y="3148075"/>
            <a:ext cx="1445260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spc="55" dirty="0">
                <a:solidFill>
                  <a:srgbClr val="161612"/>
                </a:solidFill>
                <a:latin typeface="Tahoma"/>
                <a:cs typeface="Tahoma"/>
              </a:rPr>
              <a:t>Next</a:t>
            </a:r>
            <a:r>
              <a:rPr sz="2200" spc="-90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2200" spc="95" dirty="0">
                <a:solidFill>
                  <a:srgbClr val="161612"/>
                </a:solidFill>
                <a:latin typeface="Tahoma"/>
                <a:cs typeface="Tahoma"/>
              </a:rPr>
              <a:t>Steps</a:t>
            </a:r>
            <a:endParaRPr sz="2200">
              <a:latin typeface="Tahoma"/>
              <a:cs typeface="Tahom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038555" y="3602278"/>
            <a:ext cx="2926715" cy="29737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109855" indent="-343535">
              <a:lnSpc>
                <a:spcPct val="138300"/>
              </a:lnSpc>
              <a:spcBef>
                <a:spcPts val="100"/>
              </a:spcBef>
              <a:buChar char="•"/>
              <a:tabLst>
                <a:tab pos="355600" algn="l"/>
              </a:tabLst>
            </a:pPr>
            <a:r>
              <a:rPr sz="1750" spc="90" dirty="0">
                <a:solidFill>
                  <a:srgbClr val="161612"/>
                </a:solidFill>
                <a:latin typeface="Tahoma"/>
                <a:cs typeface="Tahoma"/>
              </a:rPr>
              <a:t>Schedule</a:t>
            </a:r>
            <a:r>
              <a:rPr sz="1750" spc="-30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1750" spc="100" dirty="0">
                <a:solidFill>
                  <a:srgbClr val="161612"/>
                </a:solidFill>
                <a:latin typeface="Tahoma"/>
                <a:cs typeface="Tahoma"/>
              </a:rPr>
              <a:t>deep-</a:t>
            </a:r>
            <a:r>
              <a:rPr sz="1750" spc="75" dirty="0">
                <a:solidFill>
                  <a:srgbClr val="161612"/>
                </a:solidFill>
                <a:latin typeface="Tahoma"/>
                <a:cs typeface="Tahoma"/>
              </a:rPr>
              <a:t>dive</a:t>
            </a:r>
            <a:r>
              <a:rPr sz="1750" spc="-10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1750" spc="50" dirty="0">
                <a:solidFill>
                  <a:srgbClr val="161612"/>
                </a:solidFill>
                <a:latin typeface="Tahoma"/>
                <a:cs typeface="Tahoma"/>
              </a:rPr>
              <a:t>on integrations</a:t>
            </a:r>
            <a:r>
              <a:rPr sz="1750" spc="5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1750" spc="-10" dirty="0">
                <a:solidFill>
                  <a:srgbClr val="161612"/>
                </a:solidFill>
                <a:latin typeface="Tahoma"/>
                <a:cs typeface="Tahoma"/>
              </a:rPr>
              <a:t>(ERP, </a:t>
            </a:r>
            <a:r>
              <a:rPr sz="1750" spc="60" dirty="0">
                <a:solidFill>
                  <a:srgbClr val="161612"/>
                </a:solidFill>
                <a:latin typeface="Tahoma"/>
                <a:cs typeface="Tahoma"/>
              </a:rPr>
              <a:t>payment</a:t>
            </a:r>
            <a:r>
              <a:rPr sz="1750" spc="-10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1750" spc="55" dirty="0">
                <a:solidFill>
                  <a:srgbClr val="161612"/>
                </a:solidFill>
                <a:latin typeface="Tahoma"/>
                <a:cs typeface="Tahoma"/>
              </a:rPr>
              <a:t>providers)</a:t>
            </a:r>
            <a:endParaRPr sz="1750">
              <a:latin typeface="Tahoma"/>
              <a:cs typeface="Tahoma"/>
            </a:endParaRPr>
          </a:p>
          <a:p>
            <a:pPr marL="355600" marR="5080" indent="-343535">
              <a:lnSpc>
                <a:spcPts val="2900"/>
              </a:lnSpc>
              <a:spcBef>
                <a:spcPts val="220"/>
              </a:spcBef>
              <a:buChar char="•"/>
              <a:tabLst>
                <a:tab pos="355600" algn="l"/>
              </a:tabLst>
            </a:pPr>
            <a:r>
              <a:rPr sz="1750" spc="60" dirty="0">
                <a:solidFill>
                  <a:srgbClr val="161612"/>
                </a:solidFill>
                <a:latin typeface="Tahoma"/>
                <a:cs typeface="Tahoma"/>
              </a:rPr>
              <a:t>Prioritize</a:t>
            </a:r>
            <a:r>
              <a:rPr sz="1750" spc="-40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1750" spc="70" dirty="0">
                <a:solidFill>
                  <a:srgbClr val="161612"/>
                </a:solidFill>
                <a:latin typeface="Tahoma"/>
                <a:cs typeface="Tahoma"/>
              </a:rPr>
              <a:t>roadmap</a:t>
            </a:r>
            <a:r>
              <a:rPr sz="1750" spc="-35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1750" spc="45" dirty="0">
                <a:solidFill>
                  <a:srgbClr val="161612"/>
                </a:solidFill>
                <a:latin typeface="Tahoma"/>
                <a:cs typeface="Tahoma"/>
              </a:rPr>
              <a:t>items </a:t>
            </a:r>
            <a:r>
              <a:rPr sz="1750" dirty="0">
                <a:solidFill>
                  <a:srgbClr val="161612"/>
                </a:solidFill>
                <a:latin typeface="Tahoma"/>
                <a:cs typeface="Tahoma"/>
              </a:rPr>
              <a:t>with</a:t>
            </a:r>
            <a:r>
              <a:rPr sz="1750" spc="110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1750" spc="60" dirty="0">
                <a:solidFill>
                  <a:srgbClr val="161612"/>
                </a:solidFill>
                <a:latin typeface="Tahoma"/>
                <a:cs typeface="Tahoma"/>
              </a:rPr>
              <a:t>stakeholders</a:t>
            </a:r>
            <a:endParaRPr sz="1750">
              <a:latin typeface="Tahoma"/>
              <a:cs typeface="Tahoma"/>
            </a:endParaRPr>
          </a:p>
          <a:p>
            <a:pPr marL="355600" marR="235585" indent="-343535">
              <a:lnSpc>
                <a:spcPts val="2890"/>
              </a:lnSpc>
              <a:spcBef>
                <a:spcPts val="20"/>
              </a:spcBef>
              <a:buChar char="•"/>
              <a:tabLst>
                <a:tab pos="355600" algn="l"/>
              </a:tabLst>
            </a:pPr>
            <a:r>
              <a:rPr sz="1750" spc="65" dirty="0">
                <a:solidFill>
                  <a:srgbClr val="161612"/>
                </a:solidFill>
                <a:latin typeface="Tahoma"/>
                <a:cs typeface="Tahoma"/>
              </a:rPr>
              <a:t>Plan</a:t>
            </a:r>
            <a:r>
              <a:rPr sz="1750" spc="50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1750" dirty="0">
                <a:solidFill>
                  <a:srgbClr val="161612"/>
                </a:solidFill>
                <a:latin typeface="Tahoma"/>
                <a:cs typeface="Tahoma"/>
              </a:rPr>
              <a:t>pilot</a:t>
            </a:r>
            <a:r>
              <a:rPr sz="1750" spc="70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1750" spc="-20" dirty="0">
                <a:solidFill>
                  <a:srgbClr val="161612"/>
                </a:solidFill>
                <a:latin typeface="Tahoma"/>
                <a:cs typeface="Tahoma"/>
              </a:rPr>
              <a:t>with </a:t>
            </a:r>
            <a:r>
              <a:rPr sz="1750" spc="60" dirty="0">
                <a:solidFill>
                  <a:srgbClr val="161612"/>
                </a:solidFill>
                <a:latin typeface="Tahoma"/>
                <a:cs typeface="Tahoma"/>
              </a:rPr>
              <a:t>representative</a:t>
            </a:r>
            <a:r>
              <a:rPr sz="1750" spc="-5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1750" spc="65" dirty="0">
                <a:solidFill>
                  <a:srgbClr val="161612"/>
                </a:solidFill>
                <a:latin typeface="Tahoma"/>
                <a:cs typeface="Tahoma"/>
              </a:rPr>
              <a:t>vendor</a:t>
            </a:r>
            <a:endParaRPr sz="1750">
              <a:latin typeface="Tahoma"/>
              <a:cs typeface="Tahoma"/>
            </a:endParaRPr>
          </a:p>
          <a:p>
            <a:pPr marL="355600">
              <a:lnSpc>
                <a:spcPct val="100000"/>
              </a:lnSpc>
              <a:spcBef>
                <a:spcPts val="575"/>
              </a:spcBef>
            </a:pPr>
            <a:r>
              <a:rPr sz="1750" spc="65" dirty="0">
                <a:solidFill>
                  <a:srgbClr val="161612"/>
                </a:solidFill>
                <a:latin typeface="Tahoma"/>
                <a:cs typeface="Tahoma"/>
              </a:rPr>
              <a:t>group</a:t>
            </a:r>
            <a:endParaRPr sz="1750">
              <a:latin typeface="Tahoma"/>
              <a:cs typeface="Tahoma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4669535" y="2900172"/>
            <a:ext cx="3695700" cy="4097020"/>
            <a:chOff x="4669535" y="2900172"/>
            <a:chExt cx="3695700" cy="4097020"/>
          </a:xfrm>
        </p:grpSpPr>
        <p:sp>
          <p:nvSpPr>
            <p:cNvPr id="10" name="object 10"/>
            <p:cNvSpPr/>
            <p:nvPr/>
          </p:nvSpPr>
          <p:spPr>
            <a:xfrm>
              <a:off x="4684775" y="2915412"/>
              <a:ext cx="3665220" cy="4066540"/>
            </a:xfrm>
            <a:custGeom>
              <a:avLst/>
              <a:gdLst/>
              <a:ahLst/>
              <a:cxnLst/>
              <a:rect l="l" t="t" r="r" b="b"/>
              <a:pathLst>
                <a:path w="3665220" h="4066540">
                  <a:moveTo>
                    <a:pt x="3631183" y="0"/>
                  </a:moveTo>
                  <a:lnTo>
                    <a:pt x="34036" y="0"/>
                  </a:lnTo>
                  <a:lnTo>
                    <a:pt x="20788" y="2674"/>
                  </a:lnTo>
                  <a:lnTo>
                    <a:pt x="9969" y="9969"/>
                  </a:lnTo>
                  <a:lnTo>
                    <a:pt x="2674" y="20788"/>
                  </a:lnTo>
                  <a:lnTo>
                    <a:pt x="0" y="34036"/>
                  </a:lnTo>
                  <a:lnTo>
                    <a:pt x="0" y="4031996"/>
                  </a:lnTo>
                  <a:lnTo>
                    <a:pt x="2674" y="4045249"/>
                  </a:lnTo>
                  <a:lnTo>
                    <a:pt x="9969" y="4056067"/>
                  </a:lnTo>
                  <a:lnTo>
                    <a:pt x="20788" y="4063358"/>
                  </a:lnTo>
                  <a:lnTo>
                    <a:pt x="34036" y="4066031"/>
                  </a:lnTo>
                  <a:lnTo>
                    <a:pt x="3631183" y="4066031"/>
                  </a:lnTo>
                  <a:lnTo>
                    <a:pt x="3644431" y="4063358"/>
                  </a:lnTo>
                  <a:lnTo>
                    <a:pt x="3655250" y="4056067"/>
                  </a:lnTo>
                  <a:lnTo>
                    <a:pt x="3662545" y="4045249"/>
                  </a:lnTo>
                  <a:lnTo>
                    <a:pt x="3665220" y="4031996"/>
                  </a:lnTo>
                  <a:lnTo>
                    <a:pt x="3665220" y="34036"/>
                  </a:lnTo>
                  <a:lnTo>
                    <a:pt x="3662545" y="20788"/>
                  </a:lnTo>
                  <a:lnTo>
                    <a:pt x="3655250" y="9969"/>
                  </a:lnTo>
                  <a:lnTo>
                    <a:pt x="3644431" y="2674"/>
                  </a:lnTo>
                  <a:lnTo>
                    <a:pt x="3631183" y="0"/>
                  </a:lnTo>
                  <a:close/>
                </a:path>
              </a:pathLst>
            </a:custGeom>
            <a:solidFill>
              <a:srgbClr val="F8F8F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684775" y="2915412"/>
              <a:ext cx="3665220" cy="4066540"/>
            </a:xfrm>
            <a:custGeom>
              <a:avLst/>
              <a:gdLst/>
              <a:ahLst/>
              <a:cxnLst/>
              <a:rect l="l" t="t" r="r" b="b"/>
              <a:pathLst>
                <a:path w="3665220" h="4066540">
                  <a:moveTo>
                    <a:pt x="0" y="34036"/>
                  </a:moveTo>
                  <a:lnTo>
                    <a:pt x="2674" y="20788"/>
                  </a:lnTo>
                  <a:lnTo>
                    <a:pt x="9969" y="9969"/>
                  </a:lnTo>
                  <a:lnTo>
                    <a:pt x="20788" y="2674"/>
                  </a:lnTo>
                  <a:lnTo>
                    <a:pt x="34036" y="0"/>
                  </a:lnTo>
                  <a:lnTo>
                    <a:pt x="3631183" y="0"/>
                  </a:lnTo>
                  <a:lnTo>
                    <a:pt x="3644431" y="2674"/>
                  </a:lnTo>
                  <a:lnTo>
                    <a:pt x="3655250" y="9969"/>
                  </a:lnTo>
                  <a:lnTo>
                    <a:pt x="3662545" y="20788"/>
                  </a:lnTo>
                  <a:lnTo>
                    <a:pt x="3665220" y="34036"/>
                  </a:lnTo>
                  <a:lnTo>
                    <a:pt x="3665220" y="4031996"/>
                  </a:lnTo>
                  <a:lnTo>
                    <a:pt x="3662545" y="4045249"/>
                  </a:lnTo>
                  <a:lnTo>
                    <a:pt x="3655250" y="4056067"/>
                  </a:lnTo>
                  <a:lnTo>
                    <a:pt x="3644431" y="4063358"/>
                  </a:lnTo>
                  <a:lnTo>
                    <a:pt x="3631183" y="4066031"/>
                  </a:lnTo>
                  <a:lnTo>
                    <a:pt x="34036" y="4066031"/>
                  </a:lnTo>
                  <a:lnTo>
                    <a:pt x="20788" y="4063358"/>
                  </a:lnTo>
                  <a:lnTo>
                    <a:pt x="9969" y="4056067"/>
                  </a:lnTo>
                  <a:lnTo>
                    <a:pt x="2674" y="4045249"/>
                  </a:lnTo>
                  <a:lnTo>
                    <a:pt x="0" y="4031996"/>
                  </a:lnTo>
                  <a:lnTo>
                    <a:pt x="0" y="34036"/>
                  </a:lnTo>
                  <a:close/>
                </a:path>
              </a:pathLst>
            </a:custGeom>
            <a:ln w="30480">
              <a:solidFill>
                <a:srgbClr val="D2D1C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4930521" y="3148075"/>
            <a:ext cx="2961640" cy="195389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spc="110" dirty="0">
                <a:solidFill>
                  <a:srgbClr val="161612"/>
                </a:solidFill>
                <a:latin typeface="Tahoma"/>
                <a:cs typeface="Tahoma"/>
              </a:rPr>
              <a:t>Contact</a:t>
            </a:r>
            <a:endParaRPr sz="2200">
              <a:latin typeface="Tahoma"/>
              <a:cs typeface="Tahoma"/>
            </a:endParaRPr>
          </a:p>
          <a:p>
            <a:pPr marL="12700" marR="5080">
              <a:lnSpc>
                <a:spcPct val="138100"/>
              </a:lnSpc>
              <a:spcBef>
                <a:spcPts val="945"/>
              </a:spcBef>
            </a:pPr>
            <a:r>
              <a:rPr sz="1750" spc="80" dirty="0">
                <a:solidFill>
                  <a:srgbClr val="161612"/>
                </a:solidFill>
                <a:latin typeface="Tahoma"/>
                <a:cs typeface="Tahoma"/>
              </a:rPr>
              <a:t>Product</a:t>
            </a:r>
            <a:r>
              <a:rPr sz="1750" spc="-40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1750" spc="75" dirty="0">
                <a:solidFill>
                  <a:srgbClr val="161612"/>
                </a:solidFill>
                <a:latin typeface="Tahoma"/>
                <a:cs typeface="Tahoma"/>
              </a:rPr>
              <a:t>Owner</a:t>
            </a:r>
            <a:r>
              <a:rPr sz="1750" spc="-30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1750" spc="-120" dirty="0">
                <a:solidFill>
                  <a:srgbClr val="161612"/>
                </a:solidFill>
                <a:latin typeface="Tahoma"/>
                <a:cs typeface="Tahoma"/>
              </a:rPr>
              <a:t>·</a:t>
            </a:r>
            <a:r>
              <a:rPr sz="1750" spc="-35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1750" spc="70" dirty="0">
                <a:solidFill>
                  <a:srgbClr val="161612"/>
                </a:solidFill>
                <a:latin typeface="Tahoma"/>
                <a:cs typeface="Tahoma"/>
              </a:rPr>
              <a:t>Technical </a:t>
            </a:r>
            <a:r>
              <a:rPr sz="1750" spc="85" dirty="0">
                <a:solidFill>
                  <a:srgbClr val="161612"/>
                </a:solidFill>
                <a:latin typeface="Tahoma"/>
                <a:cs typeface="Tahoma"/>
              </a:rPr>
              <a:t>Lead</a:t>
            </a:r>
            <a:r>
              <a:rPr sz="1750" spc="-55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1750" spc="-120" dirty="0">
                <a:solidFill>
                  <a:srgbClr val="161612"/>
                </a:solidFill>
                <a:latin typeface="Tahoma"/>
                <a:cs typeface="Tahoma"/>
              </a:rPr>
              <a:t>·</a:t>
            </a:r>
            <a:r>
              <a:rPr sz="1750" spc="-55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1750" spc="70" dirty="0">
                <a:solidFill>
                  <a:srgbClr val="161612"/>
                </a:solidFill>
                <a:latin typeface="Tahoma"/>
                <a:cs typeface="Tahoma"/>
              </a:rPr>
              <a:t>Procurement</a:t>
            </a:r>
            <a:r>
              <a:rPr sz="1750" spc="-20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1750" spc="180" dirty="0">
                <a:solidFill>
                  <a:srgbClr val="161612"/>
                </a:solidFill>
                <a:latin typeface="Tahoma"/>
                <a:cs typeface="Tahoma"/>
              </a:rPr>
              <a:t>PM</a:t>
            </a:r>
            <a:r>
              <a:rPr sz="1750" spc="-55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1750" spc="105" dirty="0">
                <a:solidFill>
                  <a:srgbClr val="161612"/>
                </a:solidFill>
                <a:latin typeface="Tahoma"/>
                <a:cs typeface="Tahoma"/>
              </a:rPr>
              <a:t>— </a:t>
            </a:r>
            <a:r>
              <a:rPr sz="1750" spc="55" dirty="0">
                <a:solidFill>
                  <a:srgbClr val="161612"/>
                </a:solidFill>
                <a:latin typeface="Tahoma"/>
                <a:cs typeface="Tahoma"/>
              </a:rPr>
              <a:t>available</a:t>
            </a:r>
            <a:r>
              <a:rPr sz="1750" spc="-25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1750" spc="65" dirty="0">
                <a:solidFill>
                  <a:srgbClr val="161612"/>
                </a:solidFill>
                <a:latin typeface="Tahoma"/>
                <a:cs typeface="Tahoma"/>
              </a:rPr>
              <a:t>for</a:t>
            </a:r>
            <a:r>
              <a:rPr sz="1750" spc="-40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1750" spc="85" dirty="0">
                <a:solidFill>
                  <a:srgbClr val="161612"/>
                </a:solidFill>
                <a:latin typeface="Tahoma"/>
                <a:cs typeface="Tahoma"/>
              </a:rPr>
              <a:t>follow-</a:t>
            </a:r>
            <a:r>
              <a:rPr sz="1750" spc="95" dirty="0">
                <a:solidFill>
                  <a:srgbClr val="161612"/>
                </a:solidFill>
                <a:latin typeface="Tahoma"/>
                <a:cs typeface="Tahoma"/>
              </a:rPr>
              <a:t>ups</a:t>
            </a:r>
            <a:r>
              <a:rPr sz="1750" spc="-35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1750" spc="45" dirty="0">
                <a:solidFill>
                  <a:srgbClr val="161612"/>
                </a:solidFill>
                <a:latin typeface="Tahoma"/>
                <a:cs typeface="Tahoma"/>
              </a:rPr>
              <a:t>and </a:t>
            </a:r>
            <a:r>
              <a:rPr sz="1750" spc="70" dirty="0">
                <a:solidFill>
                  <a:srgbClr val="161612"/>
                </a:solidFill>
                <a:latin typeface="Tahoma"/>
                <a:cs typeface="Tahoma"/>
              </a:rPr>
              <a:t>technical</a:t>
            </a:r>
            <a:r>
              <a:rPr sz="1750" spc="-30" dirty="0">
                <a:solidFill>
                  <a:srgbClr val="161612"/>
                </a:solidFill>
                <a:latin typeface="Tahoma"/>
                <a:cs typeface="Tahoma"/>
              </a:rPr>
              <a:t> </a:t>
            </a:r>
            <a:r>
              <a:rPr sz="1750" spc="70" dirty="0">
                <a:solidFill>
                  <a:srgbClr val="161612"/>
                </a:solidFill>
                <a:latin typeface="Tahoma"/>
                <a:cs typeface="Tahoma"/>
              </a:rPr>
              <a:t>sessions.</a:t>
            </a:r>
            <a:endParaRPr sz="175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</TotalTime>
  <Words>1484</Words>
  <Application>Microsoft Office PowerPoint</Application>
  <PresentationFormat>Custom</PresentationFormat>
  <Paragraphs>212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Tahoma</vt:lpstr>
      <vt:lpstr>YAFdJs2qTWQ_0</vt:lpstr>
      <vt:lpstr>Office Theme</vt:lpstr>
      <vt:lpstr>Java-Based Smart Procurement &amp; Vendor Management System</vt:lpstr>
      <vt:lpstr>Problem Statement — Why we built this</vt:lpstr>
      <vt:lpstr>Proposed Solution — Core Concept</vt:lpstr>
      <vt:lpstr>Technology Stack</vt:lpstr>
      <vt:lpstr>Project Architecture — Layered Design</vt:lpstr>
      <vt:lpstr>Database Design — Key Entities</vt:lpstr>
      <vt:lpstr>Authentication &amp; Security</vt:lpstr>
      <vt:lpstr>Procurement Workflow — From Requisition to Closure</vt:lpstr>
      <vt:lpstr>Requisition Lifecycle — Status Model</vt:lpstr>
      <vt:lpstr>Key Features &amp; Deliverables</vt:lpstr>
      <vt:lpstr>API Structure</vt:lpstr>
      <vt:lpstr>Error Handling Strategy</vt:lpstr>
      <vt:lpstr>Reporting &amp; Audit Features</vt:lpstr>
      <vt:lpstr>System Limitations</vt:lpstr>
      <vt:lpstr>Future Enhancements</vt:lpstr>
      <vt:lpstr>Demo Outline</vt:lpstr>
      <vt:lpstr>Conclusion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Java-Based Smart Procurement &amp; Vendor Management System</dc:title>
  <cp:lastModifiedBy>dileep kumar</cp:lastModifiedBy>
  <cp:revision>1</cp:revision>
  <dcterms:created xsi:type="dcterms:W3CDTF">2026-03-03T16:10:35Z</dcterms:created>
  <dcterms:modified xsi:type="dcterms:W3CDTF">2026-03-03T16:13:39Z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2026-03-03T00:00:00Z</vt:filetime>
  </property>
  <property fmtid="{D5CDD505-2E9C-101B-9397-08002B2CF9AE}" pid="3" name="LastSaved">
    <vt:filetime>2026-03-03T00:00:00Z</vt:filetime>
  </property>
  <property fmtid="{D5CDD505-2E9C-101B-9397-08002B2CF9AE}" pid="4" name="Producer">
    <vt:lpwstr>iLovePDF</vt:lpwstr>
  </property>
</Properties>
</file>